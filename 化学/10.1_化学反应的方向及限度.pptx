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76" r:id="rId8"/>
    <p:sldId id="263" r:id="rId9"/>
    <p:sldId id="280" r:id="rId10"/>
    <p:sldId id="294" r:id="rId11"/>
    <p:sldId id="295" r:id="rId12"/>
    <p:sldId id="296" r:id="rId13"/>
    <p:sldId id="265" r:id="rId14"/>
    <p:sldId id="297" r:id="rId15"/>
    <p:sldId id="298" r:id="rId16"/>
    <p:sldId id="266" r:id="rId17"/>
    <p:sldId id="281" r:id="rId18"/>
    <p:sldId id="299" r:id="rId19"/>
    <p:sldId id="300" r:id="rId20"/>
    <p:sldId id="268" r:id="rId21"/>
    <p:sldId id="269" r:id="rId22"/>
    <p:sldId id="301" r:id="rId23"/>
    <p:sldId id="270" r:id="rId24"/>
    <p:sldId id="279" r:id="rId25"/>
    <p:sldId id="302" r:id="rId26"/>
    <p:sldId id="271" r:id="rId27"/>
    <p:sldId id="311" r:id="rId28"/>
    <p:sldId id="303" r:id="rId29"/>
    <p:sldId id="304" r:id="rId30"/>
    <p:sldId id="272" r:id="rId31"/>
    <p:sldId id="274" r:id="rId32"/>
    <p:sldId id="292" r:id="rId33"/>
    <p:sldId id="275" r:id="rId34"/>
    <p:sldId id="282" r:id="rId35"/>
    <p:sldId id="305" r:id="rId36"/>
    <p:sldId id="306" r:id="rId37"/>
    <p:sldId id="307" r:id="rId38"/>
    <p:sldId id="288" r:id="rId39"/>
    <p:sldId id="309" r:id="rId40"/>
    <p:sldId id="289" r:id="rId41"/>
    <p:sldId id="290" r:id="rId42"/>
    <p:sldId id="283" r:id="rId43"/>
    <p:sldId id="285" r:id="rId44"/>
    <p:sldId id="286" r:id="rId45"/>
    <p:sldId id="291" r:id="rId46"/>
    <p:sldId id="293" r:id="rId4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66FF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9" autoAdjust="0"/>
    <p:restoredTop sz="94660"/>
  </p:normalViewPr>
  <p:slideViewPr>
    <p:cSldViewPr>
      <p:cViewPr varScale="1">
        <p:scale>
          <a:sx n="66" d="100"/>
          <a:sy n="66" d="100"/>
        </p:scale>
        <p:origin x="145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6D374D-96DF-4640-958A-3AC9B2FB10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3781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698AB1-8DB0-48E8-BABC-359529217F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8952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0E830F-EAA8-4177-B4B1-7FFA17B824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466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07EDA1-3A07-4960-B7D2-83C8D570535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9875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3F110E-899B-4955-B984-6E7E7B54D1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2000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B36D69-07D3-446A-8052-0B24A666C2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285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AE602D-6836-4523-8513-0CB1A18412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1792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6515FA-4BA5-4418-A32E-03D761C2A9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6004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743D54-CB31-4DB3-BF33-D0C4BA6953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9966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3B098-8B6D-49CD-84FB-FE7DAAC9E2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9579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F17F4-0F1F-4EC3-BBD4-9379FD76EF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5169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E4E72DA-40D1-4E0B-89D3-4079AA6241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9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0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3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4.e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4"/>
          <p:cNvSpPr txBox="1">
            <a:spLocks noChangeArrowheads="1"/>
          </p:cNvSpPr>
          <p:nvPr/>
        </p:nvSpPr>
        <p:spPr bwMode="auto">
          <a:xfrm>
            <a:off x="381000" y="3810000"/>
            <a:ext cx="4013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知识要点：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．如何判断化学反应的方向</a:t>
            </a: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4648200" y="3825875"/>
            <a:ext cx="39941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通过焓变（△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）判断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通过熵变（ △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）判断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通过吉布斯自由能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(△G)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判断</a:t>
            </a:r>
          </a:p>
        </p:txBody>
      </p:sp>
      <p:sp>
        <p:nvSpPr>
          <p:cNvPr id="5126" name="AutoShape 6"/>
          <p:cNvSpPr>
            <a:spLocks/>
          </p:cNvSpPr>
          <p:nvPr/>
        </p:nvSpPr>
        <p:spPr bwMode="auto">
          <a:xfrm>
            <a:off x="4402138" y="4000500"/>
            <a:ext cx="230187" cy="838200"/>
          </a:xfrm>
          <a:prstGeom prst="leftBrace">
            <a:avLst>
              <a:gd name="adj1" fmla="val 30345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053" name="Text Box 7"/>
          <p:cNvSpPr txBox="1">
            <a:spLocks noChangeArrowheads="1"/>
          </p:cNvSpPr>
          <p:nvPr/>
        </p:nvSpPr>
        <p:spPr bwMode="auto">
          <a:xfrm>
            <a:off x="441325" y="5591175"/>
            <a:ext cx="2787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．化学反应的限度</a:t>
            </a: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3446463" y="5053013"/>
            <a:ext cx="4167187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什么是化学反应平衡？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化学平衡状态时有什么特点？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如何判断化学平衡状态？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什么是平衡常数？如何应用。</a:t>
            </a:r>
          </a:p>
        </p:txBody>
      </p:sp>
      <p:sp>
        <p:nvSpPr>
          <p:cNvPr id="5129" name="AutoShape 9"/>
          <p:cNvSpPr>
            <a:spLocks/>
          </p:cNvSpPr>
          <p:nvPr/>
        </p:nvSpPr>
        <p:spPr bwMode="auto">
          <a:xfrm>
            <a:off x="3200400" y="5248275"/>
            <a:ext cx="228600" cy="1181100"/>
          </a:xfrm>
          <a:prstGeom prst="leftBrace">
            <a:avLst>
              <a:gd name="adj1" fmla="val 4305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056" name="WordArt 10"/>
          <p:cNvSpPr>
            <a:spLocks noChangeArrowheads="1" noChangeShapeType="1" noTextEdit="1"/>
          </p:cNvSpPr>
          <p:nvPr/>
        </p:nvSpPr>
        <p:spPr bwMode="auto">
          <a:xfrm>
            <a:off x="304800" y="990600"/>
            <a:ext cx="8582025" cy="27559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Deflate">
              <a:avLst>
                <a:gd name="adj" fmla="val 26227"/>
              </a:avLst>
            </a:prstTxWarp>
          </a:bodyPr>
          <a:lstStyle/>
          <a:p>
            <a:pPr algn="ctr"/>
            <a:r>
              <a:rPr lang="zh-CN" altLang="en-US" sz="9600" kern="10">
                <a:latin typeface="华文行楷" panose="02010800040101010101" pitchFamily="2" charset="-122"/>
                <a:ea typeface="华文行楷" panose="02010800040101010101" pitchFamily="2" charset="-122"/>
              </a:rPr>
              <a:t>化学反应的方向及限度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/>
      <p:bldP spid="5126" grpId="0" animBg="1"/>
      <p:bldP spid="5128" grpId="0"/>
      <p:bldP spid="512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4"/>
          <p:cNvSpPr txBox="1">
            <a:spLocks noChangeArrowheads="1"/>
          </p:cNvSpPr>
          <p:nvPr/>
        </p:nvSpPr>
        <p:spPr bwMode="auto">
          <a:xfrm>
            <a:off x="336550" y="533400"/>
            <a:ext cx="263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什么是自发反应？</a:t>
            </a: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304800" y="990600"/>
            <a:ext cx="853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自发反应：在一定条件下，无需外界帮助就能自动进行的反应</a:t>
            </a:r>
          </a:p>
        </p:txBody>
      </p:sp>
      <p:pic>
        <p:nvPicPr>
          <p:cNvPr id="6150" name="Picture 6" descr="110839682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66850"/>
            <a:ext cx="37338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7" descr="untitl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466850"/>
            <a:ext cx="37338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533400" y="4419600"/>
            <a:ext cx="5545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）一定条件指：一定的温度和压强。</a:t>
            </a:r>
          </a:p>
        </p:txBody>
      </p:sp>
      <p:sp>
        <p:nvSpPr>
          <p:cNvPr id="6153" name="Rectangle 9"/>
          <p:cNvSpPr>
            <a:spLocks noChangeArrowheads="1"/>
          </p:cNvSpPr>
          <p:nvPr/>
        </p:nvSpPr>
        <p:spPr bwMode="auto">
          <a:xfrm>
            <a:off x="533400" y="4762500"/>
            <a:ext cx="5545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）外界帮助可以是如通电、光照等。</a:t>
            </a:r>
          </a:p>
        </p:txBody>
      </p:sp>
      <p:sp>
        <p:nvSpPr>
          <p:cNvPr id="6154" name="Rectangle 10"/>
          <p:cNvSpPr>
            <a:spLocks noChangeArrowheads="1"/>
          </p:cNvSpPr>
          <p:nvPr/>
        </p:nvSpPr>
        <p:spPr bwMode="auto">
          <a:xfrm>
            <a:off x="533400" y="5105400"/>
            <a:ext cx="5545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）自发反应在恰当条件下才能实现。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/>
      <p:bldP spid="6152" grpId="0"/>
      <p:bldP spid="6153" grpId="0"/>
      <p:bldP spid="615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ChangeArrowheads="1"/>
          </p:cNvSpPr>
          <p:nvPr/>
        </p:nvSpPr>
        <p:spPr bwMode="auto">
          <a:xfrm>
            <a:off x="152400" y="352425"/>
            <a:ext cx="8456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下列反应在一定条件下能够自发进行，它们有哪些共同特征？</a:t>
            </a:r>
          </a:p>
        </p:txBody>
      </p:sp>
      <p:sp>
        <p:nvSpPr>
          <p:cNvPr id="4099" name="Rectangle 5"/>
          <p:cNvSpPr>
            <a:spLocks noChangeArrowheads="1"/>
          </p:cNvSpPr>
          <p:nvPr/>
        </p:nvSpPr>
        <p:spPr bwMode="auto">
          <a:xfrm>
            <a:off x="152400" y="839788"/>
            <a:ext cx="84582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(g)+F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(g)===2HF(g) △H=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546.6kJ/mol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8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(g)+5O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(g)===3CO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(g)+4H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l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） △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H=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2217.5 kJ/mol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4Fe(s)+3O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(g)===2Fe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(s) △H=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1648.4kJ/mol</a:t>
            </a:r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152400" y="2241550"/>
            <a:ext cx="8077200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以上化学反应中的自发过程共同特点：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△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＜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，即体系趋向于从高能状态转变为低能状态。</a:t>
            </a:r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152400" y="3095625"/>
            <a:ext cx="891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化学反应方向的判断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——</a:t>
            </a: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能量判据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：体系趋向于从高能状态转变为低能状态（△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 </a:t>
            </a:r>
            <a:r>
              <a:rPr lang="en-US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＜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）。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对于化学反应而言，绝大多数的放热反应能自发进行，且放出的热量越多，体系能量降低越多，反应越完全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/>
      <p:bldP spid="717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ChangeArrowheads="1"/>
          </p:cNvSpPr>
          <p:nvPr/>
        </p:nvSpPr>
        <p:spPr bwMode="auto">
          <a:xfrm>
            <a:off x="304800" y="990600"/>
            <a:ext cx="7199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2NH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Cl(s)+Ba(OH)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(s)===2NH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(g)+CaCl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(s)+2H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O(l)</a:t>
            </a:r>
          </a:p>
        </p:txBody>
      </p:sp>
      <p:sp>
        <p:nvSpPr>
          <p:cNvPr id="5123" name="Rectangle 5"/>
          <p:cNvSpPr>
            <a:spLocks noChangeArrowheads="1"/>
          </p:cNvSpPr>
          <p:nvPr/>
        </p:nvSpPr>
        <p:spPr bwMode="auto">
          <a:xfrm>
            <a:off x="304800" y="1485900"/>
            <a:ext cx="4611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(s)=NH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+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(aq) +NO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en-US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(aq)</a:t>
            </a:r>
          </a:p>
        </p:txBody>
      </p:sp>
      <p:sp>
        <p:nvSpPr>
          <p:cNvPr id="5124" name="Text Box 6"/>
          <p:cNvSpPr txBox="1">
            <a:spLocks noChangeArrowheads="1"/>
          </p:cNvSpPr>
          <p:nvPr/>
        </p:nvSpPr>
        <p:spPr bwMode="auto">
          <a:xfrm>
            <a:off x="304800" y="1981200"/>
            <a:ext cx="314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CaCO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====CaO+CO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5125" name="Text Box 7"/>
          <p:cNvSpPr txBox="1">
            <a:spLocks noChangeArrowheads="1"/>
          </p:cNvSpPr>
          <p:nvPr/>
        </p:nvSpPr>
        <p:spPr bwMode="auto">
          <a:xfrm>
            <a:off x="1330325" y="1847850"/>
            <a:ext cx="695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ea typeface="黑体" panose="02010609060101010101" pitchFamily="49" charset="-122"/>
              </a:rPr>
              <a:t>高温</a:t>
            </a:r>
          </a:p>
        </p:txBody>
      </p:sp>
      <p:sp>
        <p:nvSpPr>
          <p:cNvPr id="5126" name="Text Box 8"/>
          <p:cNvSpPr txBox="1">
            <a:spLocks noChangeArrowheads="1"/>
          </p:cNvSpPr>
          <p:nvPr/>
        </p:nvSpPr>
        <p:spPr bwMode="auto">
          <a:xfrm>
            <a:off x="315913" y="554038"/>
            <a:ext cx="661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下列反应，从焓变的角度考虑是否是自发反应？</a:t>
            </a:r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304800" y="2438400"/>
            <a:ext cx="8610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有一些吸热反应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在室温条件能</a:t>
            </a: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自发进行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，有些吸热反应在室温条件下不能自发进行，但在较高温度下则能自发进行。</a:t>
            </a:r>
          </a:p>
        </p:txBody>
      </p:sp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304800" y="3276600"/>
            <a:ext cx="8610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焓变（△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）是决定反应能否自发进行的因素之一，但不是唯一因素。</a:t>
            </a:r>
          </a:p>
        </p:txBody>
      </p:sp>
      <p:sp>
        <p:nvSpPr>
          <p:cNvPr id="8203" name="Rectangle 11"/>
          <p:cNvSpPr>
            <a:spLocks noChangeArrowheads="1"/>
          </p:cNvSpPr>
          <p:nvPr/>
        </p:nvSpPr>
        <p:spPr bwMode="auto">
          <a:xfrm>
            <a:off x="304800" y="3962400"/>
            <a:ext cx="8839200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Clr>
                <a:schemeClr val="hlink"/>
              </a:buClr>
              <a:buSzPct val="120000"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除热效应外，决定反应能否自发进行的另一因素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——</a:t>
            </a: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体系的混乱度（熵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1" grpId="0"/>
      <p:bldP spid="8202" grpId="0"/>
      <p:bldP spid="820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ChangeArrowheads="1"/>
          </p:cNvSpPr>
          <p:nvPr/>
        </p:nvSpPr>
        <p:spPr bwMode="auto">
          <a:xfrm>
            <a:off x="228600" y="228600"/>
            <a:ext cx="8915400" cy="210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熵：衡量一个体系混乱度的物理量叫做熵，用符号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表示。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      对于同一物质：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g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）﹥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l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）﹥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熵变：反应前后体系熵的变化叫做反应的熵变，用△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表示。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        △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S=S</a:t>
            </a:r>
            <a:r>
              <a:rPr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生成物总熵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反应物总熵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        反应的</a:t>
            </a: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△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越大，越有利于反应自发进行</a:t>
            </a: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228600" y="2286000"/>
            <a:ext cx="89154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化学反应方向的判断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——</a:t>
            </a: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熵判据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：体系趋向于由有序状态转变为无序状态，即混乱度增加（ △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＞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）。且△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越大，越有利于反应自发进行。</a:t>
            </a:r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457200" y="3525838"/>
            <a:ext cx="5889625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：下列反应中，熵减小的是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(NH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(s)===NH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HCO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(s)+NH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 B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2N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(g)===4NO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＋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 C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MgCO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(s)===MgO(s)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＋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 D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2CO(g)===2C(s)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＋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</a:t>
            </a:r>
          </a:p>
        </p:txBody>
      </p:sp>
      <p:sp>
        <p:nvSpPr>
          <p:cNvPr id="9223" name="Rectangle 7"/>
          <p:cNvSpPr>
            <a:spLocks noChangeArrowheads="1"/>
          </p:cNvSpPr>
          <p:nvPr/>
        </p:nvSpPr>
        <p:spPr bwMode="auto">
          <a:xfrm>
            <a:off x="5029200" y="3505200"/>
            <a:ext cx="1014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1" grpId="0"/>
      <p:bldP spid="92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ChangeArrowheads="1"/>
          </p:cNvSpPr>
          <p:nvPr/>
        </p:nvSpPr>
        <p:spPr bwMode="auto">
          <a:xfrm>
            <a:off x="1539875" y="284163"/>
            <a:ext cx="5699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正确判断一个化学反应是否能够自发进行</a:t>
            </a:r>
          </a:p>
        </p:txBody>
      </p:sp>
      <p:sp>
        <p:nvSpPr>
          <p:cNvPr id="7171" name="Rectangle 5"/>
          <p:cNvSpPr>
            <a:spLocks noChangeArrowheads="1"/>
          </p:cNvSpPr>
          <p:nvPr/>
        </p:nvSpPr>
        <p:spPr bwMode="auto">
          <a:xfrm>
            <a:off x="457200" y="793750"/>
            <a:ext cx="693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化学反应方向的判断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——</a:t>
            </a: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吉布斯自由能判据</a:t>
            </a:r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609600" y="1562100"/>
            <a:ext cx="2581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△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G= △H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T△S </a:t>
            </a:r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3276600" y="1219200"/>
            <a:ext cx="279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△G </a:t>
            </a: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＜</a:t>
            </a:r>
            <a:r>
              <a:rPr kumimoji="1"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，自发进行</a:t>
            </a:r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3276600" y="1905000"/>
            <a:ext cx="2967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△G &gt;0</a:t>
            </a: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，非自发进行</a:t>
            </a: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3276600" y="1562100"/>
            <a:ext cx="3330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△G</a:t>
            </a: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＝</a:t>
            </a:r>
            <a:r>
              <a:rPr kumimoji="1"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，处于平衡状态</a:t>
            </a:r>
          </a:p>
        </p:txBody>
      </p:sp>
      <p:sp>
        <p:nvSpPr>
          <p:cNvPr id="10250" name="AutoShape 10"/>
          <p:cNvSpPr>
            <a:spLocks/>
          </p:cNvSpPr>
          <p:nvPr/>
        </p:nvSpPr>
        <p:spPr bwMode="auto">
          <a:xfrm>
            <a:off x="3124200" y="1371600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0345" name="Group 105"/>
          <p:cNvGraphicFramePr>
            <a:graphicFrameLocks noGrp="1"/>
          </p:cNvGraphicFramePr>
          <p:nvPr/>
        </p:nvGraphicFramePr>
        <p:xfrm>
          <a:off x="152400" y="2438400"/>
          <a:ext cx="8913813" cy="3211513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/>
                  </a:extLst>
                </a:gridCol>
                <a:gridCol w="1524000">
                  <a:extLst>
                    <a:ext uri="{9D8B030D-6E8A-4147-A177-3AD203B41FA5}"/>
                  </a:extLst>
                </a:gridCol>
                <a:gridCol w="1524000">
                  <a:extLst>
                    <a:ext uri="{9D8B030D-6E8A-4147-A177-3AD203B41FA5}"/>
                  </a:extLst>
                </a:gridCol>
                <a:gridCol w="2559050">
                  <a:extLst>
                    <a:ext uri="{9D8B030D-6E8A-4147-A177-3AD203B41FA5}"/>
                  </a:extLst>
                </a:gridCol>
                <a:gridCol w="1782763">
                  <a:extLst>
                    <a:ext uri="{9D8B030D-6E8A-4147-A177-3AD203B41FA5}"/>
                  </a:extLst>
                </a:gridCol>
              </a:tblGrid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△H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△S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△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G= △H</a:t>
                      </a: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－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T△S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反应情况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&lt;0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&gt;0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任意温度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&gt;0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&lt;0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任意温度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587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&lt;0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&lt;0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较高温度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587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较低温度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587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&gt;0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&gt;0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较高温度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587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较低温度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6" grpId="0"/>
      <p:bldP spid="10247" grpId="0"/>
      <p:bldP spid="10248" grpId="0"/>
      <p:bldP spid="10249" grpId="0"/>
      <p:bldP spid="1025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39875" y="284163"/>
            <a:ext cx="5699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正确判断一个化学反应是否能够自发进行</a:t>
            </a: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457200" y="793750"/>
            <a:ext cx="693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化学反应方向的判断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——</a:t>
            </a: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吉布斯自由能判据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609600" y="1562100"/>
            <a:ext cx="2581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△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G= △H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T△S </a:t>
            </a: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3276600" y="1219200"/>
            <a:ext cx="279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△G </a:t>
            </a: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＜</a:t>
            </a:r>
            <a:r>
              <a:rPr kumimoji="1"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，自发进行</a:t>
            </a: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3276600" y="1905000"/>
            <a:ext cx="2967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△G &gt;0</a:t>
            </a: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，非自发进行</a:t>
            </a: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3276600" y="1562100"/>
            <a:ext cx="3330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△G</a:t>
            </a: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＝</a:t>
            </a:r>
            <a:r>
              <a:rPr kumimoji="1"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，处于平衡状态</a:t>
            </a:r>
          </a:p>
        </p:txBody>
      </p:sp>
      <p:sp>
        <p:nvSpPr>
          <p:cNvPr id="8200" name="AutoShape 8"/>
          <p:cNvSpPr>
            <a:spLocks/>
          </p:cNvSpPr>
          <p:nvPr/>
        </p:nvSpPr>
        <p:spPr bwMode="auto">
          <a:xfrm>
            <a:off x="3124200" y="1371600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5609" name="Group 9"/>
          <p:cNvGraphicFramePr>
            <a:graphicFrameLocks noGrp="1"/>
          </p:cNvGraphicFramePr>
          <p:nvPr/>
        </p:nvGraphicFramePr>
        <p:xfrm>
          <a:off x="152400" y="2438400"/>
          <a:ext cx="8913813" cy="3211513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/>
                  </a:extLst>
                </a:gridCol>
                <a:gridCol w="1524000">
                  <a:extLst>
                    <a:ext uri="{9D8B030D-6E8A-4147-A177-3AD203B41FA5}"/>
                  </a:extLst>
                </a:gridCol>
                <a:gridCol w="1524000">
                  <a:extLst>
                    <a:ext uri="{9D8B030D-6E8A-4147-A177-3AD203B41FA5}"/>
                  </a:extLst>
                </a:gridCol>
                <a:gridCol w="2559050">
                  <a:extLst>
                    <a:ext uri="{9D8B030D-6E8A-4147-A177-3AD203B41FA5}"/>
                  </a:extLst>
                </a:gridCol>
                <a:gridCol w="1782763">
                  <a:extLst>
                    <a:ext uri="{9D8B030D-6E8A-4147-A177-3AD203B41FA5}"/>
                  </a:extLst>
                </a:gridCol>
              </a:tblGrid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△H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△S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△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G= △H</a:t>
                      </a: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－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T△S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反应情况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&lt;0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&gt;0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任意温度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&lt;0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自发进行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&gt;0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&lt;0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任意温度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&gt;0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非自发进行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587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&lt;0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&lt;0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较高温度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&gt;0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非自发进行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587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较低温度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&lt;0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自发进行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587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&gt;0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&gt;0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较高温度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&lt;0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自发进行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587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较低温度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&gt;0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非自发进行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/>
          <p:cNvSpPr>
            <a:spLocks noChangeArrowheads="1"/>
          </p:cNvSpPr>
          <p:nvPr/>
        </p:nvSpPr>
        <p:spPr bwMode="auto">
          <a:xfrm>
            <a:off x="304800" y="1071563"/>
            <a:ext cx="8370888" cy="304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 △H &lt;0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，△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S&gt;0  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该反应</a:t>
            </a:r>
            <a:r>
              <a:rPr lang="zh-CN" altLang="en-US" sz="2400" u="sng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                 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如：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Mg(s) + 2HCl(aq) === MgCl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(aq) + 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(g)</a:t>
            </a: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△H &gt;0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，△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S&lt;0  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该反应</a:t>
            </a:r>
            <a:r>
              <a:rPr lang="zh-CN" altLang="en-US" sz="2400" u="sng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                     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如：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(g)+H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O(l)+CaCl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(l)=== CaCO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(s)+2HCl(l)</a:t>
            </a: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 △H &lt;0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，△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S&lt;0   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该反应</a:t>
            </a:r>
            <a:r>
              <a:rPr lang="zh-CN" altLang="en-US" sz="2400" u="sng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                             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如：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(g)+HCl(g)===NH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Cl(s)</a:t>
            </a: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 △H &gt;0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，△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S&gt;0   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该反应</a:t>
            </a:r>
            <a:r>
              <a:rPr lang="zh-CN" altLang="en-US" sz="2400" u="sng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                             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如：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CaCO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(s)===CaO(s)+CO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(g)</a:t>
            </a:r>
          </a:p>
        </p:txBody>
      </p:sp>
      <p:sp>
        <p:nvSpPr>
          <p:cNvPr id="9219" name="Rectangle 5"/>
          <p:cNvSpPr>
            <a:spLocks noChangeArrowheads="1"/>
          </p:cNvSpPr>
          <p:nvPr/>
        </p:nvSpPr>
        <p:spPr bwMode="auto">
          <a:xfrm>
            <a:off x="304800" y="609600"/>
            <a:ext cx="7604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：判断依据：</a:t>
            </a: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△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G= △H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T △S </a:t>
            </a:r>
            <a:r>
              <a:rPr lang="en-US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＜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反应能自发进行</a:t>
            </a:r>
          </a:p>
        </p:txBody>
      </p:sp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4038600" y="1006475"/>
            <a:ext cx="2328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一定能自发进行</a:t>
            </a:r>
          </a:p>
        </p:txBody>
      </p:sp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3962400" y="1755775"/>
            <a:ext cx="263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一定不能自发进行</a:t>
            </a:r>
          </a:p>
        </p:txBody>
      </p:sp>
      <p:sp>
        <p:nvSpPr>
          <p:cNvPr id="11272" name="Rectangle 8"/>
          <p:cNvSpPr>
            <a:spLocks noChangeArrowheads="1"/>
          </p:cNvSpPr>
          <p:nvPr/>
        </p:nvSpPr>
        <p:spPr bwMode="auto">
          <a:xfrm>
            <a:off x="3962400" y="2466975"/>
            <a:ext cx="3554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在较低温度下能自发进行</a:t>
            </a:r>
          </a:p>
        </p:txBody>
      </p:sp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4079875" y="3200400"/>
            <a:ext cx="3554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在较高温度下能自发进行</a:t>
            </a:r>
          </a:p>
        </p:txBody>
      </p:sp>
      <p:sp>
        <p:nvSpPr>
          <p:cNvPr id="11274" name="Rectangle 10"/>
          <p:cNvSpPr>
            <a:spLocks noChangeArrowheads="1"/>
          </p:cNvSpPr>
          <p:nvPr/>
        </p:nvSpPr>
        <p:spPr bwMode="auto">
          <a:xfrm>
            <a:off x="304800" y="4038600"/>
            <a:ext cx="853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自发反应：在一定条件下，无需外界帮助就能自动进行的反应</a:t>
            </a:r>
          </a:p>
        </p:txBody>
      </p:sp>
      <p:sp>
        <p:nvSpPr>
          <p:cNvPr id="11275" name="Rectangle 11"/>
          <p:cNvSpPr>
            <a:spLocks noChangeArrowheads="1"/>
          </p:cNvSpPr>
          <p:nvPr/>
        </p:nvSpPr>
        <p:spPr bwMode="auto">
          <a:xfrm>
            <a:off x="533400" y="4419600"/>
            <a:ext cx="5545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）一定条件指：一定的温度和压强。</a:t>
            </a:r>
          </a:p>
        </p:txBody>
      </p:sp>
      <p:sp>
        <p:nvSpPr>
          <p:cNvPr id="11276" name="Rectangle 12"/>
          <p:cNvSpPr>
            <a:spLocks noChangeArrowheads="1"/>
          </p:cNvSpPr>
          <p:nvPr/>
        </p:nvSpPr>
        <p:spPr bwMode="auto">
          <a:xfrm>
            <a:off x="533400" y="4762500"/>
            <a:ext cx="5545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）外界帮助可以是如通电、光照等。</a:t>
            </a:r>
          </a:p>
        </p:txBody>
      </p:sp>
      <p:sp>
        <p:nvSpPr>
          <p:cNvPr id="11277" name="Rectangle 13"/>
          <p:cNvSpPr>
            <a:spLocks noChangeArrowheads="1"/>
          </p:cNvSpPr>
          <p:nvPr/>
        </p:nvSpPr>
        <p:spPr bwMode="auto">
          <a:xfrm>
            <a:off x="533400" y="5105400"/>
            <a:ext cx="5545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）自发反应在恰当条件下才能实现。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0" grpId="0"/>
      <p:bldP spid="11271" grpId="0"/>
      <p:bldP spid="11272" grpId="0"/>
      <p:bldP spid="11273" grpId="0"/>
      <p:bldP spid="11274" grpId="0"/>
      <p:bldP spid="11275" grpId="0"/>
      <p:bldP spid="11276" grpId="0"/>
      <p:bldP spid="1127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ChangeArrowheads="1"/>
          </p:cNvSpPr>
          <p:nvPr/>
        </p:nvSpPr>
        <p:spPr bwMode="auto">
          <a:xfrm>
            <a:off x="304800" y="457200"/>
            <a:ext cx="8534400" cy="193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：下列说法正确的是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．凡是放热反应都是自发的，吸热反应都是非自发的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．自发反应在恰当条件下才能实现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．自发反应一定是熵增大，非自发反应一定是熵减小或不变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．自发反应在任何条件下都能实现</a:t>
            </a:r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3733800" y="457200"/>
            <a:ext cx="1014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10244" name="Text Box 6"/>
          <p:cNvSpPr txBox="1">
            <a:spLocks noChangeArrowheads="1"/>
          </p:cNvSpPr>
          <p:nvPr/>
        </p:nvSpPr>
        <p:spPr bwMode="auto">
          <a:xfrm>
            <a:off x="228600" y="2362200"/>
            <a:ext cx="891540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：汽车尾气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含烃类、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CO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NO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与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等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是城市主要污染源之一，治理的办法之一是在汽车排气管上装催化转化器，它使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NO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与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CO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反应生成可参与大气生态循环的无毒气体，其反应原理是：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2NO(g)+2CO(g)== N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(g)+2CO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，在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298K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100kPa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下，△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H=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113kJ·mol</a:t>
            </a:r>
            <a:r>
              <a:rPr lang="zh-CN" altLang="en-US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l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，△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S=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145J·mol</a:t>
            </a:r>
            <a:r>
              <a:rPr lang="zh-CN" altLang="en-US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l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·K</a:t>
            </a:r>
            <a:r>
              <a:rPr lang="zh-CN" altLang="en-US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l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。下列说法中错误的是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．该反应中反应物的总能量高于生成物的总能量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．该反应常温下不能自发进行，因此需要高温和催化剂条件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．该反应常温下能自发进行，高温和催化剂条件只是加快反应的速率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．汽车尾气中的这两种气体会与血红蛋白结合而使人中毒</a:t>
            </a:r>
          </a:p>
        </p:txBody>
      </p:sp>
      <p:sp>
        <p:nvSpPr>
          <p:cNvPr id="29703" name="Text Box 7"/>
          <p:cNvSpPr txBox="1">
            <a:spLocks noChangeArrowheads="1"/>
          </p:cNvSpPr>
          <p:nvPr/>
        </p:nvSpPr>
        <p:spPr bwMode="auto">
          <a:xfrm>
            <a:off x="7620000" y="4191000"/>
            <a:ext cx="1000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" grpId="0"/>
      <p:bldP spid="2970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WordArt 4"/>
          <p:cNvSpPr>
            <a:spLocks noChangeArrowheads="1" noChangeShapeType="1" noTextEdit="1"/>
          </p:cNvSpPr>
          <p:nvPr/>
        </p:nvSpPr>
        <p:spPr bwMode="auto">
          <a:xfrm>
            <a:off x="838200" y="2362200"/>
            <a:ext cx="7543800" cy="1676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化学平衡状态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文本框 1"/>
          <p:cNvSpPr txBox="1">
            <a:spLocks noChangeArrowheads="1"/>
          </p:cNvSpPr>
          <p:nvPr/>
        </p:nvSpPr>
        <p:spPr bwMode="auto">
          <a:xfrm>
            <a:off x="152400" y="381000"/>
            <a:ext cx="739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什么是可逆反应？列举你知道的可逆反应？</a:t>
            </a: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152400" y="850900"/>
            <a:ext cx="87852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氯水是氯气的水溶液，氯气能与水反应，而且这是一个可逆反应。</a:t>
            </a:r>
            <a:endParaRPr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Cl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+H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O           HClO+HCl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Cl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+H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O            HClO+H</a:t>
            </a:r>
            <a:r>
              <a:rPr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+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+Cl</a:t>
            </a:r>
            <a:r>
              <a:rPr lang="zh-CN" altLang="en-US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152400" y="1690688"/>
            <a:ext cx="87630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定义：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在相同条件下，既可向正反应方向进行，同时又可以向逆反应方向进行的反应。</a:t>
            </a: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152400" y="2530475"/>
            <a:ext cx="50831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氯水的成分：</a:t>
            </a:r>
            <a:endParaRPr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分子：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Cl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HClO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离子：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+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Cl</a:t>
            </a:r>
            <a:r>
              <a:rPr lang="zh-CN" altLang="en-US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ClO</a:t>
            </a:r>
            <a:r>
              <a:rPr lang="zh-CN" altLang="en-US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OH</a:t>
            </a:r>
            <a:r>
              <a:rPr lang="zh-CN" altLang="en-US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152400" y="3738563"/>
            <a:ext cx="8382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在一定条件下，</a:t>
            </a:r>
            <a:r>
              <a:rPr lang="en-US" altLang="zh-CN" sz="2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1mol Cl</a:t>
            </a:r>
            <a:r>
              <a:rPr lang="en-US" altLang="zh-CN" sz="2400" baseline="-250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与</a:t>
            </a:r>
            <a:r>
              <a:rPr lang="en-US" altLang="zh-CN" sz="2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lang="en-US" altLang="zh-CN" sz="2400" baseline="-250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反应能否得到</a:t>
            </a:r>
            <a:r>
              <a:rPr lang="en-US" altLang="zh-CN" sz="2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1mol HClO?</a:t>
            </a:r>
            <a:endParaRPr lang="zh-CN" altLang="en-US" sz="2400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152400" y="4208463"/>
            <a:ext cx="87630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得不到</a:t>
            </a:r>
            <a:r>
              <a:rPr lang="en-US" altLang="zh-CN" sz="2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1mol HClO</a:t>
            </a: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，能得到多少摩尔</a:t>
            </a:r>
            <a:r>
              <a:rPr lang="en-US" altLang="zh-CN" sz="2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HClO</a:t>
            </a: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？也就是说反应到底能进行到什么程度？这就是化学平衡所研究的问题。</a:t>
            </a:r>
          </a:p>
        </p:txBody>
      </p:sp>
      <p:sp>
        <p:nvSpPr>
          <p:cNvPr id="8" name="Line 9"/>
          <p:cNvSpPr>
            <a:spLocks noChangeShapeType="1"/>
          </p:cNvSpPr>
          <p:nvPr/>
        </p:nvSpPr>
        <p:spPr bwMode="auto">
          <a:xfrm>
            <a:off x="1462088" y="1495425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 rot="1500000">
            <a:off x="1450975" y="15398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1"/>
          <p:cNvSpPr>
            <a:spLocks noChangeShapeType="1"/>
          </p:cNvSpPr>
          <p:nvPr/>
        </p:nvSpPr>
        <p:spPr bwMode="auto">
          <a:xfrm>
            <a:off x="1462088" y="1419225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 rot="1500000">
            <a:off x="1976438" y="13747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5299075" y="1490663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 rot="1500000">
            <a:off x="5287963" y="1535113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5299075" y="1414463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 rot="1500000">
            <a:off x="5813425" y="1370013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文本框 1"/>
          <p:cNvSpPr txBox="1">
            <a:spLocks noChangeArrowheads="1"/>
          </p:cNvSpPr>
          <p:nvPr/>
        </p:nvSpPr>
        <p:spPr bwMode="auto">
          <a:xfrm>
            <a:off x="2057400" y="304800"/>
            <a:ext cx="5041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FeCl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溶液与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KI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溶液反应程度的实验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04800" y="803275"/>
          <a:ext cx="8686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/>
                  </a:extLst>
                </a:gridCol>
                <a:gridCol w="2057400">
                  <a:extLst>
                    <a:ext uri="{9D8B030D-6E8A-4147-A177-3AD203B41FA5}"/>
                  </a:extLst>
                </a:gridCol>
                <a:gridCol w="3276600">
                  <a:extLst>
                    <a:ext uri="{9D8B030D-6E8A-4147-A177-3AD203B41FA5}"/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实验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现象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结论或解释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/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①</a:t>
                      </a: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1mL 0.1mol/L FeCl</a:t>
                      </a:r>
                      <a:r>
                        <a:rPr lang="en-US" altLang="zh-CN" sz="2400" b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3</a:t>
                      </a:r>
                      <a:r>
                        <a:rPr lang="zh-CN" alt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溶液与</a:t>
                      </a: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5mL 0.1mol/LKI</a:t>
                      </a:r>
                      <a:r>
                        <a:rPr lang="zh-CN" alt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溶液反应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溶液变棕色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2Fe</a:t>
                      </a:r>
                      <a:r>
                        <a:rPr lang="en-US" altLang="zh-CN" sz="2400" b="1" kern="1200" baseline="30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3+</a:t>
                      </a: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+2I</a:t>
                      </a:r>
                      <a:r>
                        <a:rPr lang="zh-CN" altLang="en-US" sz="2400" b="1" kern="1200" baseline="30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－</a:t>
                      </a:r>
                      <a:r>
                        <a:rPr lang="zh-CN" alt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        </a:t>
                      </a: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2Fe</a:t>
                      </a:r>
                      <a:r>
                        <a:rPr lang="en-US" altLang="zh-CN" sz="2400" b="1" kern="1200" baseline="30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2+</a:t>
                      </a: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+I</a:t>
                      </a:r>
                      <a:r>
                        <a:rPr lang="en-US" altLang="zh-CN" sz="2400" b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2</a:t>
                      </a:r>
                      <a:endParaRPr lang="zh-CN" altLang="en-US" sz="2400" b="1" kern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/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②在反应①的溶液中加入</a:t>
                      </a: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CCl</a:t>
                      </a:r>
                      <a:r>
                        <a:rPr lang="en-US" altLang="zh-CN" sz="2400" b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4</a:t>
                      </a:r>
                      <a:r>
                        <a:rPr lang="zh-CN" alt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，振荡、静置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溶液分层，上层变浅，下层为紫红色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有</a:t>
                      </a: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I</a:t>
                      </a:r>
                      <a:r>
                        <a:rPr lang="en-US" altLang="zh-CN" sz="2400" b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2</a:t>
                      </a:r>
                      <a:r>
                        <a:rPr lang="zh-CN" alt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生成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/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③取②的上层清液，滴加</a:t>
                      </a: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KSCN</a:t>
                      </a:r>
                      <a:r>
                        <a:rPr lang="zh-CN" alt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溶液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溶液变为血红色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有</a:t>
                      </a: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Fe</a:t>
                      </a:r>
                      <a:r>
                        <a:rPr lang="en-US" altLang="zh-CN" sz="2400" b="1" kern="1200" baseline="30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3+</a:t>
                      </a:r>
                      <a:r>
                        <a:rPr lang="zh-CN" alt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剩余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13337" name="Line 9"/>
          <p:cNvSpPr>
            <a:spLocks noChangeShapeType="1"/>
          </p:cNvSpPr>
          <p:nvPr/>
        </p:nvSpPr>
        <p:spPr bwMode="auto">
          <a:xfrm>
            <a:off x="7191375" y="1538288"/>
            <a:ext cx="5254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38" name="Line 10"/>
          <p:cNvSpPr>
            <a:spLocks noChangeShapeType="1"/>
          </p:cNvSpPr>
          <p:nvPr/>
        </p:nvSpPr>
        <p:spPr bwMode="auto">
          <a:xfrm rot="1500000">
            <a:off x="7180263" y="1582738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39" name="Line 11"/>
          <p:cNvSpPr>
            <a:spLocks noChangeShapeType="1"/>
          </p:cNvSpPr>
          <p:nvPr/>
        </p:nvSpPr>
        <p:spPr bwMode="auto">
          <a:xfrm>
            <a:off x="7191375" y="1462088"/>
            <a:ext cx="5254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40" name="Line 12"/>
          <p:cNvSpPr>
            <a:spLocks noChangeShapeType="1"/>
          </p:cNvSpPr>
          <p:nvPr/>
        </p:nvSpPr>
        <p:spPr bwMode="auto">
          <a:xfrm rot="1500000">
            <a:off x="7486650" y="1417638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文本框 12"/>
          <p:cNvSpPr txBox="1">
            <a:spLocks noChangeArrowheads="1"/>
          </p:cNvSpPr>
          <p:nvPr/>
        </p:nvSpPr>
        <p:spPr bwMode="auto">
          <a:xfrm>
            <a:off x="268288" y="4497388"/>
            <a:ext cx="86868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许多化学反应都是可逆的，在同一反应条件下，既可以向正反应方向进行，又可以向逆反应方向进行。</a:t>
            </a:r>
          </a:p>
        </p:txBody>
      </p:sp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268288" y="5327650"/>
            <a:ext cx="8686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可逆反应具有一定的限度，反应物不能完全转化为生成物，即反应物、生成物同时存在。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0" y="2286000"/>
            <a:ext cx="8748713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）对于可逆反应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aA +bB           cC + dD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来说，正反应的速率只取决于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两种物质的浓度，与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两种物质的浓度关系不大。而逆反应的速率只取决于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两种物质的浓度，与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两种物质的浓度关系不大。增加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或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的浓度只可以使正反应的速率增大，不会影响逆反应的速率。</a:t>
            </a:r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0" y="1514475"/>
            <a:ext cx="88201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000" tIns="108000" rIns="108000" bIns="1080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）一个反应的速率主要取决于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反应物的浓度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，与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产物的浓度关系不大</a:t>
            </a:r>
          </a:p>
        </p:txBody>
      </p:sp>
      <p:sp>
        <p:nvSpPr>
          <p:cNvPr id="14340" name="Text Box 8"/>
          <p:cNvSpPr txBox="1">
            <a:spLocks noChangeArrowheads="1"/>
          </p:cNvSpPr>
          <p:nvPr/>
        </p:nvSpPr>
        <p:spPr bwMode="auto">
          <a:xfrm>
            <a:off x="3175" y="1082675"/>
            <a:ext cx="573087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8000" tIns="108000" rIns="108000" bIns="1080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回顾：浓度对化学反应速率有什么影响？</a:t>
            </a:r>
          </a:p>
        </p:txBody>
      </p:sp>
      <p:sp>
        <p:nvSpPr>
          <p:cNvPr id="13321" name="Line 9"/>
          <p:cNvSpPr>
            <a:spLocks noChangeShapeType="1"/>
          </p:cNvSpPr>
          <p:nvPr/>
        </p:nvSpPr>
        <p:spPr bwMode="auto">
          <a:xfrm>
            <a:off x="3744913" y="2563813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22" name="Line 10"/>
          <p:cNvSpPr>
            <a:spLocks noChangeShapeType="1"/>
          </p:cNvSpPr>
          <p:nvPr/>
        </p:nvSpPr>
        <p:spPr bwMode="auto">
          <a:xfrm rot="1500000">
            <a:off x="3733800" y="2608263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23" name="Line 11"/>
          <p:cNvSpPr>
            <a:spLocks noChangeShapeType="1"/>
          </p:cNvSpPr>
          <p:nvPr/>
        </p:nvSpPr>
        <p:spPr bwMode="auto">
          <a:xfrm>
            <a:off x="3744913" y="2487613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24" name="Line 12"/>
          <p:cNvSpPr>
            <a:spLocks noChangeShapeType="1"/>
          </p:cNvSpPr>
          <p:nvPr/>
        </p:nvSpPr>
        <p:spPr bwMode="auto">
          <a:xfrm rot="1500000">
            <a:off x="4259263" y="2443163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5" name="文本框 2"/>
          <p:cNvSpPr txBox="1">
            <a:spLocks noChangeArrowheads="1"/>
          </p:cNvSpPr>
          <p:nvPr/>
        </p:nvSpPr>
        <p:spPr bwMode="auto">
          <a:xfrm>
            <a:off x="2868613" y="674688"/>
            <a:ext cx="4206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如何认识化学反应平衡状态？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/>
      <p:bldP spid="13319" grpId="0"/>
      <p:bldP spid="13321" grpId="0" animBg="1"/>
      <p:bldP spid="13322" grpId="0" animBg="1"/>
      <p:bldP spid="13323" grpId="0" animBg="1"/>
      <p:bldP spid="133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911475" y="4648200"/>
            <a:ext cx="43275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 flipV="1">
            <a:off x="2911475" y="1371600"/>
            <a:ext cx="0" cy="3276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9"/>
          <p:cNvSpPr>
            <a:spLocks/>
          </p:cNvSpPr>
          <p:nvPr/>
        </p:nvSpPr>
        <p:spPr bwMode="auto">
          <a:xfrm flipV="1">
            <a:off x="2894013" y="3505200"/>
            <a:ext cx="2514600" cy="1143000"/>
          </a:xfrm>
          <a:custGeom>
            <a:avLst/>
            <a:gdLst>
              <a:gd name="T0" fmla="*/ 0 w 1584"/>
              <a:gd name="T1" fmla="*/ 0 h 720"/>
              <a:gd name="T2" fmla="*/ 2147483646 w 1584"/>
              <a:gd name="T3" fmla="*/ 2147483646 h 720"/>
              <a:gd name="T4" fmla="*/ 2147483646 w 1584"/>
              <a:gd name="T5" fmla="*/ 2147483646 h 72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584" h="720">
                <a:moveTo>
                  <a:pt x="0" y="0"/>
                </a:moveTo>
                <a:cubicBezTo>
                  <a:pt x="137" y="83"/>
                  <a:pt x="556" y="378"/>
                  <a:pt x="820" y="498"/>
                </a:cubicBezTo>
                <a:cubicBezTo>
                  <a:pt x="1084" y="618"/>
                  <a:pt x="1425" y="674"/>
                  <a:pt x="1584" y="72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20"/>
          <p:cNvSpPr>
            <a:spLocks/>
          </p:cNvSpPr>
          <p:nvPr/>
        </p:nvSpPr>
        <p:spPr bwMode="auto">
          <a:xfrm>
            <a:off x="2894013" y="2362200"/>
            <a:ext cx="2514600" cy="1143000"/>
          </a:xfrm>
          <a:custGeom>
            <a:avLst/>
            <a:gdLst>
              <a:gd name="T0" fmla="*/ 0 w 1584"/>
              <a:gd name="T1" fmla="*/ 0 h 720"/>
              <a:gd name="T2" fmla="*/ 2147483646 w 1584"/>
              <a:gd name="T3" fmla="*/ 2147483646 h 720"/>
              <a:gd name="T4" fmla="*/ 2147483646 w 1584"/>
              <a:gd name="T5" fmla="*/ 2147483646 h 72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584" h="720">
                <a:moveTo>
                  <a:pt x="0" y="0"/>
                </a:moveTo>
                <a:cubicBezTo>
                  <a:pt x="137" y="83"/>
                  <a:pt x="556" y="378"/>
                  <a:pt x="820" y="498"/>
                </a:cubicBezTo>
                <a:cubicBezTo>
                  <a:pt x="1084" y="618"/>
                  <a:pt x="1425" y="674"/>
                  <a:pt x="1584" y="72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21"/>
          <p:cNvSpPr>
            <a:spLocks noChangeShapeType="1"/>
          </p:cNvSpPr>
          <p:nvPr/>
        </p:nvSpPr>
        <p:spPr bwMode="auto">
          <a:xfrm>
            <a:off x="5384800" y="35052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Box 22"/>
          <p:cNvSpPr txBox="1">
            <a:spLocks noChangeArrowheads="1"/>
          </p:cNvSpPr>
          <p:nvPr/>
        </p:nvSpPr>
        <p:spPr bwMode="auto">
          <a:xfrm>
            <a:off x="6629400" y="4648200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时间</a:t>
            </a:r>
          </a:p>
        </p:txBody>
      </p:sp>
      <p:sp>
        <p:nvSpPr>
          <p:cNvPr id="8" name="Text Box 23"/>
          <p:cNvSpPr txBox="1">
            <a:spLocks noChangeArrowheads="1"/>
          </p:cNvSpPr>
          <p:nvPr/>
        </p:nvSpPr>
        <p:spPr bwMode="auto">
          <a:xfrm>
            <a:off x="2362200" y="1381125"/>
            <a:ext cx="549275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反应速率</a:t>
            </a:r>
          </a:p>
        </p:txBody>
      </p:sp>
      <p:sp>
        <p:nvSpPr>
          <p:cNvPr id="9" name="Text Box 24"/>
          <p:cNvSpPr txBox="1">
            <a:spLocks noChangeArrowheads="1"/>
          </p:cNvSpPr>
          <p:nvPr/>
        </p:nvSpPr>
        <p:spPr bwMode="auto">
          <a:xfrm>
            <a:off x="3421063" y="2382838"/>
            <a:ext cx="665162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正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lang="zh-CN" altLang="en-US" sz="2400" baseline="-250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" name="Text Box 25"/>
          <p:cNvSpPr txBox="1">
            <a:spLocks noChangeArrowheads="1"/>
          </p:cNvSpPr>
          <p:nvPr/>
        </p:nvSpPr>
        <p:spPr bwMode="auto">
          <a:xfrm>
            <a:off x="3649663" y="4038600"/>
            <a:ext cx="66516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逆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lang="zh-CN" altLang="en-US" sz="2400" baseline="-250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1" name="Line 26"/>
          <p:cNvSpPr>
            <a:spLocks noChangeShapeType="1"/>
          </p:cNvSpPr>
          <p:nvPr/>
        </p:nvSpPr>
        <p:spPr bwMode="auto">
          <a:xfrm>
            <a:off x="5384800" y="2667000"/>
            <a:ext cx="23813" cy="19812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27"/>
          <p:cNvSpPr>
            <a:spLocks noChangeShapeType="1"/>
          </p:cNvSpPr>
          <p:nvPr/>
        </p:nvSpPr>
        <p:spPr bwMode="auto">
          <a:xfrm>
            <a:off x="5384800" y="3505200"/>
            <a:ext cx="12192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Box 28"/>
          <p:cNvSpPr txBox="1">
            <a:spLocks noChangeArrowheads="1"/>
          </p:cNvSpPr>
          <p:nvPr/>
        </p:nvSpPr>
        <p:spPr bwMode="auto">
          <a:xfrm>
            <a:off x="5486400" y="3048000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平衡状态</a:t>
            </a:r>
          </a:p>
        </p:txBody>
      </p:sp>
      <p:sp>
        <p:nvSpPr>
          <p:cNvPr id="15374" name="文本框 13"/>
          <p:cNvSpPr txBox="1">
            <a:spLocks noChangeArrowheads="1"/>
          </p:cNvSpPr>
          <p:nvPr/>
        </p:nvSpPr>
        <p:spPr bwMode="auto">
          <a:xfrm>
            <a:off x="228600" y="304800"/>
            <a:ext cx="8534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思考：在一定条件下，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1mol Cl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与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的反应体系中，各组分的浓度随时间的变化，并画出时间与正逆反应速度的关系图。</a:t>
            </a:r>
          </a:p>
        </p:txBody>
      </p:sp>
      <p:sp>
        <p:nvSpPr>
          <p:cNvPr id="15" name="AutoShape 4"/>
          <p:cNvSpPr>
            <a:spLocks/>
          </p:cNvSpPr>
          <p:nvPr/>
        </p:nvSpPr>
        <p:spPr bwMode="auto">
          <a:xfrm>
            <a:off x="334963" y="5164138"/>
            <a:ext cx="200025" cy="914400"/>
          </a:xfrm>
          <a:prstGeom prst="leftBrace">
            <a:avLst>
              <a:gd name="adj1" fmla="val 38095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498475" y="4935538"/>
            <a:ext cx="4824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ea typeface="黑体" panose="02010609060101010101" pitchFamily="49" charset="-122"/>
              </a:rPr>
              <a:t>化学反应进行的快慢</a:t>
            </a:r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498475" y="5776913"/>
            <a:ext cx="4032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ea typeface="黑体" panose="02010609060101010101" pitchFamily="49" charset="-122"/>
              </a:rPr>
              <a:t>化学反应的限度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498475" y="5356225"/>
            <a:ext cx="4484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ea typeface="黑体" panose="02010609060101010101" pitchFamily="49" charset="-122"/>
              </a:rPr>
              <a:t>化学反应进行的方向</a:t>
            </a:r>
          </a:p>
        </p:txBody>
      </p:sp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3506788" y="4935538"/>
            <a:ext cx="365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ea typeface="华文新魏" panose="02010800040101010101" pitchFamily="2" charset="-122"/>
              </a:rPr>
              <a:t>——</a:t>
            </a:r>
            <a:r>
              <a:rPr lang="zh-CN" altLang="en-US" sz="2400">
                <a:ea typeface="华文新魏" panose="02010800040101010101" pitchFamily="2" charset="-122"/>
              </a:rPr>
              <a:t>化学反应速率</a:t>
            </a:r>
          </a:p>
        </p:txBody>
      </p:sp>
      <p:sp>
        <p:nvSpPr>
          <p:cNvPr id="20" name="Text Box 9"/>
          <p:cNvSpPr txBox="1">
            <a:spLocks noChangeArrowheads="1"/>
          </p:cNvSpPr>
          <p:nvPr/>
        </p:nvSpPr>
        <p:spPr bwMode="auto">
          <a:xfrm>
            <a:off x="2687638" y="5776913"/>
            <a:ext cx="297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ea typeface="华文新魏" panose="02010800040101010101" pitchFamily="2" charset="-122"/>
              </a:rPr>
              <a:t>——</a:t>
            </a:r>
            <a:r>
              <a:rPr lang="zh-CN" altLang="en-US" sz="2400">
                <a:ea typeface="华文新魏" panose="02010800040101010101" pitchFamily="2" charset="-122"/>
              </a:rPr>
              <a:t>化学平衡</a:t>
            </a:r>
          </a:p>
        </p:txBody>
      </p: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3373438" y="5356225"/>
            <a:ext cx="424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ea typeface="华文新魏" panose="02010800040101010101" pitchFamily="2" charset="-122"/>
              </a:rPr>
              <a:t>——</a:t>
            </a:r>
            <a:r>
              <a:rPr lang="zh-CN" altLang="en-US" sz="2400">
                <a:ea typeface="华文新魏" panose="02010800040101010101" pitchFamily="2" charset="-122"/>
              </a:rPr>
              <a:t>能量判据和熵判据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6" grpId="1" animBg="1"/>
      <p:bldP spid="7" grpId="0"/>
      <p:bldP spid="8" grpId="0"/>
      <p:bldP spid="9" grpId="0"/>
      <p:bldP spid="10" grpId="0"/>
      <p:bldP spid="11" grpId="0" animBg="1"/>
      <p:bldP spid="12" grpId="0" animBg="1"/>
      <p:bldP spid="12" grpId="1" animBg="1"/>
      <p:bldP spid="13" grpId="0"/>
      <p:bldP spid="15" grpId="0" animBg="1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386" name="直接箭头连接符 2"/>
          <p:cNvCxnSpPr>
            <a:cxnSpLocks noChangeShapeType="1"/>
          </p:cNvCxnSpPr>
          <p:nvPr/>
        </p:nvCxnSpPr>
        <p:spPr bwMode="auto">
          <a:xfrm>
            <a:off x="758825" y="3517900"/>
            <a:ext cx="2362200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387" name="直接箭头连接符 4"/>
          <p:cNvCxnSpPr>
            <a:cxnSpLocks noChangeShapeType="1"/>
          </p:cNvCxnSpPr>
          <p:nvPr/>
        </p:nvCxnSpPr>
        <p:spPr bwMode="auto">
          <a:xfrm flipV="1">
            <a:off x="758825" y="1079500"/>
            <a:ext cx="0" cy="243840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388" name="组合 11"/>
          <p:cNvGrpSpPr>
            <a:grpSpLocks/>
          </p:cNvGrpSpPr>
          <p:nvPr/>
        </p:nvGrpSpPr>
        <p:grpSpPr bwMode="auto">
          <a:xfrm>
            <a:off x="776288" y="927100"/>
            <a:ext cx="2005012" cy="1371600"/>
            <a:chOff x="780143" y="2133600"/>
            <a:chExt cx="2004786" cy="1371600"/>
          </a:xfrm>
        </p:grpSpPr>
        <p:sp>
          <p:nvSpPr>
            <p:cNvPr id="7" name="弧形 6"/>
            <p:cNvSpPr/>
            <p:nvPr/>
          </p:nvSpPr>
          <p:spPr bwMode="auto">
            <a:xfrm flipH="1" flipV="1">
              <a:off x="780143" y="2133600"/>
              <a:ext cx="1752402" cy="1371600"/>
            </a:xfrm>
            <a:prstGeom prst="arc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cxnSp>
          <p:nvCxnSpPr>
            <p:cNvPr id="16436" name="直接连接符 10"/>
            <p:cNvCxnSpPr>
              <a:cxnSpLocks noChangeShapeType="1"/>
            </p:cNvCxnSpPr>
            <p:nvPr/>
          </p:nvCxnSpPr>
          <p:spPr bwMode="auto">
            <a:xfrm>
              <a:off x="1641929" y="3505200"/>
              <a:ext cx="1143000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389" name="组合 12"/>
          <p:cNvGrpSpPr>
            <a:grpSpLocks/>
          </p:cNvGrpSpPr>
          <p:nvPr/>
        </p:nvGrpSpPr>
        <p:grpSpPr bwMode="auto">
          <a:xfrm flipV="1">
            <a:off x="798513" y="2832100"/>
            <a:ext cx="2005012" cy="1371600"/>
            <a:chOff x="780143" y="2133600"/>
            <a:chExt cx="2004786" cy="1371600"/>
          </a:xfrm>
        </p:grpSpPr>
        <p:sp>
          <p:nvSpPr>
            <p:cNvPr id="14" name="弧形 13"/>
            <p:cNvSpPr/>
            <p:nvPr/>
          </p:nvSpPr>
          <p:spPr bwMode="auto">
            <a:xfrm flipH="1" flipV="1">
              <a:off x="780143" y="2133600"/>
              <a:ext cx="1752402" cy="1371600"/>
            </a:xfrm>
            <a:prstGeom prst="arc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cxnSp>
          <p:nvCxnSpPr>
            <p:cNvPr id="16434" name="直接连接符 14"/>
            <p:cNvCxnSpPr>
              <a:cxnSpLocks noChangeShapeType="1"/>
            </p:cNvCxnSpPr>
            <p:nvPr/>
          </p:nvCxnSpPr>
          <p:spPr bwMode="auto">
            <a:xfrm>
              <a:off x="1641929" y="3505200"/>
              <a:ext cx="1143000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7" name="直接连接符 16"/>
          <p:cNvCxnSpPr/>
          <p:nvPr/>
        </p:nvCxnSpPr>
        <p:spPr bwMode="auto">
          <a:xfrm>
            <a:off x="1638300" y="2070100"/>
            <a:ext cx="0" cy="144780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  <a:ex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391" name="文本框 18"/>
          <p:cNvSpPr txBox="1">
            <a:spLocks noChangeArrowheads="1"/>
          </p:cNvSpPr>
          <p:nvPr/>
        </p:nvSpPr>
        <p:spPr bwMode="auto">
          <a:xfrm>
            <a:off x="2274888" y="3517900"/>
            <a:ext cx="803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时间</a:t>
            </a:r>
          </a:p>
        </p:txBody>
      </p:sp>
      <p:sp>
        <p:nvSpPr>
          <p:cNvPr id="16392" name="文本框 19"/>
          <p:cNvSpPr txBox="1">
            <a:spLocks noChangeArrowheads="1"/>
          </p:cNvSpPr>
          <p:nvPr/>
        </p:nvSpPr>
        <p:spPr bwMode="auto">
          <a:xfrm>
            <a:off x="247650" y="1116013"/>
            <a:ext cx="554038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浓度</a:t>
            </a:r>
          </a:p>
        </p:txBody>
      </p:sp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1635125" y="2328863"/>
            <a:ext cx="1422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平衡状态</a:t>
            </a: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1668463" y="1836738"/>
            <a:ext cx="11128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反应物</a:t>
            </a:r>
          </a:p>
        </p:txBody>
      </p:sp>
      <p:sp>
        <p:nvSpPr>
          <p:cNvPr id="23" name="文本框 22"/>
          <p:cNvSpPr txBox="1">
            <a:spLocks noChangeArrowheads="1"/>
          </p:cNvSpPr>
          <p:nvPr/>
        </p:nvSpPr>
        <p:spPr bwMode="auto">
          <a:xfrm>
            <a:off x="1690688" y="2832100"/>
            <a:ext cx="11128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生成物</a:t>
            </a:r>
          </a:p>
        </p:txBody>
      </p:sp>
      <p:sp>
        <p:nvSpPr>
          <p:cNvPr id="16396" name="文本框 23"/>
          <p:cNvSpPr txBox="1">
            <a:spLocks noChangeArrowheads="1"/>
          </p:cNvSpPr>
          <p:nvPr/>
        </p:nvSpPr>
        <p:spPr bwMode="auto">
          <a:xfrm flipH="1">
            <a:off x="250825" y="473075"/>
            <a:ext cx="7169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可逆反应中生成物和反应的浓度随时间的变化</a:t>
            </a:r>
          </a:p>
        </p:txBody>
      </p:sp>
      <p:sp>
        <p:nvSpPr>
          <p:cNvPr id="25" name="文本框 24"/>
          <p:cNvSpPr txBox="1">
            <a:spLocks noChangeArrowheads="1"/>
          </p:cNvSpPr>
          <p:nvPr/>
        </p:nvSpPr>
        <p:spPr bwMode="auto">
          <a:xfrm>
            <a:off x="823913" y="4051300"/>
            <a:ext cx="2254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A(g)            B(g)</a:t>
            </a:r>
            <a:endParaRPr lang="zh-CN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6" name="Line 9"/>
          <p:cNvSpPr>
            <a:spLocks noChangeShapeType="1"/>
          </p:cNvSpPr>
          <p:nvPr/>
        </p:nvSpPr>
        <p:spPr bwMode="auto">
          <a:xfrm>
            <a:off x="1568450" y="4316413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 rot="1500000">
            <a:off x="1557338" y="4360863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11"/>
          <p:cNvSpPr>
            <a:spLocks noChangeShapeType="1"/>
          </p:cNvSpPr>
          <p:nvPr/>
        </p:nvSpPr>
        <p:spPr bwMode="auto">
          <a:xfrm>
            <a:off x="1568450" y="4240213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12"/>
          <p:cNvSpPr>
            <a:spLocks noChangeShapeType="1"/>
          </p:cNvSpPr>
          <p:nvPr/>
        </p:nvSpPr>
        <p:spPr bwMode="auto">
          <a:xfrm rot="1500000">
            <a:off x="2082800" y="4195763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30" name="直接箭头连接符 29"/>
          <p:cNvCxnSpPr>
            <a:cxnSpLocks noChangeShapeType="1"/>
          </p:cNvCxnSpPr>
          <p:nvPr/>
        </p:nvCxnSpPr>
        <p:spPr bwMode="auto">
          <a:xfrm>
            <a:off x="3781425" y="3473450"/>
            <a:ext cx="2362200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直接箭头连接符 30"/>
          <p:cNvCxnSpPr>
            <a:cxnSpLocks noChangeShapeType="1"/>
          </p:cNvCxnSpPr>
          <p:nvPr/>
        </p:nvCxnSpPr>
        <p:spPr bwMode="auto">
          <a:xfrm flipV="1">
            <a:off x="3781425" y="1035050"/>
            <a:ext cx="0" cy="243840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5" name="组合 34"/>
          <p:cNvGrpSpPr>
            <a:grpSpLocks/>
          </p:cNvGrpSpPr>
          <p:nvPr/>
        </p:nvGrpSpPr>
        <p:grpSpPr bwMode="auto">
          <a:xfrm flipV="1">
            <a:off x="3789363" y="2379663"/>
            <a:ext cx="2003425" cy="2133600"/>
            <a:chOff x="780143" y="2133600"/>
            <a:chExt cx="2004786" cy="1371600"/>
          </a:xfrm>
        </p:grpSpPr>
        <p:sp>
          <p:nvSpPr>
            <p:cNvPr id="36" name="弧形 35"/>
            <p:cNvSpPr/>
            <p:nvPr/>
          </p:nvSpPr>
          <p:spPr bwMode="auto">
            <a:xfrm flipH="1" flipV="1">
              <a:off x="780143" y="2133600"/>
              <a:ext cx="1752202" cy="1371600"/>
            </a:xfrm>
            <a:prstGeom prst="arc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cxnSp>
          <p:nvCxnSpPr>
            <p:cNvPr id="16432" name="直接连接符 36"/>
            <p:cNvCxnSpPr>
              <a:cxnSpLocks noChangeShapeType="1"/>
            </p:cNvCxnSpPr>
            <p:nvPr/>
          </p:nvCxnSpPr>
          <p:spPr bwMode="auto">
            <a:xfrm>
              <a:off x="1641929" y="3505200"/>
              <a:ext cx="1143000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8" name="直接连接符 37"/>
          <p:cNvCxnSpPr/>
          <p:nvPr/>
        </p:nvCxnSpPr>
        <p:spPr bwMode="auto">
          <a:xfrm>
            <a:off x="4660900" y="2025650"/>
            <a:ext cx="0" cy="144780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  <a:ex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文本框 38"/>
          <p:cNvSpPr txBox="1">
            <a:spLocks noChangeArrowheads="1"/>
          </p:cNvSpPr>
          <p:nvPr/>
        </p:nvSpPr>
        <p:spPr bwMode="auto">
          <a:xfrm>
            <a:off x="5297488" y="3473450"/>
            <a:ext cx="803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时间</a:t>
            </a:r>
          </a:p>
        </p:txBody>
      </p:sp>
      <p:sp>
        <p:nvSpPr>
          <p:cNvPr id="40" name="文本框 39"/>
          <p:cNvSpPr txBox="1">
            <a:spLocks noChangeArrowheads="1"/>
          </p:cNvSpPr>
          <p:nvPr/>
        </p:nvSpPr>
        <p:spPr bwMode="auto">
          <a:xfrm>
            <a:off x="3270250" y="1071563"/>
            <a:ext cx="554038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浓度</a:t>
            </a:r>
          </a:p>
        </p:txBody>
      </p:sp>
      <p:sp>
        <p:nvSpPr>
          <p:cNvPr id="41" name="文本框 40"/>
          <p:cNvSpPr txBox="1">
            <a:spLocks noChangeArrowheads="1"/>
          </p:cNvSpPr>
          <p:nvPr/>
        </p:nvSpPr>
        <p:spPr bwMode="auto">
          <a:xfrm>
            <a:off x="4638675" y="2457450"/>
            <a:ext cx="1422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平衡状态</a:t>
            </a:r>
          </a:p>
        </p:txBody>
      </p:sp>
      <p:sp>
        <p:nvSpPr>
          <p:cNvPr id="42" name="文本框 41"/>
          <p:cNvSpPr txBox="1">
            <a:spLocks noChangeArrowheads="1"/>
          </p:cNvSpPr>
          <p:nvPr/>
        </p:nvSpPr>
        <p:spPr bwMode="auto">
          <a:xfrm>
            <a:off x="4662488" y="2895600"/>
            <a:ext cx="11144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反应物</a:t>
            </a:r>
          </a:p>
        </p:txBody>
      </p:sp>
      <p:sp>
        <p:nvSpPr>
          <p:cNvPr id="43" name="文本框 42"/>
          <p:cNvSpPr txBox="1">
            <a:spLocks noChangeArrowheads="1"/>
          </p:cNvSpPr>
          <p:nvPr/>
        </p:nvSpPr>
        <p:spPr bwMode="auto">
          <a:xfrm>
            <a:off x="4738688" y="1903413"/>
            <a:ext cx="1114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生成物</a:t>
            </a:r>
          </a:p>
        </p:txBody>
      </p:sp>
      <p:grpSp>
        <p:nvGrpSpPr>
          <p:cNvPr id="47" name="组合 46"/>
          <p:cNvGrpSpPr>
            <a:grpSpLocks/>
          </p:cNvGrpSpPr>
          <p:nvPr/>
        </p:nvGrpSpPr>
        <p:grpSpPr bwMode="auto">
          <a:xfrm>
            <a:off x="3781425" y="790575"/>
            <a:ext cx="2005013" cy="2133600"/>
            <a:chOff x="780143" y="2133600"/>
            <a:chExt cx="2004786" cy="1371600"/>
          </a:xfrm>
        </p:grpSpPr>
        <p:sp>
          <p:nvSpPr>
            <p:cNvPr id="48" name="弧形 47"/>
            <p:cNvSpPr/>
            <p:nvPr/>
          </p:nvSpPr>
          <p:spPr bwMode="auto">
            <a:xfrm flipH="1" flipV="1">
              <a:off x="780143" y="2133600"/>
              <a:ext cx="1752402" cy="1371600"/>
            </a:xfrm>
            <a:prstGeom prst="arc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cxnSp>
          <p:nvCxnSpPr>
            <p:cNvPr id="16430" name="直接连接符 48"/>
            <p:cNvCxnSpPr>
              <a:cxnSpLocks noChangeShapeType="1"/>
            </p:cNvCxnSpPr>
            <p:nvPr/>
          </p:nvCxnSpPr>
          <p:spPr bwMode="auto">
            <a:xfrm>
              <a:off x="1641929" y="3505200"/>
              <a:ext cx="1143000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50" name="直接箭头连接符 49"/>
          <p:cNvCxnSpPr>
            <a:cxnSpLocks noChangeShapeType="1"/>
          </p:cNvCxnSpPr>
          <p:nvPr/>
        </p:nvCxnSpPr>
        <p:spPr bwMode="auto">
          <a:xfrm>
            <a:off x="6530975" y="3467100"/>
            <a:ext cx="2362200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直接箭头连接符 50"/>
          <p:cNvCxnSpPr>
            <a:cxnSpLocks noChangeShapeType="1"/>
          </p:cNvCxnSpPr>
          <p:nvPr/>
        </p:nvCxnSpPr>
        <p:spPr bwMode="auto">
          <a:xfrm flipV="1">
            <a:off x="6530975" y="1028700"/>
            <a:ext cx="0" cy="243840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2" name="组合 51"/>
          <p:cNvGrpSpPr>
            <a:grpSpLocks/>
          </p:cNvGrpSpPr>
          <p:nvPr/>
        </p:nvGrpSpPr>
        <p:grpSpPr bwMode="auto">
          <a:xfrm>
            <a:off x="6534150" y="-228600"/>
            <a:ext cx="2019300" cy="3019425"/>
            <a:chOff x="766497" y="2133600"/>
            <a:chExt cx="2018432" cy="1371600"/>
          </a:xfrm>
        </p:grpSpPr>
        <p:sp>
          <p:nvSpPr>
            <p:cNvPr id="53" name="弧形 52"/>
            <p:cNvSpPr/>
            <p:nvPr/>
          </p:nvSpPr>
          <p:spPr bwMode="auto">
            <a:xfrm flipH="1" flipV="1">
              <a:off x="766497" y="2133600"/>
              <a:ext cx="1751847" cy="1371600"/>
            </a:xfrm>
            <a:prstGeom prst="arc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cxnSp>
          <p:nvCxnSpPr>
            <p:cNvPr id="16428" name="直接连接符 53"/>
            <p:cNvCxnSpPr>
              <a:cxnSpLocks noChangeShapeType="1"/>
            </p:cNvCxnSpPr>
            <p:nvPr/>
          </p:nvCxnSpPr>
          <p:spPr bwMode="auto">
            <a:xfrm>
              <a:off x="1641929" y="3505200"/>
              <a:ext cx="1143000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5" name="组合 54"/>
          <p:cNvGrpSpPr>
            <a:grpSpLocks/>
          </p:cNvGrpSpPr>
          <p:nvPr/>
        </p:nvGrpSpPr>
        <p:grpSpPr bwMode="auto">
          <a:xfrm flipV="1">
            <a:off x="6556375" y="2781300"/>
            <a:ext cx="2003425" cy="1371600"/>
            <a:chOff x="780143" y="2133600"/>
            <a:chExt cx="2004786" cy="1371600"/>
          </a:xfrm>
        </p:grpSpPr>
        <p:sp>
          <p:nvSpPr>
            <p:cNvPr id="56" name="弧形 55"/>
            <p:cNvSpPr/>
            <p:nvPr/>
          </p:nvSpPr>
          <p:spPr bwMode="auto">
            <a:xfrm flipH="1" flipV="1">
              <a:off x="780143" y="2133600"/>
              <a:ext cx="1752203" cy="1371600"/>
            </a:xfrm>
            <a:prstGeom prst="arc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cxnSp>
          <p:nvCxnSpPr>
            <p:cNvPr id="16426" name="直接连接符 56"/>
            <p:cNvCxnSpPr>
              <a:cxnSpLocks noChangeShapeType="1"/>
            </p:cNvCxnSpPr>
            <p:nvPr/>
          </p:nvCxnSpPr>
          <p:spPr bwMode="auto">
            <a:xfrm>
              <a:off x="1641929" y="3505200"/>
              <a:ext cx="1143000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58" name="直接连接符 57"/>
          <p:cNvCxnSpPr/>
          <p:nvPr/>
        </p:nvCxnSpPr>
        <p:spPr bwMode="auto">
          <a:xfrm>
            <a:off x="7410450" y="2019300"/>
            <a:ext cx="0" cy="144780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  <a:ex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9" name="文本框 58"/>
          <p:cNvSpPr txBox="1">
            <a:spLocks noChangeArrowheads="1"/>
          </p:cNvSpPr>
          <p:nvPr/>
        </p:nvSpPr>
        <p:spPr bwMode="auto">
          <a:xfrm>
            <a:off x="8047038" y="3467100"/>
            <a:ext cx="8032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时间</a:t>
            </a:r>
          </a:p>
        </p:txBody>
      </p:sp>
      <p:sp>
        <p:nvSpPr>
          <p:cNvPr id="60" name="文本框 59"/>
          <p:cNvSpPr txBox="1">
            <a:spLocks noChangeArrowheads="1"/>
          </p:cNvSpPr>
          <p:nvPr/>
        </p:nvSpPr>
        <p:spPr bwMode="auto">
          <a:xfrm>
            <a:off x="6019800" y="1063625"/>
            <a:ext cx="554038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浓度</a:t>
            </a:r>
          </a:p>
        </p:txBody>
      </p:sp>
      <p:sp>
        <p:nvSpPr>
          <p:cNvPr id="61" name="文本框 60"/>
          <p:cNvSpPr txBox="1">
            <a:spLocks noChangeArrowheads="1"/>
          </p:cNvSpPr>
          <p:nvPr/>
        </p:nvSpPr>
        <p:spPr bwMode="auto">
          <a:xfrm>
            <a:off x="7470775" y="2344738"/>
            <a:ext cx="1422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平衡状态</a:t>
            </a:r>
          </a:p>
        </p:txBody>
      </p:sp>
      <p:sp>
        <p:nvSpPr>
          <p:cNvPr id="49" name="文本框 48"/>
          <p:cNvSpPr txBox="1">
            <a:spLocks noChangeArrowheads="1"/>
          </p:cNvSpPr>
          <p:nvPr/>
        </p:nvSpPr>
        <p:spPr bwMode="auto">
          <a:xfrm>
            <a:off x="6523038" y="3944938"/>
            <a:ext cx="2425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2A(g)            B(g)</a:t>
            </a:r>
            <a:endParaRPr lang="zh-CN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4" name="Line 9"/>
          <p:cNvSpPr>
            <a:spLocks noChangeShapeType="1"/>
          </p:cNvSpPr>
          <p:nvPr/>
        </p:nvSpPr>
        <p:spPr bwMode="auto">
          <a:xfrm>
            <a:off x="7469188" y="4210050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Line 10"/>
          <p:cNvSpPr>
            <a:spLocks noChangeShapeType="1"/>
          </p:cNvSpPr>
          <p:nvPr/>
        </p:nvSpPr>
        <p:spPr bwMode="auto">
          <a:xfrm rot="1500000">
            <a:off x="7458075" y="425450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Line 11"/>
          <p:cNvSpPr>
            <a:spLocks noChangeShapeType="1"/>
          </p:cNvSpPr>
          <p:nvPr/>
        </p:nvSpPr>
        <p:spPr bwMode="auto">
          <a:xfrm>
            <a:off x="7469188" y="4133850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Line 12"/>
          <p:cNvSpPr>
            <a:spLocks noChangeShapeType="1"/>
          </p:cNvSpPr>
          <p:nvPr/>
        </p:nvSpPr>
        <p:spPr bwMode="auto">
          <a:xfrm rot="1500000">
            <a:off x="7983538" y="408940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5" grpId="0"/>
      <p:bldP spid="26" grpId="0" animBg="1"/>
      <p:bldP spid="27" grpId="0" animBg="1"/>
      <p:bldP spid="28" grpId="0" animBg="1"/>
      <p:bldP spid="29" grpId="0" animBg="1"/>
      <p:bldP spid="39" grpId="0"/>
      <p:bldP spid="40" grpId="0"/>
      <p:bldP spid="41" grpId="0"/>
      <p:bldP spid="42" grpId="0"/>
      <p:bldP spid="43" grpId="0"/>
      <p:bldP spid="59" grpId="0"/>
      <p:bldP spid="60" grpId="0"/>
      <p:bldP spid="61" grpId="0"/>
      <p:bldP spid="49" grpId="0"/>
      <p:bldP spid="54" grpId="0" animBg="1"/>
      <p:bldP spid="57" grpId="0" animBg="1"/>
      <p:bldP spid="62" grpId="0" animBg="1"/>
      <p:bldP spid="6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4"/>
          <p:cNvSpPr txBox="1">
            <a:spLocks noChangeArrowheads="1"/>
          </p:cNvSpPr>
          <p:nvPr/>
        </p:nvSpPr>
        <p:spPr bwMode="auto">
          <a:xfrm>
            <a:off x="144463" y="542925"/>
            <a:ext cx="8964612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化学平衡概念：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化学平衡状态是指在一定条件下的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可逆反应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，正反应和逆反应的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速率相等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，反应混合物中各组分的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浓度保持不变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的状态。 </a:t>
            </a:r>
          </a:p>
        </p:txBody>
      </p:sp>
      <p:sp>
        <p:nvSpPr>
          <p:cNvPr id="14350" name="Text Box 14"/>
          <p:cNvSpPr txBox="1">
            <a:spLocks noChangeArrowheads="1"/>
          </p:cNvSpPr>
          <p:nvPr/>
        </p:nvSpPr>
        <p:spPr bwMode="auto">
          <a:xfrm>
            <a:off x="120650" y="1730375"/>
            <a:ext cx="8988425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：在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t℃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时，反应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(g)+ B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            2AB(g)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达到平衡的标志是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．单位时间生成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摩尔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，同时生成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摩尔的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 B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．单位时间生成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2n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摩尔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AB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，同时生成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摩尔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 C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．单位时间生成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摩尔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，同时生成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摩尔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 D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．容器内各组成成分的百分含量不随时间变化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E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．容器内的总压强不随时间变化</a:t>
            </a:r>
          </a:p>
        </p:txBody>
      </p:sp>
      <p:sp>
        <p:nvSpPr>
          <p:cNvPr id="14351" name="Text Box 15"/>
          <p:cNvSpPr txBox="1">
            <a:spLocks noChangeArrowheads="1"/>
          </p:cNvSpPr>
          <p:nvPr/>
        </p:nvSpPr>
        <p:spPr bwMode="auto">
          <a:xfrm>
            <a:off x="7693025" y="2173288"/>
            <a:ext cx="811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(BD)</a:t>
            </a:r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>
            <a:off x="4579938" y="1992313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 rot="1500000">
            <a:off x="4568825" y="2036763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>
            <a:off x="4579938" y="1916113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5" name="Line 19"/>
          <p:cNvSpPr>
            <a:spLocks noChangeShapeType="1"/>
          </p:cNvSpPr>
          <p:nvPr/>
        </p:nvSpPr>
        <p:spPr bwMode="auto">
          <a:xfrm rot="1500000">
            <a:off x="5094288" y="1871663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0" grpId="0"/>
      <p:bldP spid="14351" grpId="0"/>
      <p:bldP spid="14352" grpId="0" animBg="1"/>
      <p:bldP spid="14353" grpId="0" animBg="1"/>
      <p:bldP spid="14354" grpId="0" animBg="1"/>
      <p:bldP spid="1435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4"/>
          <p:cNvSpPr txBox="1">
            <a:spLocks noChangeArrowheads="1"/>
          </p:cNvSpPr>
          <p:nvPr/>
        </p:nvSpPr>
        <p:spPr bwMode="auto">
          <a:xfrm>
            <a:off x="107950" y="381000"/>
            <a:ext cx="900112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平衡状态的标志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(1)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任意一种生成物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或反应物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的生成速率等于消耗速率。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(2)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在密闭容器中进行的可逆反应，任意一种生成物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或反应物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的浓度不随时间变化。 </a:t>
            </a:r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263525" y="1908175"/>
            <a:ext cx="8499475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：下列说法中，可以充分说明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P(g)+Q(g)            R(g)+S(g)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在恒温下已达到平衡的是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．反应容器内的压强不随时间变化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．反应容器内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四者共存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的生成速率相等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．反应容器内的总物质的量不随时间变化 </a:t>
            </a:r>
          </a:p>
        </p:txBody>
      </p:sp>
      <p:sp>
        <p:nvSpPr>
          <p:cNvPr id="31750" name="Text Box 6"/>
          <p:cNvSpPr txBox="1">
            <a:spLocks noChangeArrowheads="1"/>
          </p:cNvSpPr>
          <p:nvPr/>
        </p:nvSpPr>
        <p:spPr bwMode="auto">
          <a:xfrm>
            <a:off x="7516813" y="2286000"/>
            <a:ext cx="10175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1751" name="Line 7"/>
          <p:cNvSpPr>
            <a:spLocks noChangeShapeType="1"/>
          </p:cNvSpPr>
          <p:nvPr/>
        </p:nvSpPr>
        <p:spPr bwMode="auto">
          <a:xfrm>
            <a:off x="6186488" y="2195513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2" name="Line 8"/>
          <p:cNvSpPr>
            <a:spLocks noChangeShapeType="1"/>
          </p:cNvSpPr>
          <p:nvPr/>
        </p:nvSpPr>
        <p:spPr bwMode="auto">
          <a:xfrm rot="1500000">
            <a:off x="6175375" y="2239963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3" name="Line 9"/>
          <p:cNvSpPr>
            <a:spLocks noChangeShapeType="1"/>
          </p:cNvSpPr>
          <p:nvPr/>
        </p:nvSpPr>
        <p:spPr bwMode="auto">
          <a:xfrm>
            <a:off x="6186488" y="2119313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4" name="Line 10"/>
          <p:cNvSpPr>
            <a:spLocks noChangeShapeType="1"/>
          </p:cNvSpPr>
          <p:nvPr/>
        </p:nvSpPr>
        <p:spPr bwMode="auto">
          <a:xfrm rot="1500000">
            <a:off x="6700838" y="2074863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9" grpId="0"/>
      <p:bldP spid="31750" grpId="0"/>
      <p:bldP spid="31751" grpId="0" animBg="1"/>
      <p:bldP spid="31752" grpId="0" animBg="1"/>
      <p:bldP spid="31753" grpId="0" animBg="1"/>
      <p:bldP spid="3175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0"/>
          <p:cNvSpPr txBox="1">
            <a:spLocks noChangeArrowheads="1"/>
          </p:cNvSpPr>
          <p:nvPr/>
        </p:nvSpPr>
        <p:spPr bwMode="auto">
          <a:xfrm>
            <a:off x="136525" y="304800"/>
            <a:ext cx="9007475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化学平衡的特征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动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-----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是一种动态平衡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等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-----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正，逆反应速率相等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-----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反应混合物中各组分的浓度保持一定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移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-----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条件改变，平衡就会移动，从而达到新的平衡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同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-----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条件相同（相同温度、浓度、压强），某一可逆反应无论是由正反应开始还是从逆反应开始，最终均可达到同一平衡状态。 </a:t>
            </a:r>
          </a:p>
        </p:txBody>
      </p:sp>
      <p:sp>
        <p:nvSpPr>
          <p:cNvPr id="19459" name="文本框 2"/>
          <p:cNvSpPr txBox="1">
            <a:spLocks noChangeArrowheads="1"/>
          </p:cNvSpPr>
          <p:nvPr/>
        </p:nvSpPr>
        <p:spPr bwMode="auto">
          <a:xfrm>
            <a:off x="161925" y="2974975"/>
            <a:ext cx="8677275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：将一定量的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18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通入一密闭容器中，在一定条件下发生可逆反应：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2SO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+O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           2SO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，当反应达到一定限度时，</a:t>
            </a:r>
            <a:r>
              <a:rPr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18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存在于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  A</a:t>
            </a: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中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            B</a:t>
            </a: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中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 C</a:t>
            </a: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中  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          D</a:t>
            </a: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中</a:t>
            </a:r>
            <a:endParaRPr lang="zh-CN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" name="Line 16"/>
          <p:cNvSpPr>
            <a:spLocks noChangeShapeType="1"/>
          </p:cNvSpPr>
          <p:nvPr/>
        </p:nvSpPr>
        <p:spPr bwMode="auto">
          <a:xfrm>
            <a:off x="3657600" y="3629025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17"/>
          <p:cNvSpPr>
            <a:spLocks noChangeShapeType="1"/>
          </p:cNvSpPr>
          <p:nvPr/>
        </p:nvSpPr>
        <p:spPr bwMode="auto">
          <a:xfrm rot="1500000">
            <a:off x="3646488" y="36734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3657600" y="3552825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9"/>
          <p:cNvSpPr>
            <a:spLocks noChangeShapeType="1"/>
          </p:cNvSpPr>
          <p:nvPr/>
        </p:nvSpPr>
        <p:spPr bwMode="auto">
          <a:xfrm rot="1500000">
            <a:off x="4171950" y="35083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7543800" y="3733800"/>
            <a:ext cx="10175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8" grpId="0" animBg="1"/>
      <p:bldP spid="9" grpId="0" animBg="1"/>
      <p:bldP spid="10" grpId="0" animBg="1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文本框 1"/>
          <p:cNvSpPr txBox="1">
            <a:spLocks noChangeArrowheads="1"/>
          </p:cNvSpPr>
          <p:nvPr/>
        </p:nvSpPr>
        <p:spPr bwMode="auto">
          <a:xfrm>
            <a:off x="152400" y="685800"/>
            <a:ext cx="88392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：下列关于化学平衡的说法中，正确的是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．当达到化学平衡时，反应物已完全转化为生成物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．当达到化学平衡时，正逆反应均已停止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．当达到化学平衡时，反应混合物中各成分的浓度保持不变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．化学平衡是一定条件下的平衡，当条件改变时，平衡可能会遭到破坏</a:t>
            </a: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6705600" y="685800"/>
            <a:ext cx="124936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CD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4"/>
          <p:cNvSpPr txBox="1">
            <a:spLocks noChangeArrowheads="1"/>
          </p:cNvSpPr>
          <p:nvPr/>
        </p:nvSpPr>
        <p:spPr bwMode="auto">
          <a:xfrm>
            <a:off x="0" y="522288"/>
            <a:ext cx="9144000" cy="157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：在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101kPa 500℃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下，将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2mol SO</a:t>
            </a:r>
            <a:r>
              <a:rPr kumimoji="1" lang="en-US" altLang="zh-CN" sz="2400" baseline="-30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1mol O</a:t>
            </a:r>
            <a:r>
              <a:rPr kumimoji="1" lang="en-US" altLang="zh-CN" sz="2400" baseline="-30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充入一密闭容器中，达平衡时，测得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SO</a:t>
            </a:r>
            <a:r>
              <a:rPr kumimoji="1" lang="en-US" altLang="zh-CN" sz="2400" baseline="-30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的体积分数为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91%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。若将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2mol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SO</a:t>
            </a:r>
            <a:r>
              <a:rPr kumimoji="1" lang="en-US" altLang="zh-CN" sz="2400" baseline="-30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通入密闭的容器中，仍在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101kPa 500℃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下进行反应，达平衡时，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SO</a:t>
            </a:r>
            <a:r>
              <a:rPr kumimoji="1" lang="en-US" altLang="zh-CN" sz="2400" baseline="-30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的体积分数又为多少呢？</a:t>
            </a:r>
            <a:endParaRPr kumimoji="1" lang="zh-CN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0" y="1981200"/>
            <a:ext cx="9144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答：条件相同，某一可逆反应无论是由正反应开始还是从逆反应开始，最终均可达到同一平衡状态。</a:t>
            </a:r>
            <a:endParaRPr kumimoji="1" lang="zh-CN" altLang="en-US" sz="2400" b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8" name="Text Box 6"/>
          <p:cNvSpPr txBox="1">
            <a:spLocks noChangeArrowheads="1"/>
          </p:cNvSpPr>
          <p:nvPr/>
        </p:nvSpPr>
        <p:spPr bwMode="auto">
          <a:xfrm>
            <a:off x="3575050" y="152400"/>
            <a:ext cx="252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等效平衡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0" y="2794000"/>
            <a:ext cx="9007475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6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：在一固定容积的密闭容器内，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2mol A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1mol B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在一定条件下发生反应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2A(g)+B(g)             3C(g)+D(g)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，达平衡时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C(C)=W mol/L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。若在同一容器中，保持上述温度，按下列配比进行反应，仍可使平衡时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C(C)= W mol/L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4mol A+2mol B           B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3mol C+1mol D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  C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1mol A+0.5mol B         D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2mol A+1mol B+3mol C+1mol D</a:t>
            </a:r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4486275" y="3886200"/>
            <a:ext cx="1000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16395" name="Line 11"/>
          <p:cNvSpPr>
            <a:spLocks noChangeShapeType="1"/>
          </p:cNvSpPr>
          <p:nvPr/>
        </p:nvSpPr>
        <p:spPr bwMode="auto">
          <a:xfrm>
            <a:off x="2906713" y="3443288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6" name="Line 12"/>
          <p:cNvSpPr>
            <a:spLocks noChangeShapeType="1"/>
          </p:cNvSpPr>
          <p:nvPr/>
        </p:nvSpPr>
        <p:spPr bwMode="auto">
          <a:xfrm rot="1500000">
            <a:off x="2895600" y="3487738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7" name="Line 13"/>
          <p:cNvSpPr>
            <a:spLocks noChangeShapeType="1"/>
          </p:cNvSpPr>
          <p:nvPr/>
        </p:nvSpPr>
        <p:spPr bwMode="auto">
          <a:xfrm>
            <a:off x="2906713" y="3367088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8" name="Line 14"/>
          <p:cNvSpPr>
            <a:spLocks noChangeShapeType="1"/>
          </p:cNvSpPr>
          <p:nvPr/>
        </p:nvSpPr>
        <p:spPr bwMode="auto">
          <a:xfrm rot="1500000">
            <a:off x="3421063" y="3322638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/>
      <p:bldP spid="16391" grpId="0"/>
      <p:bldP spid="16392" grpId="0"/>
      <p:bldP spid="16395" grpId="0" animBg="1"/>
      <p:bldP spid="16396" grpId="0" animBg="1"/>
      <p:bldP spid="16397" grpId="0" animBg="1"/>
      <p:bldP spid="1639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4"/>
          <p:cNvSpPr txBox="1">
            <a:spLocks noChangeArrowheads="1"/>
          </p:cNvSpPr>
          <p:nvPr/>
        </p:nvSpPr>
        <p:spPr bwMode="auto">
          <a:xfrm>
            <a:off x="323850" y="260350"/>
            <a:ext cx="5256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化学平衡的相关计算</a:t>
            </a:r>
          </a:p>
        </p:txBody>
      </p:sp>
      <p:sp>
        <p:nvSpPr>
          <p:cNvPr id="22531" name="Text Box 5"/>
          <p:cNvSpPr txBox="1">
            <a:spLocks noChangeArrowheads="1"/>
          </p:cNvSpPr>
          <p:nvPr/>
        </p:nvSpPr>
        <p:spPr bwMode="auto">
          <a:xfrm>
            <a:off x="0" y="765175"/>
            <a:ext cx="91440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7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：在一定条件下，在密闭容器内将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以体积比为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1:3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混合，当反应达平衡时，混合气中氨占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25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％（体积比），若混合前有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100mol N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，求平衡后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NH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的物质的量及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的转化率。 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179388" y="1905000"/>
            <a:ext cx="87852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000" tIns="108000" rIns="108000" bIns="1080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平衡后：</a:t>
            </a:r>
            <a:r>
              <a:rPr kumimoji="1"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n(N</a:t>
            </a:r>
            <a:r>
              <a:rPr kumimoji="1" lang="en-US" altLang="zh-CN" sz="2400" baseline="-250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)=60mol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；</a:t>
            </a:r>
            <a:r>
              <a:rPr kumimoji="1"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n(H</a:t>
            </a:r>
            <a:r>
              <a:rPr kumimoji="1" lang="en-US" altLang="zh-CN" sz="2400" baseline="-250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)=180mol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；</a:t>
            </a:r>
            <a:r>
              <a:rPr kumimoji="1"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n(NH</a:t>
            </a:r>
            <a:r>
              <a:rPr kumimoji="1" lang="en-US" altLang="zh-CN" sz="2400" baseline="-250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)=80mol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400" baseline="-250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转化率</a:t>
            </a:r>
            <a:r>
              <a:rPr kumimoji="1"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=40%</a:t>
            </a: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107950" y="2743200"/>
            <a:ext cx="8856663" cy="243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000" tIns="108000" rIns="108000" bIns="1080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8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：恒温下将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8mol SO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4mol O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混合，在一个密闭容器里反应，达到平衡时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SO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占混合气总体积的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40%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。如果反应前密闭容器中的压强为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3×10</a:t>
            </a:r>
            <a:r>
              <a:rPr kumimoji="1"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Pa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。求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）平衡时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SO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的物质的量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SO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的转化率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）平衡时混合气的总压强（容积恒定）</a:t>
            </a:r>
          </a:p>
        </p:txBody>
      </p:sp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3962400" y="3762375"/>
            <a:ext cx="19129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8000" tIns="108000" rIns="108000" bIns="1080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n(SO</a:t>
            </a:r>
            <a:r>
              <a:rPr kumimoji="1" lang="en-US" altLang="zh-CN" sz="2400" baseline="-250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)=4mol</a:t>
            </a:r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2667000" y="4191000"/>
            <a:ext cx="24257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8000" tIns="108000" rIns="108000" bIns="1080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SO</a:t>
            </a:r>
            <a:r>
              <a:rPr kumimoji="1" lang="en-US" altLang="zh-CN" sz="2400" baseline="-250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转化率</a:t>
            </a:r>
            <a:r>
              <a:rPr kumimoji="1"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=50%</a:t>
            </a:r>
          </a:p>
        </p:txBody>
      </p:sp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5791200" y="4572000"/>
            <a:ext cx="33528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8000" tIns="108000" rIns="108000" bIns="1080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平衡时总压</a:t>
            </a:r>
            <a:r>
              <a:rPr kumimoji="1"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=2.5×10</a:t>
            </a:r>
            <a:r>
              <a:rPr kumimoji="1" lang="en-US" altLang="zh-CN" sz="2400" baseline="300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r>
              <a:rPr kumimoji="1"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/>
      <p:bldP spid="17415" grpId="0"/>
      <p:bldP spid="17416" grpId="0"/>
      <p:bldP spid="17417" grpId="0"/>
      <p:bldP spid="174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文本框 1"/>
          <p:cNvSpPr txBox="1">
            <a:spLocks noChangeArrowheads="1"/>
          </p:cNvSpPr>
          <p:nvPr/>
        </p:nvSpPr>
        <p:spPr bwMode="auto">
          <a:xfrm>
            <a:off x="304800" y="2286000"/>
            <a:ext cx="86868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8000">
                <a:latin typeface="华文行楷" panose="02010800040101010101" pitchFamily="2" charset="-122"/>
                <a:ea typeface="华文行楷" panose="02010800040101010101" pitchFamily="2" charset="-122"/>
              </a:rPr>
              <a:t>平衡常数及其应用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4"/>
          <p:cNvSpPr txBox="1">
            <a:spLocks noChangeArrowheads="1"/>
          </p:cNvSpPr>
          <p:nvPr/>
        </p:nvSpPr>
        <p:spPr bwMode="auto">
          <a:xfrm>
            <a:off x="304800" y="352425"/>
            <a:ext cx="263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什么是平衡常数？</a:t>
            </a: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304800" y="733425"/>
            <a:ext cx="8610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大量实验事实表明，对于可逆反应：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aA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+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bB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           </a:t>
            </a:r>
            <a:r>
              <a:rPr kumimoji="1" lang="en-US" altLang="zh-CN" sz="2400" dirty="0" err="1" smtClean="0">
                <a:latin typeface="Times New Roman" panose="02020603050405020304" pitchFamily="18" charset="0"/>
                <a:ea typeface="黑体" panose="02010609060101010101" pitchFamily="49" charset="-122"/>
              </a:rPr>
              <a:t>pC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+ </a:t>
            </a:r>
            <a:r>
              <a:rPr kumimoji="1" lang="en-US" altLang="zh-CN" sz="2400" dirty="0" err="1" smtClean="0">
                <a:latin typeface="Times New Roman" panose="02020603050405020304" pitchFamily="18" charset="0"/>
                <a:ea typeface="黑体" panose="02010609060101010101" pitchFamily="49" charset="-122"/>
              </a:rPr>
              <a:t>qD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在一定温度下，无论反应物的起始浓度如何，反应达到平衡状态后，将各物质的物质的量浓度满足下面关系：</a:t>
            </a:r>
          </a:p>
        </p:txBody>
      </p:sp>
      <p:sp>
        <p:nvSpPr>
          <p:cNvPr id="19462" name="Line 6"/>
          <p:cNvSpPr>
            <a:spLocks noChangeShapeType="1"/>
          </p:cNvSpPr>
          <p:nvPr/>
        </p:nvSpPr>
        <p:spPr bwMode="auto">
          <a:xfrm>
            <a:off x="6492875" y="1038225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 rot="1500000">
            <a:off x="6481763" y="10826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>
            <a:off x="6492875" y="962025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 rot="1500000">
            <a:off x="7007225" y="9175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7" name="Rectangle 11"/>
          <p:cNvSpPr>
            <a:spLocks noChangeArrowheads="1"/>
          </p:cNvSpPr>
          <p:nvPr/>
        </p:nvSpPr>
        <p:spPr bwMode="auto">
          <a:xfrm>
            <a:off x="381000" y="2667000"/>
            <a:ext cx="8534400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注意：</a:t>
            </a:r>
            <a:endParaRPr kumimoji="1" lang="en-US" altLang="zh-CN" sz="2400" dirty="0">
              <a:solidFill>
                <a:schemeClr val="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①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为各组分的平衡浓度，温度一定，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为定值。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②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对于给定的反应，平衡常数只随温度的变化而变化。放热反应的平衡常数随温度升高而变小，吸热反应则相反。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940050" y="2069014"/>
                <a:ext cx="2334870" cy="7975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sup>
                          </m:s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0050" y="2069014"/>
                <a:ext cx="2334870" cy="79759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/>
      <p:bldP spid="19462" grpId="0" animBg="1"/>
      <p:bldP spid="19463" grpId="0" animBg="1"/>
      <p:bldP spid="19464" grpId="0" animBg="1"/>
      <p:bldP spid="19465" grpId="0" animBg="1"/>
      <p:bldP spid="1946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3"/>
          <p:cNvSpPr txBox="1">
            <a:spLocks noChangeArrowheads="1"/>
          </p:cNvSpPr>
          <p:nvPr/>
        </p:nvSpPr>
        <p:spPr bwMode="auto">
          <a:xfrm>
            <a:off x="215900" y="2947988"/>
            <a:ext cx="8928100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对于可逆反应：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aA+bB            pC+qD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，根据质量作用定律可得：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                            v</a:t>
            </a:r>
            <a:r>
              <a:rPr kumimoji="1"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正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=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kumimoji="1"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正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a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(A)</a:t>
            </a:r>
            <a:r>
              <a:rPr kumimoji="1"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(B) 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逆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=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kumimoji="1"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逆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(C)</a:t>
            </a:r>
            <a:r>
              <a:rPr kumimoji="1"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(D)</a:t>
            </a:r>
            <a:endParaRPr kumimoji="1" lang="en-US" altLang="zh-CN" sz="2400" baseline="300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9459" name="Line 4"/>
          <p:cNvSpPr>
            <a:spLocks noChangeShapeType="1"/>
          </p:cNvSpPr>
          <p:nvPr/>
        </p:nvSpPr>
        <p:spPr bwMode="auto">
          <a:xfrm>
            <a:off x="3460750" y="3190875"/>
            <a:ext cx="7921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0" name="Line 5"/>
          <p:cNvSpPr>
            <a:spLocks noChangeShapeType="1"/>
          </p:cNvSpPr>
          <p:nvPr/>
        </p:nvSpPr>
        <p:spPr bwMode="auto">
          <a:xfrm>
            <a:off x="3460750" y="3262313"/>
            <a:ext cx="7921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1" name="Line 6"/>
          <p:cNvSpPr>
            <a:spLocks noChangeShapeType="1"/>
          </p:cNvSpPr>
          <p:nvPr/>
        </p:nvSpPr>
        <p:spPr bwMode="auto">
          <a:xfrm rot="1200000">
            <a:off x="4037013" y="314642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2" name="Line 7"/>
          <p:cNvSpPr>
            <a:spLocks noChangeShapeType="1"/>
          </p:cNvSpPr>
          <p:nvPr/>
        </p:nvSpPr>
        <p:spPr bwMode="auto">
          <a:xfrm rot="1200000">
            <a:off x="3460750" y="33051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6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033991"/>
              </p:ext>
            </p:extLst>
          </p:nvPr>
        </p:nvGraphicFramePr>
        <p:xfrm>
          <a:off x="2119313" y="4451351"/>
          <a:ext cx="3290887" cy="10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5" name="公式" r:id="rId3" imgW="1476367" imgH="371523" progId="Equation.3">
                  <p:embed/>
                </p:oleObj>
              </mc:Choice>
              <mc:Fallback>
                <p:oleObj name="公式" r:id="rId3" imgW="1476367" imgH="37152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313" y="4451351"/>
                        <a:ext cx="3290887" cy="10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1" name="Text Box 9"/>
          <p:cNvSpPr txBox="1">
            <a:spLocks noChangeArrowheads="1"/>
          </p:cNvSpPr>
          <p:nvPr/>
        </p:nvSpPr>
        <p:spPr bwMode="auto">
          <a:xfrm>
            <a:off x="196850" y="5365750"/>
            <a:ext cx="8748713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由于化学平衡常数是正逆反应速率常数之比，反应速率常数随温度变化而变化，所以平衡常数也随温度的变化而变化。放热反应的平衡常数随温度升高而变小，吸热反应则相反。</a:t>
            </a:r>
          </a:p>
        </p:txBody>
      </p:sp>
      <p:sp>
        <p:nvSpPr>
          <p:cNvPr id="9" name="Text Box 32"/>
          <p:cNvSpPr txBox="1">
            <a:spLocks noChangeArrowheads="1"/>
          </p:cNvSpPr>
          <p:nvPr/>
        </p:nvSpPr>
        <p:spPr bwMode="auto">
          <a:xfrm>
            <a:off x="160338" y="390525"/>
            <a:ext cx="8785225" cy="267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平衡常数的推导</a:t>
            </a:r>
            <a:endParaRPr kumimoji="1" lang="en-US" altLang="zh-CN" sz="2400">
              <a:solidFill>
                <a:schemeClr val="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质量作用定律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大量实验证明：对于简单的一步反应来说，化学反应速率与反应物以及反应分子数的指数幂的浓度乘积成正比。如：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aA+bB===pC+qD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，则 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=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kc</a:t>
            </a:r>
            <a:r>
              <a:rPr kumimoji="1"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a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(A)</a:t>
            </a:r>
            <a:r>
              <a:rPr kumimoji="1"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en-US" sz="2400"/>
              <a:t>×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b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(B)</a:t>
            </a:r>
            <a:r>
              <a:rPr kumimoji="1"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式中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称为反应速率常数，不同的反应有不同的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值，同一反应在不同温度、催化剂等条件下，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值也有所不同。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261938" y="3741738"/>
            <a:ext cx="725328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一定条件下，达到平衡状态，那么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正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=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逆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                          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kumimoji="1"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正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a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(A)</a:t>
            </a:r>
            <a:r>
              <a:rPr kumimoji="1"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(B)</a:t>
            </a:r>
            <a:r>
              <a:rPr kumimoji="1"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= 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kumimoji="1"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逆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(C)</a:t>
            </a:r>
            <a:r>
              <a:rPr kumimoji="1"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(D)</a:t>
            </a:r>
            <a:endParaRPr kumimoji="1" lang="en-US" altLang="zh-CN" sz="2400" baseline="300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/>
      <p:bldP spid="19459" grpId="0" animBg="1"/>
      <p:bldP spid="19460" grpId="0" animBg="1"/>
      <p:bldP spid="19461" grpId="0" animBg="1"/>
      <p:bldP spid="19462" grpId="0" animBg="1"/>
      <p:bldP spid="28681" grpId="0"/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文本框 1"/>
          <p:cNvSpPr txBox="1">
            <a:spLocks noChangeArrowheads="1"/>
          </p:cNvSpPr>
          <p:nvPr/>
        </p:nvSpPr>
        <p:spPr bwMode="auto">
          <a:xfrm>
            <a:off x="3276600" y="457200"/>
            <a:ext cx="2351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平衡常数的表达</a:t>
            </a:r>
          </a:p>
        </p:txBody>
      </p:sp>
      <p:sp>
        <p:nvSpPr>
          <p:cNvPr id="26627" name="Text Box 4"/>
          <p:cNvSpPr txBox="1">
            <a:spLocks noChangeArrowheads="1"/>
          </p:cNvSpPr>
          <p:nvPr/>
        </p:nvSpPr>
        <p:spPr bwMode="auto">
          <a:xfrm>
            <a:off x="314325" y="1884363"/>
            <a:ext cx="253841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Fe</a:t>
            </a:r>
            <a:r>
              <a:rPr lang="en-US" altLang="zh-CN" sz="2400" baseline="-25000">
                <a:latin typeface="Times New Roman" panose="02020603050405020304" pitchFamily="18" charset="0"/>
              </a:rPr>
              <a:t>3</a:t>
            </a:r>
            <a:r>
              <a:rPr lang="en-US" altLang="zh-CN" sz="2400">
                <a:latin typeface="Times New Roman" panose="02020603050405020304" pitchFamily="18" charset="0"/>
              </a:rPr>
              <a:t>O</a:t>
            </a:r>
            <a:r>
              <a:rPr lang="en-US" altLang="zh-CN" sz="2400" baseline="-25000">
                <a:latin typeface="Times New Roman" panose="02020603050405020304" pitchFamily="18" charset="0"/>
              </a:rPr>
              <a:t>4</a:t>
            </a:r>
            <a:r>
              <a:rPr lang="en-US" altLang="zh-CN" sz="2400">
                <a:latin typeface="Times New Roman" panose="02020603050405020304" pitchFamily="18" charset="0"/>
              </a:rPr>
              <a:t>(s) + 4H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</a:rPr>
              <a:t>(g)</a:t>
            </a:r>
            <a:r>
              <a:rPr lang="en-US" altLang="zh-CN" sz="2400">
                <a:solidFill>
                  <a:srgbClr val="3333CC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6628" name="Text Box 6"/>
          <p:cNvSpPr txBox="1">
            <a:spLocks noChangeArrowheads="1"/>
          </p:cNvSpPr>
          <p:nvPr/>
        </p:nvSpPr>
        <p:spPr bwMode="auto">
          <a:xfrm>
            <a:off x="3429000" y="1879600"/>
            <a:ext cx="24860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3Fe(s) + 4H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</a:rPr>
              <a:t>O(g) </a:t>
            </a:r>
          </a:p>
        </p:txBody>
      </p:sp>
      <p:sp>
        <p:nvSpPr>
          <p:cNvPr id="26629" name="Rectangle 7"/>
          <p:cNvSpPr>
            <a:spLocks noChangeArrowheads="1"/>
          </p:cNvSpPr>
          <p:nvPr/>
        </p:nvSpPr>
        <p:spPr bwMode="auto">
          <a:xfrm>
            <a:off x="304800" y="1146175"/>
            <a:ext cx="38877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N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</a:rPr>
              <a:t>+3H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</a:rPr>
              <a:t>           2NH</a:t>
            </a:r>
            <a:r>
              <a:rPr lang="en-US" altLang="zh-CN" sz="2400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6630" name="Line 8"/>
          <p:cNvSpPr>
            <a:spLocks noChangeShapeType="1"/>
          </p:cNvSpPr>
          <p:nvPr/>
        </p:nvSpPr>
        <p:spPr bwMode="auto">
          <a:xfrm>
            <a:off x="1474788" y="1419225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1" name="Line 9"/>
          <p:cNvSpPr>
            <a:spLocks noChangeShapeType="1"/>
          </p:cNvSpPr>
          <p:nvPr/>
        </p:nvSpPr>
        <p:spPr bwMode="auto">
          <a:xfrm rot="1500000">
            <a:off x="1463675" y="14636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2" name="Line 10"/>
          <p:cNvSpPr>
            <a:spLocks noChangeShapeType="1"/>
          </p:cNvSpPr>
          <p:nvPr/>
        </p:nvSpPr>
        <p:spPr bwMode="auto">
          <a:xfrm>
            <a:off x="1474788" y="1343025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3" name="Line 11"/>
          <p:cNvSpPr>
            <a:spLocks noChangeShapeType="1"/>
          </p:cNvSpPr>
          <p:nvPr/>
        </p:nvSpPr>
        <p:spPr bwMode="auto">
          <a:xfrm rot="1500000">
            <a:off x="1989138" y="12985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6" name="Line 8"/>
          <p:cNvSpPr>
            <a:spLocks noChangeShapeType="1"/>
          </p:cNvSpPr>
          <p:nvPr/>
        </p:nvSpPr>
        <p:spPr bwMode="auto">
          <a:xfrm>
            <a:off x="2728913" y="2149475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7" name="Line 9"/>
          <p:cNvSpPr>
            <a:spLocks noChangeShapeType="1"/>
          </p:cNvSpPr>
          <p:nvPr/>
        </p:nvSpPr>
        <p:spPr bwMode="auto">
          <a:xfrm rot="1500000">
            <a:off x="2717800" y="219392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8" name="Line 10"/>
          <p:cNvSpPr>
            <a:spLocks noChangeShapeType="1"/>
          </p:cNvSpPr>
          <p:nvPr/>
        </p:nvSpPr>
        <p:spPr bwMode="auto">
          <a:xfrm>
            <a:off x="2728913" y="2073275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9" name="Line 11"/>
          <p:cNvSpPr>
            <a:spLocks noChangeShapeType="1"/>
          </p:cNvSpPr>
          <p:nvPr/>
        </p:nvSpPr>
        <p:spPr bwMode="auto">
          <a:xfrm rot="1500000">
            <a:off x="3243263" y="202882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300038" y="2506663"/>
            <a:ext cx="38973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平衡常数表达应注意的问题</a:t>
            </a:r>
          </a:p>
        </p:txBody>
      </p:sp>
      <p:sp>
        <p:nvSpPr>
          <p:cNvPr id="23" name="文本框 22"/>
          <p:cNvSpPr txBox="1">
            <a:spLocks noChangeArrowheads="1"/>
          </p:cNvSpPr>
          <p:nvPr/>
        </p:nvSpPr>
        <p:spPr bwMode="auto">
          <a:xfrm>
            <a:off x="296863" y="2941638"/>
            <a:ext cx="8694737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①必须指明温度，代入的数值，必须为反应达到平衡状态时各物质的平衡浓度。</a:t>
            </a:r>
            <a:endParaRPr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②表达式中，固体、纯液体浓度作为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，表达式中不需表达。</a:t>
            </a:r>
            <a:endParaRPr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③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表达式中，稀溶液中溶剂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的浓度近似为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，表达式中可不表达。但不作为溶剂时，还是需要表达的。</a:t>
            </a:r>
          </a:p>
        </p:txBody>
      </p:sp>
      <p:sp>
        <p:nvSpPr>
          <p:cNvPr id="24" name="Text Box 21"/>
          <p:cNvSpPr txBox="1">
            <a:spLocks noChangeArrowheads="1"/>
          </p:cNvSpPr>
          <p:nvPr/>
        </p:nvSpPr>
        <p:spPr bwMode="auto">
          <a:xfrm>
            <a:off x="446088" y="4832350"/>
            <a:ext cx="2732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Cr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</a:rPr>
              <a:t>O</a:t>
            </a:r>
            <a:r>
              <a:rPr lang="en-US" altLang="zh-CN" sz="2400" baseline="-25000">
                <a:latin typeface="Times New Roman" panose="02020603050405020304" pitchFamily="18" charset="0"/>
              </a:rPr>
              <a:t>7</a:t>
            </a:r>
            <a:r>
              <a:rPr lang="en-US" altLang="zh-CN" sz="2400" baseline="30000">
                <a:latin typeface="Times New Roman" panose="02020603050405020304" pitchFamily="18" charset="0"/>
              </a:rPr>
              <a:t>2</a:t>
            </a:r>
            <a:r>
              <a:rPr lang="zh-CN" altLang="en-US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2400">
                <a:latin typeface="Times New Roman" panose="02020603050405020304" pitchFamily="18" charset="0"/>
              </a:rPr>
              <a:t>+ H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</a:rPr>
              <a:t>O</a:t>
            </a:r>
            <a:r>
              <a:rPr lang="en-US" altLang="zh-CN" sz="2400">
                <a:solidFill>
                  <a:srgbClr val="3333CC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6643" name="Text Box 22"/>
          <p:cNvSpPr txBox="1">
            <a:spLocks noChangeArrowheads="1"/>
          </p:cNvSpPr>
          <p:nvPr/>
        </p:nvSpPr>
        <p:spPr bwMode="auto">
          <a:xfrm>
            <a:off x="3276600" y="4832350"/>
            <a:ext cx="3240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2CrO</a:t>
            </a:r>
            <a:r>
              <a:rPr lang="en-US" altLang="zh-CN" sz="2400" baseline="-25000">
                <a:latin typeface="Times New Roman" panose="02020603050405020304" pitchFamily="18" charset="0"/>
              </a:rPr>
              <a:t>4</a:t>
            </a:r>
            <a:r>
              <a:rPr lang="en-US" altLang="zh-CN" sz="2400" baseline="30000">
                <a:latin typeface="Times New Roman" panose="02020603050405020304" pitchFamily="18" charset="0"/>
              </a:rPr>
              <a:t>2</a:t>
            </a:r>
            <a:r>
              <a:rPr lang="zh-CN" altLang="en-US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2400">
                <a:latin typeface="Times New Roman" panose="02020603050405020304" pitchFamily="18" charset="0"/>
              </a:rPr>
              <a:t>+ 2H</a:t>
            </a:r>
            <a:r>
              <a:rPr lang="en-US" altLang="zh-CN" sz="2400" baseline="30000">
                <a:latin typeface="Times New Roman" panose="02020603050405020304" pitchFamily="18" charset="0"/>
              </a:rPr>
              <a:t>+</a:t>
            </a:r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2555875" y="5110163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24"/>
          <p:cNvSpPr>
            <a:spLocks noChangeShapeType="1"/>
          </p:cNvSpPr>
          <p:nvPr/>
        </p:nvSpPr>
        <p:spPr bwMode="auto">
          <a:xfrm rot="1500000">
            <a:off x="2544763" y="5154613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5"/>
          <p:cNvSpPr>
            <a:spLocks noChangeShapeType="1"/>
          </p:cNvSpPr>
          <p:nvPr/>
        </p:nvSpPr>
        <p:spPr bwMode="auto">
          <a:xfrm>
            <a:off x="2555875" y="5033963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6"/>
          <p:cNvSpPr>
            <a:spLocks noChangeShapeType="1"/>
          </p:cNvSpPr>
          <p:nvPr/>
        </p:nvSpPr>
        <p:spPr bwMode="auto">
          <a:xfrm rot="1500000">
            <a:off x="3070225" y="4989513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文本框 30"/>
          <p:cNvSpPr txBox="1">
            <a:spLocks noChangeArrowheads="1"/>
          </p:cNvSpPr>
          <p:nvPr/>
        </p:nvSpPr>
        <p:spPr bwMode="auto">
          <a:xfrm>
            <a:off x="431800" y="5572125"/>
            <a:ext cx="47513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CO(g)+H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O(g)           CO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(g)+H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</a:t>
            </a:r>
            <a:endParaRPr lang="zh-CN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2" name="Line 23"/>
          <p:cNvSpPr>
            <a:spLocks noChangeShapeType="1"/>
          </p:cNvSpPr>
          <p:nvPr/>
        </p:nvSpPr>
        <p:spPr bwMode="auto">
          <a:xfrm>
            <a:off x="2527300" y="5853113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24"/>
          <p:cNvSpPr>
            <a:spLocks noChangeShapeType="1"/>
          </p:cNvSpPr>
          <p:nvPr/>
        </p:nvSpPr>
        <p:spPr bwMode="auto">
          <a:xfrm rot="1500000">
            <a:off x="2516188" y="5897563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Line 25"/>
          <p:cNvSpPr>
            <a:spLocks noChangeShapeType="1"/>
          </p:cNvSpPr>
          <p:nvPr/>
        </p:nvSpPr>
        <p:spPr bwMode="auto">
          <a:xfrm>
            <a:off x="2527300" y="5776913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Line 26"/>
          <p:cNvSpPr>
            <a:spLocks noChangeShapeType="1"/>
          </p:cNvSpPr>
          <p:nvPr/>
        </p:nvSpPr>
        <p:spPr bwMode="auto">
          <a:xfrm rot="1500000">
            <a:off x="3041650" y="5732463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876926" y="1740787"/>
                <a:ext cx="1845955" cy="8150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altLang="zh-CN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  <m:r>
                            <a:rPr lang="en-US" altLang="zh-CN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𝑶</m:t>
                          </m:r>
                          <m:r>
                            <a:rPr lang="en-US" altLang="zh-CN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solidFill>
                    <a:srgbClr val="FFFF00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926" y="1740787"/>
                <a:ext cx="1845955" cy="81503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/>
              <p:cNvSpPr txBox="1"/>
              <p:nvPr/>
            </p:nvSpPr>
            <p:spPr>
              <a:xfrm>
                <a:off x="5193984" y="5487118"/>
                <a:ext cx="2528897" cy="768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altLang="zh-CN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𝑶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𝑶</m:t>
                          </m:r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𝑶</m:t>
                          </m:r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solidFill>
                    <a:srgbClr val="FFFF00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文本框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984" y="5487118"/>
                <a:ext cx="2528897" cy="76899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/>
              <p:cNvSpPr txBox="1"/>
              <p:nvPr/>
            </p:nvSpPr>
            <p:spPr>
              <a:xfrm>
                <a:off x="3246438" y="979108"/>
                <a:ext cx="2479077" cy="8150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altLang="zh-CN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i="1" dirty="0">
                  <a:solidFill>
                    <a:srgbClr val="FFFF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438" y="979108"/>
                <a:ext cx="2479077" cy="815031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/>
              <p:cNvSpPr txBox="1"/>
              <p:nvPr/>
            </p:nvSpPr>
            <p:spPr>
              <a:xfrm>
                <a:off x="5685320" y="4563813"/>
                <a:ext cx="3152337" cy="862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altLang="zh-CN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𝑪𝒓</m:t>
                          </m:r>
                          <m:sSubSup>
                            <m:sSubSupPr>
                              <m:ctrlPr>
                                <a:rPr lang="en-US" altLang="zh-C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𝑶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  <m:sup>
                              <m:r>
                                <a:rPr lang="en-US" altLang="zh-C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r>
                            <a:rPr lang="en-US" altLang="zh-CN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altLang="zh-C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𝑪𝒓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𝑶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𝑶</m:t>
                          </m:r>
                          <m:r>
                            <a:rPr lang="en-US" altLang="zh-CN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solidFill>
                    <a:srgbClr val="FFFF00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文本框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320" y="4563813"/>
                <a:ext cx="3152337" cy="86292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6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6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6643" grpId="0"/>
      <p:bldP spid="26" grpId="0" animBg="1"/>
      <p:bldP spid="27" grpId="0" animBg="1"/>
      <p:bldP spid="28" grpId="0" animBg="1"/>
      <p:bldP spid="29" grpId="0" animBg="1"/>
      <p:bldP spid="31" grpId="0"/>
      <p:bldP spid="32" grpId="0" animBg="1"/>
      <p:bldP spid="33" grpId="0" animBg="1"/>
      <p:bldP spid="34" grpId="0" animBg="1"/>
      <p:bldP spid="35" grpId="0" animBg="1"/>
      <p:bldP spid="37" grpId="0"/>
      <p:bldP spid="3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6"/>
          <p:cNvSpPr txBox="1">
            <a:spLocks noChangeArrowheads="1"/>
          </p:cNvSpPr>
          <p:nvPr/>
        </p:nvSpPr>
        <p:spPr bwMode="auto">
          <a:xfrm>
            <a:off x="228600" y="533400"/>
            <a:ext cx="8135938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④平衡常数的表达式与方程式的书写方式有关。如：</a:t>
            </a:r>
          </a:p>
        </p:txBody>
      </p:sp>
      <p:sp>
        <p:nvSpPr>
          <p:cNvPr id="27651" name="Rectangle 27"/>
          <p:cNvSpPr>
            <a:spLocks noChangeArrowheads="1"/>
          </p:cNvSpPr>
          <p:nvPr/>
        </p:nvSpPr>
        <p:spPr bwMode="auto">
          <a:xfrm>
            <a:off x="1576388" y="1292225"/>
            <a:ext cx="3887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N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</a:rPr>
              <a:t>+3H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</a:rPr>
              <a:t>            2NH</a:t>
            </a:r>
            <a:r>
              <a:rPr lang="en-US" altLang="zh-CN" sz="2400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7652" name="Rectangle 28"/>
          <p:cNvSpPr>
            <a:spLocks noChangeArrowheads="1"/>
          </p:cNvSpPr>
          <p:nvPr/>
        </p:nvSpPr>
        <p:spPr bwMode="auto">
          <a:xfrm>
            <a:off x="1552575" y="2149475"/>
            <a:ext cx="3868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2NH</a:t>
            </a:r>
            <a:r>
              <a:rPr lang="en-US" altLang="zh-CN" sz="2400" baseline="-25000">
                <a:latin typeface="Times New Roman" panose="02020603050405020304" pitchFamily="18" charset="0"/>
              </a:rPr>
              <a:t>3</a:t>
            </a:r>
            <a:r>
              <a:rPr lang="en-US" altLang="zh-CN" sz="2400">
                <a:latin typeface="Times New Roman" panose="02020603050405020304" pitchFamily="18" charset="0"/>
              </a:rPr>
              <a:t>            N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</a:rPr>
              <a:t>+3H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7653" name="Rectangle 29"/>
          <p:cNvSpPr>
            <a:spLocks noChangeArrowheads="1"/>
          </p:cNvSpPr>
          <p:nvPr/>
        </p:nvSpPr>
        <p:spPr bwMode="auto">
          <a:xfrm>
            <a:off x="1543050" y="3041650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1/2N</a:t>
            </a:r>
            <a:r>
              <a:rPr lang="en-US" altLang="zh-CN" sz="2400" baseline="-25000">
                <a:latin typeface="Times New Roman" panose="02020603050405020304" pitchFamily="18" charset="0"/>
              </a:rPr>
              <a:t>2 </a:t>
            </a:r>
            <a:r>
              <a:rPr lang="en-US" altLang="zh-CN" sz="2400">
                <a:latin typeface="Times New Roman" panose="02020603050405020304" pitchFamily="18" charset="0"/>
              </a:rPr>
              <a:t>+3/2H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</a:rPr>
              <a:t>            NH</a:t>
            </a:r>
            <a:r>
              <a:rPr lang="en-US" altLang="zh-CN" sz="2400" baseline="-25000">
                <a:latin typeface="Times New Roman" panose="02020603050405020304" pitchFamily="18" charset="0"/>
              </a:rPr>
              <a:t>3</a:t>
            </a:r>
          </a:p>
        </p:txBody>
      </p:sp>
      <p:graphicFrame>
        <p:nvGraphicFramePr>
          <p:cNvPr id="27654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480111"/>
              </p:ext>
            </p:extLst>
          </p:nvPr>
        </p:nvGraphicFramePr>
        <p:xfrm>
          <a:off x="4551137" y="976828"/>
          <a:ext cx="2101078" cy="975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2" name="公式" r:id="rId3" imgW="1409400" imgH="482400" progId="Equation.3">
                  <p:embed/>
                </p:oleObj>
              </mc:Choice>
              <mc:Fallback>
                <p:oleObj name="公式" r:id="rId3" imgW="1409400" imgH="4824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1137" y="976828"/>
                        <a:ext cx="2101078" cy="9756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2533731"/>
              </p:ext>
            </p:extLst>
          </p:nvPr>
        </p:nvGraphicFramePr>
        <p:xfrm>
          <a:off x="4391398" y="1904384"/>
          <a:ext cx="2264446" cy="104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3" name="公式" r:id="rId5" imgW="1422360" imgH="482400" progId="Equation.3">
                  <p:embed/>
                </p:oleObj>
              </mc:Choice>
              <mc:Fallback>
                <p:oleObj name="公式" r:id="rId5" imgW="1422360" imgH="4824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1398" y="1904384"/>
                        <a:ext cx="2264446" cy="1040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9830304"/>
              </p:ext>
            </p:extLst>
          </p:nvPr>
        </p:nvGraphicFramePr>
        <p:xfrm>
          <a:off x="4936897" y="2927474"/>
          <a:ext cx="2228452" cy="1084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4" name="公式" r:id="rId7" imgW="1523880" imgH="583920" progId="Equation.3">
                  <p:embed/>
                </p:oleObj>
              </mc:Choice>
              <mc:Fallback>
                <p:oleObj name="公式" r:id="rId7" imgW="1523880" imgH="58392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6897" y="2927474"/>
                        <a:ext cx="2228452" cy="10847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7" name="Line 33"/>
          <p:cNvSpPr>
            <a:spLocks noChangeShapeType="1"/>
          </p:cNvSpPr>
          <p:nvPr/>
        </p:nvSpPr>
        <p:spPr bwMode="auto">
          <a:xfrm>
            <a:off x="2765425" y="1543050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8" name="Line 34"/>
          <p:cNvSpPr>
            <a:spLocks noChangeShapeType="1"/>
          </p:cNvSpPr>
          <p:nvPr/>
        </p:nvSpPr>
        <p:spPr bwMode="auto">
          <a:xfrm rot="1500000">
            <a:off x="2754313" y="158750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9" name="Line 35"/>
          <p:cNvSpPr>
            <a:spLocks noChangeShapeType="1"/>
          </p:cNvSpPr>
          <p:nvPr/>
        </p:nvSpPr>
        <p:spPr bwMode="auto">
          <a:xfrm>
            <a:off x="2765425" y="1466850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0" name="Line 36"/>
          <p:cNvSpPr>
            <a:spLocks noChangeShapeType="1"/>
          </p:cNvSpPr>
          <p:nvPr/>
        </p:nvSpPr>
        <p:spPr bwMode="auto">
          <a:xfrm rot="1500000">
            <a:off x="3279775" y="142240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1" name="Line 37"/>
          <p:cNvSpPr>
            <a:spLocks noChangeShapeType="1"/>
          </p:cNvSpPr>
          <p:nvPr/>
        </p:nvSpPr>
        <p:spPr bwMode="auto">
          <a:xfrm>
            <a:off x="2468563" y="2425700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2" name="Line 38"/>
          <p:cNvSpPr>
            <a:spLocks noChangeShapeType="1"/>
          </p:cNvSpPr>
          <p:nvPr/>
        </p:nvSpPr>
        <p:spPr bwMode="auto">
          <a:xfrm rot="1500000">
            <a:off x="2457450" y="247015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3" name="Line 39"/>
          <p:cNvSpPr>
            <a:spLocks noChangeShapeType="1"/>
          </p:cNvSpPr>
          <p:nvPr/>
        </p:nvSpPr>
        <p:spPr bwMode="auto">
          <a:xfrm>
            <a:off x="2468563" y="2349500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4" name="Line 40"/>
          <p:cNvSpPr>
            <a:spLocks noChangeShapeType="1"/>
          </p:cNvSpPr>
          <p:nvPr/>
        </p:nvSpPr>
        <p:spPr bwMode="auto">
          <a:xfrm rot="1500000">
            <a:off x="2982913" y="230505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5" name="Line 41"/>
          <p:cNvSpPr>
            <a:spLocks noChangeShapeType="1"/>
          </p:cNvSpPr>
          <p:nvPr/>
        </p:nvSpPr>
        <p:spPr bwMode="auto">
          <a:xfrm>
            <a:off x="3398838" y="3303588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6" name="Line 42"/>
          <p:cNvSpPr>
            <a:spLocks noChangeShapeType="1"/>
          </p:cNvSpPr>
          <p:nvPr/>
        </p:nvSpPr>
        <p:spPr bwMode="auto">
          <a:xfrm rot="1500000">
            <a:off x="3387725" y="3348038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7" name="Line 43"/>
          <p:cNvSpPr>
            <a:spLocks noChangeShapeType="1"/>
          </p:cNvSpPr>
          <p:nvPr/>
        </p:nvSpPr>
        <p:spPr bwMode="auto">
          <a:xfrm>
            <a:off x="3398838" y="3227388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8" name="Line 44"/>
          <p:cNvSpPr>
            <a:spLocks noChangeShapeType="1"/>
          </p:cNvSpPr>
          <p:nvPr/>
        </p:nvSpPr>
        <p:spPr bwMode="auto">
          <a:xfrm rot="1500000">
            <a:off x="3913188" y="3182938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25" name="Rectangle 45"/>
          <p:cNvSpPr>
            <a:spLocks noChangeArrowheads="1"/>
          </p:cNvSpPr>
          <p:nvPr/>
        </p:nvSpPr>
        <p:spPr bwMode="auto">
          <a:xfrm>
            <a:off x="1620043" y="3892480"/>
            <a:ext cx="19002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400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</a:rPr>
              <a:t>=1/K</a:t>
            </a:r>
            <a:r>
              <a:rPr lang="en-US" altLang="zh-CN" sz="2400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</a:rPr>
              <a:t>=K</a:t>
            </a:r>
            <a:r>
              <a:rPr lang="en-US" altLang="zh-CN" sz="2400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400" baseline="30000" dirty="0">
                <a:solidFill>
                  <a:srgbClr val="FFFF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200398" y="4359276"/>
            <a:ext cx="838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对于气体参与的反应，表示平衡常数</a:t>
            </a:r>
            <a:r>
              <a:rPr lang="en-US" altLang="zh-CN" i="1" dirty="0" err="1"/>
              <a:t>K</a:t>
            </a:r>
            <a:r>
              <a:rPr lang="en-US" altLang="zh-CN" baseline="-25000" dirty="0" err="1"/>
              <a:t>p</a:t>
            </a:r>
            <a:r>
              <a:rPr lang="zh-CN" altLang="zh-CN" dirty="0"/>
              <a:t>时用气体组分</a:t>
            </a:r>
            <a:r>
              <a:rPr lang="en-US" altLang="zh-CN" dirty="0"/>
              <a:t>(B)</a:t>
            </a:r>
            <a:r>
              <a:rPr lang="zh-CN" altLang="zh-CN" dirty="0"/>
              <a:t>的平衡压强</a:t>
            </a:r>
            <a:r>
              <a:rPr lang="en-US" altLang="zh-CN" i="1" dirty="0"/>
              <a:t>p</a:t>
            </a:r>
            <a:r>
              <a:rPr lang="en-US" altLang="zh-CN" dirty="0"/>
              <a:t>(B)</a:t>
            </a:r>
            <a:r>
              <a:rPr lang="zh-CN" altLang="zh-CN" dirty="0"/>
              <a:t>代替该气体物质的量浓度</a:t>
            </a:r>
            <a:r>
              <a:rPr lang="en-US" altLang="zh-CN" i="1" dirty="0"/>
              <a:t>c</a:t>
            </a:r>
            <a:r>
              <a:rPr lang="en-US" altLang="zh-CN" dirty="0"/>
              <a:t>(B</a:t>
            </a:r>
            <a:r>
              <a:rPr lang="en-US" altLang="zh-CN" dirty="0" smtClean="0"/>
              <a:t>)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5" grpId="0"/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4"/>
          <p:cNvSpPr txBox="1">
            <a:spLocks noChangeArrowheads="1"/>
          </p:cNvSpPr>
          <p:nvPr/>
        </p:nvSpPr>
        <p:spPr bwMode="auto">
          <a:xfrm>
            <a:off x="152400" y="687388"/>
            <a:ext cx="8702675" cy="157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如果化学反应是气相反应，对于在某温度下达到平衡的反应：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aA(g)+bB(g)            gG(g)+hH(g)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，平衡常数既可以用平衡时各物质的浓度之间的关系来表示，也可以用平衡时各物质的分压之间的关系来表示。</a:t>
            </a:r>
          </a:p>
        </p:txBody>
      </p:sp>
      <p:sp>
        <p:nvSpPr>
          <p:cNvPr id="31747" name="Line 5"/>
          <p:cNvSpPr>
            <a:spLocks noChangeShapeType="1"/>
          </p:cNvSpPr>
          <p:nvPr/>
        </p:nvSpPr>
        <p:spPr bwMode="auto">
          <a:xfrm>
            <a:off x="1979613" y="1355725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8" name="Line 6"/>
          <p:cNvSpPr>
            <a:spLocks noChangeShapeType="1"/>
          </p:cNvSpPr>
          <p:nvPr/>
        </p:nvSpPr>
        <p:spPr bwMode="auto">
          <a:xfrm rot="1500000">
            <a:off x="1968500" y="14001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9" name="Line 7"/>
          <p:cNvSpPr>
            <a:spLocks noChangeShapeType="1"/>
          </p:cNvSpPr>
          <p:nvPr/>
        </p:nvSpPr>
        <p:spPr bwMode="auto">
          <a:xfrm>
            <a:off x="1979613" y="1279525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0" name="Line 8"/>
          <p:cNvSpPr>
            <a:spLocks noChangeShapeType="1"/>
          </p:cNvSpPr>
          <p:nvPr/>
        </p:nvSpPr>
        <p:spPr bwMode="auto">
          <a:xfrm rot="1500000">
            <a:off x="2493963" y="12350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175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1537296"/>
              </p:ext>
            </p:extLst>
          </p:nvPr>
        </p:nvGraphicFramePr>
        <p:xfrm>
          <a:off x="4196171" y="2176917"/>
          <a:ext cx="3317875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7" name="公式" r:id="rId3" imgW="1114356" imgH="352460" progId="Equation.3">
                  <p:embed/>
                </p:oleObj>
              </mc:Choice>
              <mc:Fallback>
                <p:oleObj name="公式" r:id="rId3" imgW="1114356" imgH="3524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6171" y="2176917"/>
                        <a:ext cx="3317875" cy="122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90" name="Text Box 10"/>
          <p:cNvSpPr txBox="1">
            <a:spLocks noChangeArrowheads="1"/>
          </p:cNvSpPr>
          <p:nvPr/>
        </p:nvSpPr>
        <p:spPr bwMode="auto">
          <a:xfrm>
            <a:off x="152400" y="3624263"/>
            <a:ext cx="8702675" cy="1201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为了与</a:t>
            </a:r>
            <a:r>
              <a:rPr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zh-CN" sz="2400" i="1" baseline="-250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相区别，平衡时的浓度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表示</a:t>
            </a:r>
            <a:r>
              <a:rPr lang="zh-CN" altLang="en-US" sz="2400" smtClean="0">
                <a:latin typeface="Times New Roman" panose="02020603050405020304" pitchFamily="18" charset="0"/>
                <a:ea typeface="黑体" panose="02010609060101010101" pitchFamily="49" charset="-122"/>
              </a:rPr>
              <a:t>的平衡常数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写成</a:t>
            </a:r>
            <a:r>
              <a:rPr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zh-CN" sz="2400" i="1" baseline="-250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。同一个反应的</a:t>
            </a:r>
            <a:r>
              <a:rPr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zh-CN" sz="2400" i="1" baseline="-250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zh-CN" sz="2400" i="1" baseline="-250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一般来说是不相等的，但它们所表示的却是同一个平衡状态，二者之间是有固定的关系的。</a:t>
            </a:r>
          </a:p>
        </p:txBody>
      </p:sp>
      <p:graphicFrame>
        <p:nvGraphicFramePr>
          <p:cNvPr id="12289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0137392"/>
              </p:ext>
            </p:extLst>
          </p:nvPr>
        </p:nvGraphicFramePr>
        <p:xfrm>
          <a:off x="410573" y="2206625"/>
          <a:ext cx="3527425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8" name="公式" r:id="rId5" imgW="1190476" imgH="352460" progId="Equation.3">
                  <p:embed/>
                </p:oleObj>
              </mc:Choice>
              <mc:Fallback>
                <p:oleObj name="公式" r:id="rId5" imgW="1190476" imgH="3524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573" y="2206625"/>
                        <a:ext cx="3527425" cy="122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92" name="Object 12"/>
          <p:cNvGraphicFramePr>
            <a:graphicFrameLocks noChangeAspect="1"/>
          </p:cNvGraphicFramePr>
          <p:nvPr/>
        </p:nvGraphicFramePr>
        <p:xfrm>
          <a:off x="3429000" y="4935538"/>
          <a:ext cx="28638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9" name="公式" r:id="rId7" imgW="943087" imgH="133447" progId="Equation.3">
                  <p:embed/>
                </p:oleObj>
              </mc:Choice>
              <mc:Fallback>
                <p:oleObj name="公式" r:id="rId7" imgW="943087" imgH="1334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935538"/>
                        <a:ext cx="286385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93" name="Text Box 13"/>
          <p:cNvSpPr txBox="1">
            <a:spLocks noChangeArrowheads="1"/>
          </p:cNvSpPr>
          <p:nvPr/>
        </p:nvSpPr>
        <p:spPr bwMode="auto">
          <a:xfrm>
            <a:off x="152400" y="5021263"/>
            <a:ext cx="3106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由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PV=nRT</a:t>
            </a:r>
            <a:r>
              <a:rPr lang="zh-CN" altLang="en-US" sz="2400" i="1">
                <a:latin typeface="Times New Roman" panose="02020603050405020304" pitchFamily="18" charset="0"/>
                <a:ea typeface="黑体" panose="02010609060101010101" pitchFamily="49" charset="-122"/>
              </a:rPr>
              <a:t>可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得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P=cRT</a:t>
            </a:r>
          </a:p>
        </p:txBody>
      </p:sp>
      <p:sp>
        <p:nvSpPr>
          <p:cNvPr id="122894" name="Text Box 14"/>
          <p:cNvSpPr txBox="1">
            <a:spLocks noChangeArrowheads="1"/>
          </p:cNvSpPr>
          <p:nvPr/>
        </p:nvSpPr>
        <p:spPr bwMode="auto">
          <a:xfrm>
            <a:off x="152400" y="5570538"/>
            <a:ext cx="8702675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式中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为气体常数，△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为反应后与反应前气体物质的量之差。△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n=(g+h)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(a+b)</a:t>
            </a:r>
          </a:p>
        </p:txBody>
      </p:sp>
      <p:sp>
        <p:nvSpPr>
          <p:cNvPr id="31757" name="文本框 1"/>
          <p:cNvSpPr txBox="1">
            <a:spLocks noChangeArrowheads="1"/>
          </p:cNvSpPr>
          <p:nvPr/>
        </p:nvSpPr>
        <p:spPr bwMode="auto">
          <a:xfrm>
            <a:off x="3259138" y="260350"/>
            <a:ext cx="24497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平衡常数</a:t>
            </a:r>
            <a:r>
              <a:rPr lang="en-US" altLang="zh-CN" sz="2400" i="1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与</a:t>
            </a:r>
            <a:r>
              <a:rPr lang="en-US" altLang="zh-CN" sz="2400" i="1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1828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2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2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2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2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90" grpId="0"/>
      <p:bldP spid="122893" grpId="0"/>
      <p:bldP spid="12289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文本框 1"/>
          <p:cNvSpPr txBox="1">
            <a:spLocks noChangeArrowheads="1"/>
          </p:cNvSpPr>
          <p:nvPr/>
        </p:nvSpPr>
        <p:spPr bwMode="auto">
          <a:xfrm>
            <a:off x="2895600" y="609600"/>
            <a:ext cx="2968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平衡常数数值的意义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28600" y="1071563"/>
          <a:ext cx="8686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3400">
                  <a:extLst>
                    <a:ext uri="{9D8B030D-6E8A-4147-A177-3AD203B41FA5}"/>
                  </a:extLst>
                </a:gridCol>
                <a:gridCol w="4343400">
                  <a:extLst>
                    <a:ext uri="{9D8B030D-6E8A-4147-A177-3AD203B41FA5}"/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化学方程式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平衡常数</a:t>
                      </a: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K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/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H</a:t>
                      </a:r>
                      <a:r>
                        <a:rPr lang="en-US" altLang="zh-CN" sz="2400" b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2</a:t>
                      </a: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+F</a:t>
                      </a:r>
                      <a:r>
                        <a:rPr lang="en-US" altLang="zh-CN" sz="2400" b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2</a:t>
                      </a: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    </a:t>
                      </a:r>
                      <a:r>
                        <a:rPr lang="zh-CN" alt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　　</a:t>
                      </a: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 2HF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6.5×10</a:t>
                      </a:r>
                      <a:r>
                        <a:rPr lang="en-US" altLang="zh-CN" sz="2400" b="1" kern="1200" baseline="30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95</a:t>
                      </a:r>
                      <a:endParaRPr lang="zh-CN" altLang="en-US" sz="2400" b="1" kern="1200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/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H</a:t>
                      </a:r>
                      <a:r>
                        <a:rPr lang="en-US" altLang="zh-CN" sz="2400" b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2</a:t>
                      </a: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+Cl</a:t>
                      </a:r>
                      <a:r>
                        <a:rPr lang="en-US" altLang="zh-CN" sz="2400" b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2</a:t>
                      </a: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    </a:t>
                      </a:r>
                      <a:r>
                        <a:rPr lang="zh-CN" alt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　　</a:t>
                      </a: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 2HCl</a:t>
                      </a:r>
                      <a:endParaRPr lang="zh-CN" altLang="en-US" sz="2400" b="1" kern="12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2.57×10</a:t>
                      </a:r>
                      <a:r>
                        <a:rPr lang="en-US" altLang="zh-CN" sz="2400" b="1" kern="1200" baseline="30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33</a:t>
                      </a:r>
                      <a:endParaRPr lang="zh-CN" altLang="en-US" sz="2400" b="1" kern="1200" baseline="30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/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H</a:t>
                      </a:r>
                      <a:r>
                        <a:rPr lang="en-US" altLang="zh-CN" sz="2400" b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2</a:t>
                      </a: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+Br</a:t>
                      </a:r>
                      <a:r>
                        <a:rPr lang="en-US" altLang="zh-CN" sz="2400" b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2</a:t>
                      </a: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    </a:t>
                      </a:r>
                      <a:r>
                        <a:rPr lang="zh-CN" alt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　　</a:t>
                      </a: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 2HBr</a:t>
                      </a:r>
                      <a:endParaRPr lang="zh-CN" altLang="en-US" sz="2400" b="1" kern="12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1.91×10</a:t>
                      </a:r>
                      <a:r>
                        <a:rPr lang="en-US" altLang="zh-CN" sz="2400" b="1" kern="1200" baseline="30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19</a:t>
                      </a:r>
                      <a:endParaRPr lang="zh-CN" altLang="en-US" sz="2400" b="1" kern="1200" baseline="30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/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H</a:t>
                      </a:r>
                      <a:r>
                        <a:rPr lang="en-US" altLang="zh-CN" sz="2400" b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2</a:t>
                      </a: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+I</a:t>
                      </a:r>
                      <a:r>
                        <a:rPr lang="en-US" altLang="zh-CN" sz="2400" b="1" kern="1200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2</a:t>
                      </a: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    </a:t>
                      </a:r>
                      <a:r>
                        <a:rPr lang="zh-CN" alt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　　</a:t>
                      </a: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 2HI</a:t>
                      </a:r>
                      <a:endParaRPr lang="zh-CN" altLang="en-US" sz="2400" b="1" kern="12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68.67×10</a:t>
                      </a:r>
                      <a:r>
                        <a:rPr lang="en-US" altLang="zh-CN" sz="2400" b="1" kern="1200" baseline="30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2</a:t>
                      </a:r>
                      <a:endParaRPr lang="zh-CN" altLang="en-US" sz="2400" b="1" kern="1200" baseline="30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28695" name="Line 41"/>
          <p:cNvSpPr>
            <a:spLocks noChangeShapeType="1"/>
          </p:cNvSpPr>
          <p:nvPr/>
        </p:nvSpPr>
        <p:spPr bwMode="auto">
          <a:xfrm>
            <a:off x="1201738" y="3173413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6" name="Line 42"/>
          <p:cNvSpPr>
            <a:spLocks noChangeShapeType="1"/>
          </p:cNvSpPr>
          <p:nvPr/>
        </p:nvSpPr>
        <p:spPr bwMode="auto">
          <a:xfrm rot="1500000">
            <a:off x="1190625" y="3217863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7" name="Line 43"/>
          <p:cNvSpPr>
            <a:spLocks noChangeShapeType="1"/>
          </p:cNvSpPr>
          <p:nvPr/>
        </p:nvSpPr>
        <p:spPr bwMode="auto">
          <a:xfrm>
            <a:off x="1201738" y="3097213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8" name="Line 44"/>
          <p:cNvSpPr>
            <a:spLocks noChangeShapeType="1"/>
          </p:cNvSpPr>
          <p:nvPr/>
        </p:nvSpPr>
        <p:spPr bwMode="auto">
          <a:xfrm rot="1500000">
            <a:off x="1716088" y="3052763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9" name="Line 41"/>
          <p:cNvSpPr>
            <a:spLocks noChangeShapeType="1"/>
          </p:cNvSpPr>
          <p:nvPr/>
        </p:nvSpPr>
        <p:spPr bwMode="auto">
          <a:xfrm>
            <a:off x="1382713" y="2709863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0" name="Line 42"/>
          <p:cNvSpPr>
            <a:spLocks noChangeShapeType="1"/>
          </p:cNvSpPr>
          <p:nvPr/>
        </p:nvSpPr>
        <p:spPr bwMode="auto">
          <a:xfrm rot="1500000">
            <a:off x="1371600" y="2754313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1" name="Line 43"/>
          <p:cNvSpPr>
            <a:spLocks noChangeShapeType="1"/>
          </p:cNvSpPr>
          <p:nvPr/>
        </p:nvSpPr>
        <p:spPr bwMode="auto">
          <a:xfrm>
            <a:off x="1382713" y="2633663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2" name="Line 44"/>
          <p:cNvSpPr>
            <a:spLocks noChangeShapeType="1"/>
          </p:cNvSpPr>
          <p:nvPr/>
        </p:nvSpPr>
        <p:spPr bwMode="auto">
          <a:xfrm rot="1500000">
            <a:off x="1897063" y="2589213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3" name="Line 41"/>
          <p:cNvSpPr>
            <a:spLocks noChangeShapeType="1"/>
          </p:cNvSpPr>
          <p:nvPr/>
        </p:nvSpPr>
        <p:spPr bwMode="auto">
          <a:xfrm>
            <a:off x="1357313" y="2255838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4" name="Line 42"/>
          <p:cNvSpPr>
            <a:spLocks noChangeShapeType="1"/>
          </p:cNvSpPr>
          <p:nvPr/>
        </p:nvSpPr>
        <p:spPr bwMode="auto">
          <a:xfrm rot="1500000">
            <a:off x="1346200" y="2300288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5" name="Line 43"/>
          <p:cNvSpPr>
            <a:spLocks noChangeShapeType="1"/>
          </p:cNvSpPr>
          <p:nvPr/>
        </p:nvSpPr>
        <p:spPr bwMode="auto">
          <a:xfrm>
            <a:off x="1357313" y="2179638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6" name="Line 44"/>
          <p:cNvSpPr>
            <a:spLocks noChangeShapeType="1"/>
          </p:cNvSpPr>
          <p:nvPr/>
        </p:nvSpPr>
        <p:spPr bwMode="auto">
          <a:xfrm rot="1500000">
            <a:off x="1871663" y="2135188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7" name="Line 41"/>
          <p:cNvSpPr>
            <a:spLocks noChangeShapeType="1"/>
          </p:cNvSpPr>
          <p:nvPr/>
        </p:nvSpPr>
        <p:spPr bwMode="auto">
          <a:xfrm>
            <a:off x="1263650" y="1814513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8" name="Line 42"/>
          <p:cNvSpPr>
            <a:spLocks noChangeShapeType="1"/>
          </p:cNvSpPr>
          <p:nvPr/>
        </p:nvSpPr>
        <p:spPr bwMode="auto">
          <a:xfrm rot="1500000">
            <a:off x="1252538" y="1858963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9" name="Line 43"/>
          <p:cNvSpPr>
            <a:spLocks noChangeShapeType="1"/>
          </p:cNvSpPr>
          <p:nvPr/>
        </p:nvSpPr>
        <p:spPr bwMode="auto">
          <a:xfrm>
            <a:off x="1263650" y="1738313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0" name="Line 44"/>
          <p:cNvSpPr>
            <a:spLocks noChangeShapeType="1"/>
          </p:cNvSpPr>
          <p:nvPr/>
        </p:nvSpPr>
        <p:spPr bwMode="auto">
          <a:xfrm rot="1500000">
            <a:off x="1778000" y="1693863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1" name="文本框 19"/>
          <p:cNvSpPr txBox="1">
            <a:spLocks noChangeArrowheads="1"/>
          </p:cNvSpPr>
          <p:nvPr/>
        </p:nvSpPr>
        <p:spPr bwMode="auto">
          <a:xfrm>
            <a:off x="228600" y="3498850"/>
            <a:ext cx="8686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对于给定的反应，平衡常数表示反应进行的限度，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值越大，向正反应方向的趋势越大。</a:t>
            </a:r>
            <a:endParaRPr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②通常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当一个反应的化学平衡常数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大于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时，则该反应就可视为不可逆反应。</a:t>
            </a:r>
            <a:endParaRPr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注意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不表示反应的快慢，即速度大，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值不一定大。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53"/>
          <p:cNvGraphicFramePr>
            <a:graphicFrameLocks noGrp="1"/>
          </p:cNvGraphicFramePr>
          <p:nvPr/>
        </p:nvGraphicFramePr>
        <p:xfrm>
          <a:off x="381000" y="2057400"/>
          <a:ext cx="7391400" cy="1371600"/>
        </p:xfrm>
        <a:graphic>
          <a:graphicData uri="http://schemas.openxmlformats.org/drawingml/2006/table">
            <a:tbl>
              <a:tblPr/>
              <a:tblGrid>
                <a:gridCol w="2463800">
                  <a:extLst>
                    <a:ext uri="{9D8B030D-6E8A-4147-A177-3AD203B41FA5}"/>
                  </a:extLst>
                </a:gridCol>
                <a:gridCol w="2463800">
                  <a:extLst>
                    <a:ext uri="{9D8B030D-6E8A-4147-A177-3AD203B41FA5}"/>
                  </a:extLst>
                </a:gridCol>
                <a:gridCol w="2463800">
                  <a:extLst>
                    <a:ext uri="{9D8B030D-6E8A-4147-A177-3AD203B41FA5}"/>
                  </a:extLst>
                </a:gridCol>
              </a:tblGrid>
              <a:tr h="212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放热反应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吸热反应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升温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K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减小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K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增大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降温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K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增大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K</a:t>
                      </a: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减小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29716" name="文本框 2"/>
          <p:cNvSpPr txBox="1">
            <a:spLocks noChangeArrowheads="1"/>
          </p:cNvSpPr>
          <p:nvPr/>
        </p:nvSpPr>
        <p:spPr bwMode="auto">
          <a:xfrm>
            <a:off x="228600" y="381000"/>
            <a:ext cx="87630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值的大小，表示在一定温度下，反应达到平衡时该反应进行的限度。</a:t>
            </a:r>
            <a:endParaRPr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值大小与初始浓度、系统压强等因素无关。对于给定的反应，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值只随温度变化而变化。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8" name="Text Box 44"/>
          <p:cNvSpPr txBox="1">
            <a:spLocks noChangeArrowheads="1"/>
          </p:cNvSpPr>
          <p:nvPr/>
        </p:nvSpPr>
        <p:spPr bwMode="auto">
          <a:xfrm>
            <a:off x="304800" y="1066800"/>
            <a:ext cx="8839200" cy="1274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利用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K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值可判断某状态是否处于平衡状态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如某温度下，可逆反应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mA(g) + nB(g)            pC(g) + qD(g)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。平衡常数为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，若某时刻时，反应物和生成物的浓度关系如下：</a:t>
            </a:r>
          </a:p>
        </p:txBody>
      </p:sp>
      <p:sp>
        <p:nvSpPr>
          <p:cNvPr id="21550" name="Text Box 46"/>
          <p:cNvSpPr txBox="1">
            <a:spLocks noChangeArrowheads="1"/>
          </p:cNvSpPr>
          <p:nvPr/>
        </p:nvSpPr>
        <p:spPr bwMode="auto">
          <a:xfrm>
            <a:off x="601663" y="3773488"/>
            <a:ext cx="72469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＜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K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 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正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＞ 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逆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，反应向正方向进行</a:t>
            </a:r>
          </a:p>
        </p:txBody>
      </p:sp>
      <p:sp>
        <p:nvSpPr>
          <p:cNvPr id="21551" name="Text Box 47"/>
          <p:cNvSpPr txBox="1">
            <a:spLocks noChangeArrowheads="1"/>
          </p:cNvSpPr>
          <p:nvPr/>
        </p:nvSpPr>
        <p:spPr bwMode="auto">
          <a:xfrm>
            <a:off x="601663" y="3352800"/>
            <a:ext cx="68405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＝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K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 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正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＝ 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逆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，反应处于平衡状态</a:t>
            </a:r>
          </a:p>
        </p:txBody>
      </p:sp>
      <p:sp>
        <p:nvSpPr>
          <p:cNvPr id="21552" name="Text Box 48"/>
          <p:cNvSpPr txBox="1">
            <a:spLocks noChangeArrowheads="1"/>
          </p:cNvSpPr>
          <p:nvPr/>
        </p:nvSpPr>
        <p:spPr bwMode="auto">
          <a:xfrm>
            <a:off x="609600" y="4191000"/>
            <a:ext cx="7056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＞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K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  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正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＜ 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逆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，反应向逆方向进行</a:t>
            </a:r>
          </a:p>
        </p:txBody>
      </p:sp>
      <p:sp>
        <p:nvSpPr>
          <p:cNvPr id="21557" name="Line 53"/>
          <p:cNvSpPr>
            <a:spLocks noChangeShapeType="1"/>
          </p:cNvSpPr>
          <p:nvPr/>
        </p:nvSpPr>
        <p:spPr bwMode="auto">
          <a:xfrm>
            <a:off x="5416550" y="1816100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58" name="Line 54"/>
          <p:cNvSpPr>
            <a:spLocks noChangeShapeType="1"/>
          </p:cNvSpPr>
          <p:nvPr/>
        </p:nvSpPr>
        <p:spPr bwMode="auto">
          <a:xfrm rot="1500000">
            <a:off x="5405438" y="186055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59" name="Line 55"/>
          <p:cNvSpPr>
            <a:spLocks noChangeShapeType="1"/>
          </p:cNvSpPr>
          <p:nvPr/>
        </p:nvSpPr>
        <p:spPr bwMode="auto">
          <a:xfrm>
            <a:off x="5416550" y="1739900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60" name="Line 56"/>
          <p:cNvSpPr>
            <a:spLocks noChangeShapeType="1"/>
          </p:cNvSpPr>
          <p:nvPr/>
        </p:nvSpPr>
        <p:spPr bwMode="auto">
          <a:xfrm rot="1500000">
            <a:off x="5930900" y="169545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562" name="Object 58"/>
          <p:cNvGraphicFramePr>
            <a:graphicFrameLocks noChangeAspect="1"/>
          </p:cNvGraphicFramePr>
          <p:nvPr/>
        </p:nvGraphicFramePr>
        <p:xfrm>
          <a:off x="1601788" y="2203450"/>
          <a:ext cx="3414712" cy="139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7" name="公式" r:id="rId3" imgW="1219242" imgH="380834" progId="Equation.3">
                  <p:embed/>
                </p:oleObj>
              </mc:Choice>
              <mc:Fallback>
                <p:oleObj name="公式" r:id="rId3" imgW="1219242" imgH="380834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1788" y="2203450"/>
                        <a:ext cx="3414712" cy="1398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63" name="Rectangle 59"/>
          <p:cNvSpPr>
            <a:spLocks noChangeArrowheads="1"/>
          </p:cNvSpPr>
          <p:nvPr/>
        </p:nvSpPr>
        <p:spPr bwMode="auto">
          <a:xfrm>
            <a:off x="166688" y="4648200"/>
            <a:ext cx="8977312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结论：可以通过测出某一时刻体系中各物质的浓度，然后假设反应已经达到平衡，计算出平衡常数，与给定的平衡常数比较。如果相等，则假设成立，也就是说反应已达到平衡；如果不相等，则没有达到平衡。</a:t>
            </a:r>
          </a:p>
        </p:txBody>
      </p:sp>
      <p:sp>
        <p:nvSpPr>
          <p:cNvPr id="30732" name="文本框 1"/>
          <p:cNvSpPr txBox="1">
            <a:spLocks noChangeArrowheads="1"/>
          </p:cNvSpPr>
          <p:nvPr/>
        </p:nvSpPr>
        <p:spPr bwMode="auto">
          <a:xfrm>
            <a:off x="3162300" y="646113"/>
            <a:ext cx="23510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平衡常数的应用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1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48" grpId="0"/>
      <p:bldP spid="21550" grpId="0"/>
      <p:bldP spid="21551" grpId="0"/>
      <p:bldP spid="21552" grpId="0"/>
      <p:bldP spid="21557" grpId="0" animBg="1"/>
      <p:bldP spid="21558" grpId="0" animBg="1"/>
      <p:bldP spid="21559" grpId="0" animBg="1"/>
      <p:bldP spid="21560" grpId="0" animBg="1"/>
      <p:bldP spid="2156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"/>
          <p:cNvSpPr>
            <a:spLocks noChangeArrowheads="1"/>
          </p:cNvSpPr>
          <p:nvPr/>
        </p:nvSpPr>
        <p:spPr bwMode="auto">
          <a:xfrm>
            <a:off x="152400" y="685800"/>
            <a:ext cx="8991600" cy="341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9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：高炉炼铁中发生的基本反应如下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: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FeO(s)+CO(g)             Fe(s)+CO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。其平衡常数可表达为：</a:t>
            </a:r>
            <a:r>
              <a:rPr kumimoji="1" lang="zh-CN" altLang="en-US" sz="2400" u="sng">
                <a:latin typeface="Times New Roman" panose="02020603050405020304" pitchFamily="18" charset="0"/>
                <a:ea typeface="黑体" panose="02010609060101010101" pitchFamily="49" charset="-122"/>
              </a:rPr>
              <a:t>                              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，已知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1100℃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=0.263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(1)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若反应向右进行，高炉内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CO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CO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的体积比值将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______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，平衡常数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值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______(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填“增大”“减小”或“不变”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(2)1100℃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时，测得高炉中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(CO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)=0.025mol/L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(CO)=0.1mol/L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，在这种情况下该反应是否处于平衡状态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_______(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填“是”或“否”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，此时化学反应速率是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正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______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 v</a:t>
            </a:r>
            <a:r>
              <a:rPr kumimoji="1"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逆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填“大于”、“小于”或“等于”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，其原因是什么？</a:t>
            </a:r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914400" y="1355725"/>
            <a:ext cx="233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</a:t>
            </a: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(CO</a:t>
            </a:r>
            <a:r>
              <a:rPr kumimoji="1" lang="en-US" altLang="zh-CN" sz="2400" baseline="-250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)/</a:t>
            </a: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(CO)</a:t>
            </a:r>
          </a:p>
        </p:txBody>
      </p:sp>
      <p:sp>
        <p:nvSpPr>
          <p:cNvPr id="31748" name="Line 12"/>
          <p:cNvSpPr>
            <a:spLocks noChangeShapeType="1"/>
          </p:cNvSpPr>
          <p:nvPr/>
        </p:nvSpPr>
        <p:spPr bwMode="auto">
          <a:xfrm>
            <a:off x="2241550" y="1327150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9" name="Line 13"/>
          <p:cNvSpPr>
            <a:spLocks noChangeShapeType="1"/>
          </p:cNvSpPr>
          <p:nvPr/>
        </p:nvSpPr>
        <p:spPr bwMode="auto">
          <a:xfrm rot="1500000">
            <a:off x="2230438" y="137160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0" name="Line 14"/>
          <p:cNvSpPr>
            <a:spLocks noChangeShapeType="1"/>
          </p:cNvSpPr>
          <p:nvPr/>
        </p:nvSpPr>
        <p:spPr bwMode="auto">
          <a:xfrm>
            <a:off x="2241550" y="1250950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1" name="Line 15"/>
          <p:cNvSpPr>
            <a:spLocks noChangeShapeType="1"/>
          </p:cNvSpPr>
          <p:nvPr/>
        </p:nvSpPr>
        <p:spPr bwMode="auto">
          <a:xfrm rot="1500000">
            <a:off x="2809875" y="120650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8" name="Text Box 16"/>
          <p:cNvSpPr txBox="1">
            <a:spLocks noChangeArrowheads="1"/>
          </p:cNvSpPr>
          <p:nvPr/>
        </p:nvSpPr>
        <p:spPr bwMode="auto">
          <a:xfrm>
            <a:off x="7162800" y="1736725"/>
            <a:ext cx="12969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增大</a:t>
            </a:r>
          </a:p>
        </p:txBody>
      </p:sp>
      <p:sp>
        <p:nvSpPr>
          <p:cNvPr id="23569" name="Text Box 17"/>
          <p:cNvSpPr txBox="1">
            <a:spLocks noChangeArrowheads="1"/>
          </p:cNvSpPr>
          <p:nvPr/>
        </p:nvSpPr>
        <p:spPr bwMode="auto">
          <a:xfrm>
            <a:off x="1447800" y="2089150"/>
            <a:ext cx="12969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不变</a:t>
            </a:r>
          </a:p>
        </p:txBody>
      </p:sp>
      <p:sp>
        <p:nvSpPr>
          <p:cNvPr id="23570" name="Text Box 18"/>
          <p:cNvSpPr txBox="1">
            <a:spLocks noChangeArrowheads="1"/>
          </p:cNvSpPr>
          <p:nvPr/>
        </p:nvSpPr>
        <p:spPr bwMode="auto">
          <a:xfrm>
            <a:off x="5705475" y="2819400"/>
            <a:ext cx="1152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否</a:t>
            </a:r>
          </a:p>
        </p:txBody>
      </p:sp>
      <p:sp>
        <p:nvSpPr>
          <p:cNvPr id="23571" name="Text Box 19"/>
          <p:cNvSpPr txBox="1">
            <a:spLocks noChangeArrowheads="1"/>
          </p:cNvSpPr>
          <p:nvPr/>
        </p:nvSpPr>
        <p:spPr bwMode="auto">
          <a:xfrm>
            <a:off x="4716463" y="3241675"/>
            <a:ext cx="1223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大于</a:t>
            </a:r>
          </a:p>
        </p:txBody>
      </p:sp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228600" y="4038600"/>
            <a:ext cx="86868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(CO</a:t>
            </a:r>
            <a:r>
              <a:rPr kumimoji="1" lang="en-US" altLang="zh-CN" sz="2400" baseline="-250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)/</a:t>
            </a: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(CO)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＝</a:t>
            </a: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0.25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＜</a:t>
            </a: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0.263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，说明不是平衡状态，且向正反应方向进行         </a:t>
            </a: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152400" y="4867275"/>
            <a:ext cx="8915400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10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：某温度下向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10L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真空容器中注入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1mol H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和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1mol I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，反应平衡后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的浓度为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0.02mol/L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。试求该温度下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(g)+I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            2HI(g)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的平衡常数。</a:t>
            </a:r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1768475" y="5889625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7"/>
          <p:cNvSpPr>
            <a:spLocks noChangeShapeType="1"/>
          </p:cNvSpPr>
          <p:nvPr/>
        </p:nvSpPr>
        <p:spPr bwMode="auto">
          <a:xfrm rot="1500000">
            <a:off x="1757363" y="59340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8"/>
          <p:cNvSpPr>
            <a:spLocks noChangeShapeType="1"/>
          </p:cNvSpPr>
          <p:nvPr/>
        </p:nvSpPr>
        <p:spPr bwMode="auto">
          <a:xfrm>
            <a:off x="1768475" y="5813425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9"/>
          <p:cNvSpPr>
            <a:spLocks noChangeShapeType="1"/>
          </p:cNvSpPr>
          <p:nvPr/>
        </p:nvSpPr>
        <p:spPr bwMode="auto">
          <a:xfrm rot="1500000">
            <a:off x="2282825" y="57689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Box 20"/>
          <p:cNvSpPr txBox="1">
            <a:spLocks noChangeArrowheads="1"/>
          </p:cNvSpPr>
          <p:nvPr/>
        </p:nvSpPr>
        <p:spPr bwMode="auto">
          <a:xfrm>
            <a:off x="5191125" y="5562600"/>
            <a:ext cx="1889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=64.0 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3" grpId="0"/>
      <p:bldP spid="23568" grpId="0"/>
      <p:bldP spid="23569" grpId="0"/>
      <p:bldP spid="23570" grpId="0"/>
      <p:bldP spid="23571" grpId="0"/>
      <p:bldP spid="23572" grpId="0"/>
      <p:bldP spid="13" grpId="0"/>
      <p:bldP spid="14" grpId="0" animBg="1"/>
      <p:bldP spid="15" grpId="0" animBg="1"/>
      <p:bldP spid="16" grpId="0" animBg="1"/>
      <p:bldP spid="17" grpId="0" animBg="1"/>
      <p:bldP spid="1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4"/>
          <p:cNvSpPr txBox="1">
            <a:spLocks noChangeArrowheads="1"/>
          </p:cNvSpPr>
          <p:nvPr/>
        </p:nvSpPr>
        <p:spPr bwMode="auto">
          <a:xfrm>
            <a:off x="76200" y="457200"/>
            <a:ext cx="89154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11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：将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PCl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Cl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充入体积不变的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2L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密闭容器中，在一定条件下发生下述反应，并于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10min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时达到平衡：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PCl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(g)+Cl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             PCl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　</a:t>
            </a:r>
            <a:r>
              <a:rPr lang="el-GR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ΔH&lt;0</a:t>
            </a:r>
            <a:r>
              <a:rPr lang="zh-CN" altLang="el-GR" sz="2400">
                <a:latin typeface="Times New Roman" panose="02020603050405020304" pitchFamily="18" charset="0"/>
                <a:ea typeface="黑体" panose="02010609060101010101" pitchFamily="49" charset="-122"/>
              </a:rPr>
              <a:t>。有关数据如下，下列判断不正确的是 </a:t>
            </a:r>
            <a:endParaRPr lang="zh-CN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3117" name="Group 109"/>
          <p:cNvGraphicFramePr>
            <a:graphicFrameLocks noGrp="1"/>
          </p:cNvGraphicFramePr>
          <p:nvPr/>
        </p:nvGraphicFramePr>
        <p:xfrm>
          <a:off x="381000" y="1720850"/>
          <a:ext cx="8458200" cy="1371600"/>
        </p:xfrm>
        <a:graphic>
          <a:graphicData uri="http://schemas.openxmlformats.org/drawingml/2006/table">
            <a:tbl>
              <a:tblPr/>
              <a:tblGrid>
                <a:gridCol w="2687638">
                  <a:extLst>
                    <a:ext uri="{9D8B030D-6E8A-4147-A177-3AD203B41FA5}"/>
                  </a:extLst>
                </a:gridCol>
                <a:gridCol w="1925637">
                  <a:extLst>
                    <a:ext uri="{9D8B030D-6E8A-4147-A177-3AD203B41FA5}"/>
                  </a:extLst>
                </a:gridCol>
                <a:gridCol w="1927225">
                  <a:extLst>
                    <a:ext uri="{9D8B030D-6E8A-4147-A177-3AD203B41FA5}"/>
                  </a:extLst>
                </a:gridCol>
                <a:gridCol w="1917700">
                  <a:extLst>
                    <a:ext uri="{9D8B030D-6E8A-4147-A177-3AD203B41FA5}"/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PCl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(g)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Cl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(g)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PCl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5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(g)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初始浓度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/mol·L</a:t>
                      </a:r>
                      <a:r>
                        <a:rPr kumimoji="0" lang="zh-CN" altLang="en-US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－</a:t>
                      </a:r>
                      <a:r>
                        <a:rPr kumimoji="0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1.0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平衡浓度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/mol·L</a:t>
                      </a:r>
                      <a:r>
                        <a:rPr kumimoji="0" lang="zh-CN" altLang="en-US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－</a:t>
                      </a:r>
                      <a:r>
                        <a:rPr kumimoji="0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32793" name="Text Box 110"/>
          <p:cNvSpPr txBox="1">
            <a:spLocks noChangeArrowheads="1"/>
          </p:cNvSpPr>
          <p:nvPr/>
        </p:nvSpPr>
        <p:spPr bwMode="auto">
          <a:xfrm>
            <a:off x="76200" y="3200400"/>
            <a:ext cx="8915400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10min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内，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(Cl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)=0.04mol·L</a:t>
            </a:r>
            <a:r>
              <a:rPr lang="zh-CN" altLang="en-US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min</a:t>
            </a:r>
            <a:r>
              <a:rPr lang="zh-CN" altLang="en-US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．当容器中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Cl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为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1.2mol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时，反应达到平衡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．升高温度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(T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&lt;T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，反应的平衡常数减小，平衡时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PCl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的△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n(T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)/△n(T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) &lt;1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．平衡后移走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2.0mol PCl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1.0mol Cl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，在相同条件下再达到平衡时，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(PCl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)&lt;0.2mol·L</a:t>
            </a:r>
            <a:r>
              <a:rPr lang="zh-CN" altLang="en-US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43119" name="Text Box 111"/>
          <p:cNvSpPr txBox="1">
            <a:spLocks noChangeArrowheads="1"/>
          </p:cNvSpPr>
          <p:nvPr/>
        </p:nvSpPr>
        <p:spPr bwMode="auto">
          <a:xfrm>
            <a:off x="7848600" y="3124200"/>
            <a:ext cx="10175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2795" name="Line 112"/>
          <p:cNvSpPr>
            <a:spLocks noChangeShapeType="1"/>
          </p:cNvSpPr>
          <p:nvPr/>
        </p:nvSpPr>
        <p:spPr bwMode="auto">
          <a:xfrm>
            <a:off x="457200" y="1447800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96" name="Line 113"/>
          <p:cNvSpPr>
            <a:spLocks noChangeShapeType="1"/>
          </p:cNvSpPr>
          <p:nvPr/>
        </p:nvSpPr>
        <p:spPr bwMode="auto">
          <a:xfrm rot="1500000">
            <a:off x="446088" y="149225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97" name="Line 114"/>
          <p:cNvSpPr>
            <a:spLocks noChangeShapeType="1"/>
          </p:cNvSpPr>
          <p:nvPr/>
        </p:nvSpPr>
        <p:spPr bwMode="auto">
          <a:xfrm>
            <a:off x="457200" y="1371600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98" name="Line 115"/>
          <p:cNvSpPr>
            <a:spLocks noChangeShapeType="1"/>
          </p:cNvSpPr>
          <p:nvPr/>
        </p:nvSpPr>
        <p:spPr bwMode="auto">
          <a:xfrm rot="1500000">
            <a:off x="971550" y="132715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4"/>
          <p:cNvSpPr txBox="1">
            <a:spLocks noChangeArrowheads="1"/>
          </p:cNvSpPr>
          <p:nvPr/>
        </p:nvSpPr>
        <p:spPr bwMode="auto">
          <a:xfrm>
            <a:off x="76200" y="533400"/>
            <a:ext cx="2941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什么是平衡转化率？</a:t>
            </a: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74613" y="981075"/>
            <a:ext cx="9069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可逆反应在一定条件下达到平衡时，某一反应物的平衡转化率为：</a:t>
            </a:r>
          </a:p>
        </p:txBody>
      </p:sp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74613" y="2438400"/>
            <a:ext cx="8610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平衡转化率的意义：能表示在一定温度和一定起始浓度下反应进行的限度。</a:t>
            </a:r>
          </a:p>
        </p:txBody>
      </p:sp>
      <p:sp>
        <p:nvSpPr>
          <p:cNvPr id="24584" name="Rectangle 8"/>
          <p:cNvSpPr>
            <a:spLocks noChangeArrowheads="1"/>
          </p:cNvSpPr>
          <p:nvPr/>
        </p:nvSpPr>
        <p:spPr bwMode="auto">
          <a:xfrm>
            <a:off x="152400" y="3536950"/>
            <a:ext cx="8763000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：在一密闭容器中，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CO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与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混合加热到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800℃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达到下列平衡：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CO(g)+H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O(g)           CO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(g)+H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  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=1.00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，若反应开始时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CO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的浓度分别为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0.2mol/L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1mol/L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，求达到平衡时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CO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转化为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CO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转化率是多少？</a:t>
            </a:r>
          </a:p>
        </p:txBody>
      </p:sp>
      <p:sp>
        <p:nvSpPr>
          <p:cNvPr id="24585" name="Line 9"/>
          <p:cNvSpPr>
            <a:spLocks noChangeShapeType="1"/>
          </p:cNvSpPr>
          <p:nvPr/>
        </p:nvSpPr>
        <p:spPr bwMode="auto">
          <a:xfrm>
            <a:off x="2863850" y="4206875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6" name="Line 10"/>
          <p:cNvSpPr>
            <a:spLocks noChangeShapeType="1"/>
          </p:cNvSpPr>
          <p:nvPr/>
        </p:nvSpPr>
        <p:spPr bwMode="auto">
          <a:xfrm rot="1500000">
            <a:off x="2852738" y="425132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7" name="Line 11"/>
          <p:cNvSpPr>
            <a:spLocks noChangeShapeType="1"/>
          </p:cNvSpPr>
          <p:nvPr/>
        </p:nvSpPr>
        <p:spPr bwMode="auto">
          <a:xfrm>
            <a:off x="2863850" y="4130675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8" name="Line 12"/>
          <p:cNvSpPr>
            <a:spLocks noChangeShapeType="1"/>
          </p:cNvSpPr>
          <p:nvPr/>
        </p:nvSpPr>
        <p:spPr bwMode="auto">
          <a:xfrm rot="1500000">
            <a:off x="3378200" y="408622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9" name="Rectangle 13"/>
          <p:cNvSpPr>
            <a:spLocks noChangeArrowheads="1"/>
          </p:cNvSpPr>
          <p:nvPr/>
        </p:nvSpPr>
        <p:spPr bwMode="auto">
          <a:xfrm>
            <a:off x="3521075" y="4648200"/>
            <a:ext cx="4183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CO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转化为</a:t>
            </a: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CO</a:t>
            </a:r>
            <a:r>
              <a:rPr kumimoji="1" lang="en-US" altLang="zh-CN" sz="2400" baseline="-250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转化率是</a:t>
            </a: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83.3%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822146" y="1560929"/>
                <a:ext cx="7423507" cy="707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该</m:t>
                        </m:r>
                        <m:r>
                          <a:rPr lang="zh-CN" altLang="en-US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反</m:t>
                        </m:r>
                        <m:r>
                          <a:rPr lang="zh-CN" alt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应</m:t>
                        </m:r>
                        <m:r>
                          <a:rPr lang="zh-CN" altLang="en-US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物</m:t>
                        </m:r>
                        <m:r>
                          <a:rPr lang="zh-CN" alt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的</m:t>
                        </m:r>
                        <m:r>
                          <a:rPr lang="zh-CN" altLang="en-US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起</m:t>
                        </m:r>
                        <m:r>
                          <a:rPr lang="zh-CN" alt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始</m:t>
                        </m:r>
                        <m:r>
                          <a:rPr lang="zh-CN" altLang="en-US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浓度</m:t>
                        </m:r>
                        <m:r>
                          <a:rPr lang="en-US" altLang="zh-CN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该</m:t>
                        </m:r>
                        <m:r>
                          <a:rPr lang="zh-CN" alt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反</m:t>
                        </m:r>
                        <m:r>
                          <a:rPr lang="zh-CN" altLang="en-US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应</m:t>
                        </m:r>
                        <m:r>
                          <a:rPr lang="zh-CN" alt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物</m:t>
                        </m:r>
                        <m:r>
                          <a:rPr lang="zh-CN" altLang="en-US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的</m:t>
                        </m:r>
                        <m:r>
                          <a:rPr lang="zh-CN" alt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平衡</m:t>
                        </m:r>
                        <m:r>
                          <a:rPr lang="zh-CN" altLang="en-US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浓度</m:t>
                        </m:r>
                      </m:num>
                      <m:den>
                        <m:r>
                          <a:rPr lang="zh-CN" alt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该</m:t>
                        </m:r>
                        <m:r>
                          <a:rPr lang="zh-CN" altLang="en-US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反</m:t>
                        </m:r>
                        <m:r>
                          <a:rPr lang="zh-CN" alt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应</m:t>
                        </m:r>
                        <m:r>
                          <a:rPr lang="zh-CN" altLang="en-US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物</m:t>
                        </m:r>
                        <m:r>
                          <a:rPr lang="zh-CN" alt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的</m:t>
                        </m:r>
                        <m:r>
                          <a:rPr lang="zh-CN" altLang="en-US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起</m:t>
                        </m:r>
                        <m:r>
                          <a:rPr lang="zh-CN" alt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始</m:t>
                        </m:r>
                        <m:r>
                          <a:rPr lang="zh-CN" altLang="en-US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浓度</m:t>
                        </m:r>
                      </m:den>
                    </m:f>
                    <m:r>
                      <a:rPr lang="en-US" altLang="zh-CN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altLang="zh-CN" dirty="0" smtClean="0">
                    <a:solidFill>
                      <a:srgbClr val="FFFF00"/>
                    </a:solidFill>
                  </a:rPr>
                  <a:t>%</a:t>
                </a:r>
                <a:endParaRPr lang="zh-CN" alt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146" y="1560929"/>
                <a:ext cx="7423507" cy="707373"/>
              </a:xfrm>
              <a:prstGeom prst="rect">
                <a:avLst/>
              </a:prstGeom>
              <a:blipFill rotWithShape="0">
                <a:blip r:embed="rId2"/>
                <a:stretch>
                  <a:fillRect r="-1396" b="-43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5" dur="80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6" dur="80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80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" grpId="0"/>
      <p:bldP spid="24583" grpId="0"/>
      <p:bldP spid="24584" grpId="0"/>
      <p:bldP spid="24585" grpId="0" animBg="1"/>
      <p:bldP spid="24586" grpId="0" animBg="1"/>
      <p:bldP spid="24587" grpId="0" animBg="1"/>
      <p:bldP spid="24588" grpId="0" animBg="1"/>
      <p:bldP spid="24589" grpId="0"/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WordArt 2"/>
          <p:cNvSpPr>
            <a:spLocks noChangeArrowheads="1" noChangeShapeType="1" noTextEdit="1"/>
          </p:cNvSpPr>
          <p:nvPr/>
        </p:nvSpPr>
        <p:spPr bwMode="auto">
          <a:xfrm>
            <a:off x="468313" y="1989138"/>
            <a:ext cx="8496300" cy="2879725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18750"/>
              </a:avLst>
            </a:prstTxWarp>
          </a:bodyPr>
          <a:lstStyle/>
          <a:p>
            <a:pPr algn="ctr"/>
            <a:r>
              <a:rPr lang="zh-CN" altLang="en-US" sz="9600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华文行楷" panose="02010800040101010101" pitchFamily="2" charset="-122"/>
                <a:ea typeface="华文行楷" panose="02010800040101010101" pitchFamily="2" charset="-122"/>
              </a:rPr>
              <a:t>化学平衡标志专题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152400" y="533400"/>
            <a:ext cx="8767763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概念：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化学平衡状态是指在一定条件下的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可逆反应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，正反应和逆反应的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速率相等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，反应混合物中各组分的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浓度保持不变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的状态。 </a:t>
            </a:r>
          </a:p>
        </p:txBody>
      </p:sp>
      <p:cxnSp>
        <p:nvCxnSpPr>
          <p:cNvPr id="35843" name="直接箭头连接符 2"/>
          <p:cNvCxnSpPr>
            <a:cxnSpLocks noChangeShapeType="1"/>
          </p:cNvCxnSpPr>
          <p:nvPr/>
        </p:nvCxnSpPr>
        <p:spPr bwMode="auto">
          <a:xfrm>
            <a:off x="3217863" y="3957638"/>
            <a:ext cx="2362200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44" name="直接箭头连接符 4"/>
          <p:cNvCxnSpPr>
            <a:cxnSpLocks noChangeShapeType="1"/>
          </p:cNvCxnSpPr>
          <p:nvPr/>
        </p:nvCxnSpPr>
        <p:spPr bwMode="auto">
          <a:xfrm flipV="1">
            <a:off x="3217863" y="1519238"/>
            <a:ext cx="0" cy="243840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5845" name="组合 11"/>
          <p:cNvGrpSpPr>
            <a:grpSpLocks/>
          </p:cNvGrpSpPr>
          <p:nvPr/>
        </p:nvGrpSpPr>
        <p:grpSpPr bwMode="auto">
          <a:xfrm>
            <a:off x="3235325" y="1366838"/>
            <a:ext cx="2005013" cy="1371600"/>
            <a:chOff x="780143" y="2133600"/>
            <a:chExt cx="2004786" cy="1371600"/>
          </a:xfrm>
        </p:grpSpPr>
        <p:sp>
          <p:nvSpPr>
            <p:cNvPr id="25" name="弧形 24"/>
            <p:cNvSpPr/>
            <p:nvPr/>
          </p:nvSpPr>
          <p:spPr bwMode="auto">
            <a:xfrm flipH="1" flipV="1">
              <a:off x="780143" y="2133600"/>
              <a:ext cx="1752402" cy="1371600"/>
            </a:xfrm>
            <a:prstGeom prst="arc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cxnSp>
          <p:nvCxnSpPr>
            <p:cNvPr id="35884" name="直接连接符 10"/>
            <p:cNvCxnSpPr>
              <a:cxnSpLocks noChangeShapeType="1"/>
            </p:cNvCxnSpPr>
            <p:nvPr/>
          </p:nvCxnSpPr>
          <p:spPr bwMode="auto">
            <a:xfrm>
              <a:off x="1641929" y="3505200"/>
              <a:ext cx="1143000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5846" name="组合 12"/>
          <p:cNvGrpSpPr>
            <a:grpSpLocks/>
          </p:cNvGrpSpPr>
          <p:nvPr/>
        </p:nvGrpSpPr>
        <p:grpSpPr bwMode="auto">
          <a:xfrm flipV="1">
            <a:off x="3257550" y="3271838"/>
            <a:ext cx="2005013" cy="1371600"/>
            <a:chOff x="780143" y="2133600"/>
            <a:chExt cx="2004786" cy="1371600"/>
          </a:xfrm>
        </p:grpSpPr>
        <p:sp>
          <p:nvSpPr>
            <p:cNvPr id="28" name="弧形 27"/>
            <p:cNvSpPr/>
            <p:nvPr/>
          </p:nvSpPr>
          <p:spPr bwMode="auto">
            <a:xfrm flipH="1" flipV="1">
              <a:off x="780143" y="2133600"/>
              <a:ext cx="1752402" cy="1371600"/>
            </a:xfrm>
            <a:prstGeom prst="arc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cxnSp>
          <p:nvCxnSpPr>
            <p:cNvPr id="35882" name="直接连接符 14"/>
            <p:cNvCxnSpPr>
              <a:cxnSpLocks noChangeShapeType="1"/>
            </p:cNvCxnSpPr>
            <p:nvPr/>
          </p:nvCxnSpPr>
          <p:spPr bwMode="auto">
            <a:xfrm>
              <a:off x="1641929" y="3505200"/>
              <a:ext cx="1143000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0" name="直接连接符 29"/>
          <p:cNvCxnSpPr/>
          <p:nvPr/>
        </p:nvCxnSpPr>
        <p:spPr bwMode="auto">
          <a:xfrm>
            <a:off x="4097338" y="2509838"/>
            <a:ext cx="0" cy="144780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  <a:ex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848" name="文本框 18"/>
          <p:cNvSpPr txBox="1">
            <a:spLocks noChangeArrowheads="1"/>
          </p:cNvSpPr>
          <p:nvPr/>
        </p:nvSpPr>
        <p:spPr bwMode="auto">
          <a:xfrm>
            <a:off x="4733925" y="3957638"/>
            <a:ext cx="80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时间</a:t>
            </a:r>
          </a:p>
        </p:txBody>
      </p:sp>
      <p:sp>
        <p:nvSpPr>
          <p:cNvPr id="35849" name="文本框 19"/>
          <p:cNvSpPr txBox="1">
            <a:spLocks noChangeArrowheads="1"/>
          </p:cNvSpPr>
          <p:nvPr/>
        </p:nvSpPr>
        <p:spPr bwMode="auto">
          <a:xfrm>
            <a:off x="2706688" y="1555750"/>
            <a:ext cx="554037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浓度</a:t>
            </a:r>
          </a:p>
        </p:txBody>
      </p:sp>
      <p:sp>
        <p:nvSpPr>
          <p:cNvPr id="35850" name="文本框 32"/>
          <p:cNvSpPr txBox="1">
            <a:spLocks noChangeArrowheads="1"/>
          </p:cNvSpPr>
          <p:nvPr/>
        </p:nvSpPr>
        <p:spPr bwMode="auto">
          <a:xfrm>
            <a:off x="4094163" y="2768600"/>
            <a:ext cx="1422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平衡状态</a:t>
            </a:r>
          </a:p>
        </p:txBody>
      </p:sp>
      <p:sp>
        <p:nvSpPr>
          <p:cNvPr id="35851" name="文本框 33"/>
          <p:cNvSpPr txBox="1">
            <a:spLocks noChangeArrowheads="1"/>
          </p:cNvSpPr>
          <p:nvPr/>
        </p:nvSpPr>
        <p:spPr bwMode="auto">
          <a:xfrm>
            <a:off x="4127500" y="2276475"/>
            <a:ext cx="11128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反应物</a:t>
            </a:r>
          </a:p>
        </p:txBody>
      </p:sp>
      <p:sp>
        <p:nvSpPr>
          <p:cNvPr id="35852" name="文本框 34"/>
          <p:cNvSpPr txBox="1">
            <a:spLocks noChangeArrowheads="1"/>
          </p:cNvSpPr>
          <p:nvPr/>
        </p:nvSpPr>
        <p:spPr bwMode="auto">
          <a:xfrm>
            <a:off x="4149725" y="3271838"/>
            <a:ext cx="11128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生成物</a:t>
            </a:r>
          </a:p>
        </p:txBody>
      </p:sp>
      <p:cxnSp>
        <p:nvCxnSpPr>
          <p:cNvPr id="35853" name="直接箭头连接符 40"/>
          <p:cNvCxnSpPr>
            <a:cxnSpLocks noChangeShapeType="1"/>
          </p:cNvCxnSpPr>
          <p:nvPr/>
        </p:nvCxnSpPr>
        <p:spPr bwMode="auto">
          <a:xfrm>
            <a:off x="6240463" y="3913188"/>
            <a:ext cx="2362200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54" name="直接箭头连接符 41"/>
          <p:cNvCxnSpPr>
            <a:cxnSpLocks noChangeShapeType="1"/>
          </p:cNvCxnSpPr>
          <p:nvPr/>
        </p:nvCxnSpPr>
        <p:spPr bwMode="auto">
          <a:xfrm flipV="1">
            <a:off x="6240463" y="1474788"/>
            <a:ext cx="0" cy="243840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5855" name="组合 42"/>
          <p:cNvGrpSpPr>
            <a:grpSpLocks/>
          </p:cNvGrpSpPr>
          <p:nvPr/>
        </p:nvGrpSpPr>
        <p:grpSpPr bwMode="auto">
          <a:xfrm flipV="1">
            <a:off x="6248400" y="2819400"/>
            <a:ext cx="2003425" cy="2133600"/>
            <a:chOff x="780143" y="2133600"/>
            <a:chExt cx="2004786" cy="1371600"/>
          </a:xfrm>
        </p:grpSpPr>
        <p:sp>
          <p:nvSpPr>
            <p:cNvPr id="44" name="弧形 43"/>
            <p:cNvSpPr/>
            <p:nvPr/>
          </p:nvSpPr>
          <p:spPr bwMode="auto">
            <a:xfrm flipH="1" flipV="1">
              <a:off x="780143" y="2133600"/>
              <a:ext cx="1752203" cy="1371600"/>
            </a:xfrm>
            <a:prstGeom prst="arc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cxnSp>
          <p:nvCxnSpPr>
            <p:cNvPr id="35880" name="直接连接符 36"/>
            <p:cNvCxnSpPr>
              <a:cxnSpLocks noChangeShapeType="1"/>
            </p:cNvCxnSpPr>
            <p:nvPr/>
          </p:nvCxnSpPr>
          <p:spPr bwMode="auto">
            <a:xfrm>
              <a:off x="1641929" y="3505200"/>
              <a:ext cx="1143000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6" name="直接连接符 45"/>
          <p:cNvCxnSpPr/>
          <p:nvPr/>
        </p:nvCxnSpPr>
        <p:spPr bwMode="auto">
          <a:xfrm>
            <a:off x="7119938" y="2465388"/>
            <a:ext cx="0" cy="144780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  <a:ex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857" name="文本框 46"/>
          <p:cNvSpPr txBox="1">
            <a:spLocks noChangeArrowheads="1"/>
          </p:cNvSpPr>
          <p:nvPr/>
        </p:nvSpPr>
        <p:spPr bwMode="auto">
          <a:xfrm>
            <a:off x="7756525" y="3913188"/>
            <a:ext cx="80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时间</a:t>
            </a:r>
          </a:p>
        </p:txBody>
      </p:sp>
      <p:sp>
        <p:nvSpPr>
          <p:cNvPr id="35858" name="文本框 47"/>
          <p:cNvSpPr txBox="1">
            <a:spLocks noChangeArrowheads="1"/>
          </p:cNvSpPr>
          <p:nvPr/>
        </p:nvSpPr>
        <p:spPr bwMode="auto">
          <a:xfrm>
            <a:off x="5729288" y="1511300"/>
            <a:ext cx="554037" cy="69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浓度</a:t>
            </a:r>
          </a:p>
        </p:txBody>
      </p:sp>
      <p:sp>
        <p:nvSpPr>
          <p:cNvPr id="35859" name="文本框 48"/>
          <p:cNvSpPr txBox="1">
            <a:spLocks noChangeArrowheads="1"/>
          </p:cNvSpPr>
          <p:nvPr/>
        </p:nvSpPr>
        <p:spPr bwMode="auto">
          <a:xfrm>
            <a:off x="7097713" y="2897188"/>
            <a:ext cx="1422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平衡状态</a:t>
            </a:r>
          </a:p>
        </p:txBody>
      </p:sp>
      <p:sp>
        <p:nvSpPr>
          <p:cNvPr id="35860" name="文本框 49"/>
          <p:cNvSpPr txBox="1">
            <a:spLocks noChangeArrowheads="1"/>
          </p:cNvSpPr>
          <p:nvPr/>
        </p:nvSpPr>
        <p:spPr bwMode="auto">
          <a:xfrm>
            <a:off x="7097713" y="2387600"/>
            <a:ext cx="11128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反应物</a:t>
            </a:r>
          </a:p>
        </p:txBody>
      </p:sp>
      <p:sp>
        <p:nvSpPr>
          <p:cNvPr id="35861" name="文本框 50"/>
          <p:cNvSpPr txBox="1">
            <a:spLocks noChangeArrowheads="1"/>
          </p:cNvSpPr>
          <p:nvPr/>
        </p:nvSpPr>
        <p:spPr bwMode="auto">
          <a:xfrm>
            <a:off x="7132638" y="3344863"/>
            <a:ext cx="11128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生成物</a:t>
            </a:r>
          </a:p>
        </p:txBody>
      </p:sp>
      <p:grpSp>
        <p:nvGrpSpPr>
          <p:cNvPr id="35862" name="组合 51"/>
          <p:cNvGrpSpPr>
            <a:grpSpLocks/>
          </p:cNvGrpSpPr>
          <p:nvPr/>
        </p:nvGrpSpPr>
        <p:grpSpPr bwMode="auto">
          <a:xfrm>
            <a:off x="6240463" y="1230313"/>
            <a:ext cx="2005012" cy="2133600"/>
            <a:chOff x="780143" y="2133600"/>
            <a:chExt cx="2004786" cy="1371600"/>
          </a:xfrm>
        </p:grpSpPr>
        <p:sp>
          <p:nvSpPr>
            <p:cNvPr id="53" name="弧形 52"/>
            <p:cNvSpPr/>
            <p:nvPr/>
          </p:nvSpPr>
          <p:spPr bwMode="auto">
            <a:xfrm flipH="1" flipV="1">
              <a:off x="780143" y="2133600"/>
              <a:ext cx="1752402" cy="1371600"/>
            </a:xfrm>
            <a:prstGeom prst="arc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cxnSp>
          <p:nvCxnSpPr>
            <p:cNvPr id="35878" name="直接连接符 48"/>
            <p:cNvCxnSpPr>
              <a:cxnSpLocks noChangeShapeType="1"/>
            </p:cNvCxnSpPr>
            <p:nvPr/>
          </p:nvCxnSpPr>
          <p:spPr bwMode="auto">
            <a:xfrm>
              <a:off x="1641929" y="3505200"/>
              <a:ext cx="1143000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863" name="直接箭头连接符 2"/>
          <p:cNvCxnSpPr>
            <a:cxnSpLocks noChangeShapeType="1"/>
          </p:cNvCxnSpPr>
          <p:nvPr/>
        </p:nvCxnSpPr>
        <p:spPr bwMode="auto">
          <a:xfrm>
            <a:off x="598488" y="3957638"/>
            <a:ext cx="2362200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64" name="直接箭头连接符 4"/>
          <p:cNvCxnSpPr>
            <a:cxnSpLocks noChangeShapeType="1"/>
          </p:cNvCxnSpPr>
          <p:nvPr/>
        </p:nvCxnSpPr>
        <p:spPr bwMode="auto">
          <a:xfrm flipV="1">
            <a:off x="598488" y="1519238"/>
            <a:ext cx="0" cy="243840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5865" name="组合 11"/>
          <p:cNvGrpSpPr>
            <a:grpSpLocks/>
          </p:cNvGrpSpPr>
          <p:nvPr/>
        </p:nvGrpSpPr>
        <p:grpSpPr bwMode="auto">
          <a:xfrm>
            <a:off x="615950" y="1905000"/>
            <a:ext cx="2005013" cy="1371600"/>
            <a:chOff x="780143" y="2133600"/>
            <a:chExt cx="2004786" cy="1371600"/>
          </a:xfrm>
        </p:grpSpPr>
        <p:sp>
          <p:nvSpPr>
            <p:cNvPr id="58" name="弧形 57"/>
            <p:cNvSpPr/>
            <p:nvPr/>
          </p:nvSpPr>
          <p:spPr bwMode="auto">
            <a:xfrm flipH="1" flipV="1">
              <a:off x="780143" y="2133600"/>
              <a:ext cx="1752402" cy="1371600"/>
            </a:xfrm>
            <a:prstGeom prst="arc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cxnSp>
          <p:nvCxnSpPr>
            <p:cNvPr id="35876" name="直接连接符 10"/>
            <p:cNvCxnSpPr>
              <a:cxnSpLocks noChangeShapeType="1"/>
            </p:cNvCxnSpPr>
            <p:nvPr/>
          </p:nvCxnSpPr>
          <p:spPr bwMode="auto">
            <a:xfrm>
              <a:off x="1641929" y="3505200"/>
              <a:ext cx="1143000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5866" name="组合 12"/>
          <p:cNvGrpSpPr>
            <a:grpSpLocks/>
          </p:cNvGrpSpPr>
          <p:nvPr/>
        </p:nvGrpSpPr>
        <p:grpSpPr bwMode="auto">
          <a:xfrm flipV="1">
            <a:off x="638175" y="3271838"/>
            <a:ext cx="2005013" cy="1371600"/>
            <a:chOff x="780143" y="2133600"/>
            <a:chExt cx="2004786" cy="1371600"/>
          </a:xfrm>
        </p:grpSpPr>
        <p:sp>
          <p:nvSpPr>
            <p:cNvPr id="61" name="弧形 60"/>
            <p:cNvSpPr/>
            <p:nvPr/>
          </p:nvSpPr>
          <p:spPr bwMode="auto">
            <a:xfrm flipH="1" flipV="1">
              <a:off x="780143" y="2133600"/>
              <a:ext cx="1752402" cy="1371600"/>
            </a:xfrm>
            <a:prstGeom prst="arc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cxnSp>
          <p:nvCxnSpPr>
            <p:cNvPr id="35874" name="直接连接符 14"/>
            <p:cNvCxnSpPr>
              <a:cxnSpLocks noChangeShapeType="1"/>
            </p:cNvCxnSpPr>
            <p:nvPr/>
          </p:nvCxnSpPr>
          <p:spPr bwMode="auto">
            <a:xfrm>
              <a:off x="1641929" y="3505200"/>
              <a:ext cx="1143000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3" name="直接连接符 62"/>
          <p:cNvCxnSpPr/>
          <p:nvPr/>
        </p:nvCxnSpPr>
        <p:spPr bwMode="auto">
          <a:xfrm>
            <a:off x="1477963" y="2509838"/>
            <a:ext cx="0" cy="144780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  <a:ex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868" name="文本框 18"/>
          <p:cNvSpPr txBox="1">
            <a:spLocks noChangeArrowheads="1"/>
          </p:cNvSpPr>
          <p:nvPr/>
        </p:nvSpPr>
        <p:spPr bwMode="auto">
          <a:xfrm>
            <a:off x="2114550" y="3957638"/>
            <a:ext cx="803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时间</a:t>
            </a:r>
          </a:p>
        </p:txBody>
      </p:sp>
      <p:sp>
        <p:nvSpPr>
          <p:cNvPr id="35869" name="文本框 19"/>
          <p:cNvSpPr txBox="1">
            <a:spLocks noChangeArrowheads="1"/>
          </p:cNvSpPr>
          <p:nvPr/>
        </p:nvSpPr>
        <p:spPr bwMode="auto">
          <a:xfrm>
            <a:off x="87313" y="1555750"/>
            <a:ext cx="554037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反应速率</a:t>
            </a:r>
          </a:p>
        </p:txBody>
      </p:sp>
      <p:sp>
        <p:nvSpPr>
          <p:cNvPr id="35870" name="文本框 65"/>
          <p:cNvSpPr txBox="1">
            <a:spLocks noChangeArrowheads="1"/>
          </p:cNvSpPr>
          <p:nvPr/>
        </p:nvSpPr>
        <p:spPr bwMode="auto">
          <a:xfrm>
            <a:off x="1474788" y="2768600"/>
            <a:ext cx="1422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平衡状态</a:t>
            </a:r>
          </a:p>
        </p:txBody>
      </p:sp>
      <p:sp>
        <p:nvSpPr>
          <p:cNvPr id="35871" name="文本框 70"/>
          <p:cNvSpPr txBox="1">
            <a:spLocks noChangeArrowheads="1"/>
          </p:cNvSpPr>
          <p:nvPr/>
        </p:nvSpPr>
        <p:spPr bwMode="auto">
          <a:xfrm>
            <a:off x="727075" y="2586038"/>
            <a:ext cx="6651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正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lang="zh-CN" altLang="en-US" sz="2400" baseline="-250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872" name="文本框 71"/>
          <p:cNvSpPr txBox="1">
            <a:spLocks noChangeArrowheads="1"/>
          </p:cNvSpPr>
          <p:nvPr/>
        </p:nvSpPr>
        <p:spPr bwMode="auto">
          <a:xfrm>
            <a:off x="776288" y="3384550"/>
            <a:ext cx="6667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逆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lang="zh-CN" altLang="en-US" sz="2400" baseline="-250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3"/>
          <p:cNvSpPr txBox="1">
            <a:spLocks noChangeArrowheads="1"/>
          </p:cNvSpPr>
          <p:nvPr/>
        </p:nvSpPr>
        <p:spPr bwMode="auto">
          <a:xfrm>
            <a:off x="228600" y="533400"/>
            <a:ext cx="91090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平衡标志：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(1)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任意一种生成物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或反应物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的生成速率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量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等于消耗速率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量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3" name="Text Box 33"/>
          <p:cNvSpPr txBox="1">
            <a:spLocks noChangeArrowheads="1"/>
          </p:cNvSpPr>
          <p:nvPr/>
        </p:nvSpPr>
        <p:spPr bwMode="auto">
          <a:xfrm>
            <a:off x="2327275" y="1309688"/>
            <a:ext cx="485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aA(g) + bB(g)              pC(g) + qD(g)</a:t>
            </a:r>
          </a:p>
        </p:txBody>
      </p:sp>
      <p:sp>
        <p:nvSpPr>
          <p:cNvPr id="4" name="Line 34"/>
          <p:cNvSpPr>
            <a:spLocks noChangeShapeType="1"/>
          </p:cNvSpPr>
          <p:nvPr/>
        </p:nvSpPr>
        <p:spPr bwMode="auto">
          <a:xfrm>
            <a:off x="4416425" y="1611313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35"/>
          <p:cNvSpPr>
            <a:spLocks noChangeShapeType="1"/>
          </p:cNvSpPr>
          <p:nvPr/>
        </p:nvSpPr>
        <p:spPr bwMode="auto">
          <a:xfrm rot="1500000">
            <a:off x="4405313" y="1655763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36"/>
          <p:cNvSpPr>
            <a:spLocks noChangeShapeType="1"/>
          </p:cNvSpPr>
          <p:nvPr/>
        </p:nvSpPr>
        <p:spPr bwMode="auto">
          <a:xfrm>
            <a:off x="4416425" y="1535113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37"/>
          <p:cNvSpPr>
            <a:spLocks noChangeShapeType="1"/>
          </p:cNvSpPr>
          <p:nvPr/>
        </p:nvSpPr>
        <p:spPr bwMode="auto">
          <a:xfrm rot="1500000">
            <a:off x="4930775" y="1490663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Box 38"/>
          <p:cNvSpPr txBox="1">
            <a:spLocks noChangeArrowheads="1"/>
          </p:cNvSpPr>
          <p:nvPr/>
        </p:nvSpPr>
        <p:spPr bwMode="auto">
          <a:xfrm>
            <a:off x="304800" y="1916113"/>
            <a:ext cx="89154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可判断：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(A)</a:t>
            </a:r>
            <a:r>
              <a:rPr lang="zh-CN" altLang="en-US" sz="2400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正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= 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(A)</a:t>
            </a:r>
            <a:r>
              <a:rPr lang="zh-CN" altLang="en-US" sz="2400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逆</a:t>
            </a:r>
            <a:r>
              <a:rPr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；                            ；</a:t>
            </a: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无法判断： 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 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(A)= a 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(C)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；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 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(A)</a:t>
            </a:r>
            <a:r>
              <a:rPr lang="zh-CN" altLang="en-US" sz="2400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正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= a 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(C)</a:t>
            </a:r>
            <a:r>
              <a:rPr lang="zh-CN" altLang="en-US" sz="2400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正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；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a 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(A)</a:t>
            </a:r>
            <a:r>
              <a:rPr lang="zh-CN" altLang="en-US" sz="2400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正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= b 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(B)</a:t>
            </a:r>
            <a:r>
              <a:rPr lang="zh-CN" altLang="en-US" sz="2400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逆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；</a:t>
            </a: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3895464" y="1856960"/>
                <a:ext cx="1761060" cy="673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正</m:t>
                            </m:r>
                          </m:sub>
                        </m:sSub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𝑩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逆</m:t>
                            </m:r>
                          </m:sub>
                        </m:sSub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464" y="1856960"/>
                <a:ext cx="1761060" cy="673646"/>
              </a:xfrm>
              <a:prstGeom prst="rect">
                <a:avLst/>
              </a:prstGeom>
              <a:blipFill rotWithShape="0">
                <a:blip r:embed="rId2"/>
                <a:stretch>
                  <a:fillRect b="-1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6308565" y="1921103"/>
                <a:ext cx="1740220" cy="6793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逆</m:t>
                            </m:r>
                          </m:sub>
                        </m:sSub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正</m:t>
                            </m:r>
                          </m:sub>
                        </m:sSub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565" y="1921103"/>
                <a:ext cx="1740220" cy="679353"/>
              </a:xfrm>
              <a:prstGeom prst="rect">
                <a:avLst/>
              </a:prstGeom>
              <a:blipFill rotWithShape="0">
                <a:blip r:embed="rId3"/>
                <a:stretch>
                  <a:fillRect l="-351" b="-8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2345418" y="3358975"/>
                <a:ext cx="1106072" cy="585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5418" y="3358975"/>
                <a:ext cx="1106072" cy="585866"/>
              </a:xfrm>
              <a:prstGeom prst="rect">
                <a:avLst/>
              </a:prstGeom>
              <a:blipFill rotWithShape="0">
                <a:blip r:embed="rId4"/>
                <a:stretch>
                  <a:fillRect l="-552" t="-1042" b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4168615" y="3265488"/>
                <a:ext cx="1740220" cy="6793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正</m:t>
                            </m:r>
                          </m:sub>
                        </m:sSub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正</m:t>
                            </m:r>
                          </m:sub>
                        </m:sSub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615" y="3265488"/>
                <a:ext cx="1740220" cy="679353"/>
              </a:xfrm>
              <a:prstGeom prst="rect">
                <a:avLst/>
              </a:prstGeom>
              <a:blipFill rotWithShape="0">
                <a:blip r:embed="rId5"/>
                <a:stretch>
                  <a:fillRect l="-351" b="-8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6858000" y="3271195"/>
                <a:ext cx="1761060" cy="673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正</m:t>
                            </m:r>
                          </m:sub>
                        </m:sSub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den>
                    </m:f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𝑩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逆</m:t>
                            </m:r>
                          </m:sub>
                        </m:sSub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3271195"/>
                <a:ext cx="1761060" cy="673646"/>
              </a:xfrm>
              <a:prstGeom prst="rect">
                <a:avLst/>
              </a:prstGeom>
              <a:blipFill rotWithShape="0">
                <a:blip r:embed="rId6"/>
                <a:stretch>
                  <a:fillRect b="-1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40"/>
          <p:cNvSpPr txBox="1">
            <a:spLocks noChangeArrowheads="1"/>
          </p:cNvSpPr>
          <p:nvPr/>
        </p:nvSpPr>
        <p:spPr bwMode="auto">
          <a:xfrm>
            <a:off x="152400" y="304800"/>
            <a:ext cx="89916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(2)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在密闭容器中进行的可逆反应，任意一种生成物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或反应物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在同一时间段内，生成的量等于消耗的量。</a:t>
            </a:r>
          </a:p>
        </p:txBody>
      </p:sp>
      <p:sp>
        <p:nvSpPr>
          <p:cNvPr id="37891" name="矩形 2"/>
          <p:cNvSpPr>
            <a:spLocks noChangeArrowheads="1"/>
          </p:cNvSpPr>
          <p:nvPr/>
        </p:nvSpPr>
        <p:spPr bwMode="auto">
          <a:xfrm>
            <a:off x="152400" y="1662113"/>
            <a:ext cx="8991600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可判断：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n(A)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生成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=n(A)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消耗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；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             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b n(A)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生成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=a n(B)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消耗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；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 n(A)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生成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=a n(C)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生成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；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不可判断： 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a n(A)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生成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=b n(B)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消耗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；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b n(A)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生成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=a n(B)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生成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；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 n(A)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生成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=a n(C)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消耗</a:t>
            </a:r>
          </a:p>
        </p:txBody>
      </p:sp>
      <p:sp>
        <p:nvSpPr>
          <p:cNvPr id="37892" name="Text Box 33"/>
          <p:cNvSpPr txBox="1">
            <a:spLocks noChangeArrowheads="1"/>
          </p:cNvSpPr>
          <p:nvPr/>
        </p:nvSpPr>
        <p:spPr bwMode="auto">
          <a:xfrm>
            <a:off x="1665288" y="1135063"/>
            <a:ext cx="485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aA(g) + bB(g)              pC(g) + qD(g)</a:t>
            </a:r>
          </a:p>
        </p:txBody>
      </p:sp>
      <p:sp>
        <p:nvSpPr>
          <p:cNvPr id="37893" name="Line 34"/>
          <p:cNvSpPr>
            <a:spLocks noChangeShapeType="1"/>
          </p:cNvSpPr>
          <p:nvPr/>
        </p:nvSpPr>
        <p:spPr bwMode="auto">
          <a:xfrm>
            <a:off x="3754438" y="1436688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4" name="Line 35"/>
          <p:cNvSpPr>
            <a:spLocks noChangeShapeType="1"/>
          </p:cNvSpPr>
          <p:nvPr/>
        </p:nvSpPr>
        <p:spPr bwMode="auto">
          <a:xfrm rot="1500000">
            <a:off x="3743325" y="1481138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5" name="Line 36"/>
          <p:cNvSpPr>
            <a:spLocks noChangeShapeType="1"/>
          </p:cNvSpPr>
          <p:nvPr/>
        </p:nvSpPr>
        <p:spPr bwMode="auto">
          <a:xfrm>
            <a:off x="3754438" y="1360488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6" name="Line 37"/>
          <p:cNvSpPr>
            <a:spLocks noChangeShapeType="1"/>
          </p:cNvSpPr>
          <p:nvPr/>
        </p:nvSpPr>
        <p:spPr bwMode="auto">
          <a:xfrm rot="1500000">
            <a:off x="4268788" y="1316038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1452220" y="2466975"/>
                <a:ext cx="2399055" cy="677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生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成</m:t>
                            </m:r>
                          </m:sub>
                        </m:sSub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𝑩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消耗</m:t>
                            </m:r>
                          </m:sub>
                        </m:sSub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220" y="2466975"/>
                <a:ext cx="2399055" cy="677237"/>
              </a:xfrm>
              <a:prstGeom prst="rect">
                <a:avLst/>
              </a:prstGeom>
              <a:blipFill rotWithShape="0">
                <a:blip r:embed="rId2"/>
                <a:stretch>
                  <a:fillRect b="-144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404243" y="4467850"/>
                <a:ext cx="2399055" cy="677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生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成</m:t>
                            </m:r>
                          </m:sub>
                        </m:sSub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den>
                    </m:f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𝑩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消耗</m:t>
                            </m:r>
                          </m:sub>
                        </m:sSub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43" y="4467850"/>
                <a:ext cx="2399055" cy="677237"/>
              </a:xfrm>
              <a:prstGeom prst="rect">
                <a:avLst/>
              </a:prstGeom>
              <a:blipFill rotWithShape="0">
                <a:blip r:embed="rId3"/>
                <a:stretch>
                  <a:fillRect b="-144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4405767" y="2474232"/>
                <a:ext cx="2350965" cy="722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生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成</m:t>
                            </m:r>
                          </m:sub>
                        </m:sSub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生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成</m:t>
                            </m:r>
                          </m:sub>
                        </m:sSub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5767" y="2474232"/>
                <a:ext cx="2350965" cy="722634"/>
              </a:xfrm>
              <a:prstGeom prst="rect">
                <a:avLst/>
              </a:prstGeom>
              <a:blipFill rotWithShape="0">
                <a:blip r:embed="rId4"/>
                <a:stretch>
                  <a:fillRect l="-260" b="-76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3448672" y="4442732"/>
                <a:ext cx="2399055" cy="677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生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成</m:t>
                            </m:r>
                          </m:sub>
                        </m:sSub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𝑩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生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成</m:t>
                            </m:r>
                          </m:sub>
                        </m:sSub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672" y="4442732"/>
                <a:ext cx="2399055" cy="677237"/>
              </a:xfrm>
              <a:prstGeom prst="rect">
                <a:avLst/>
              </a:prstGeom>
              <a:blipFill rotWithShape="0">
                <a:blip r:embed="rId5"/>
                <a:stretch>
                  <a:fillRect l="-254" b="-144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6493101" y="4393706"/>
                <a:ext cx="2350965" cy="722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生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成</m:t>
                            </m:r>
                          </m:sub>
                        </m:sSub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消耗</m:t>
                            </m:r>
                          </m:sub>
                        </m:sSub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3101" y="4393706"/>
                <a:ext cx="2350965" cy="722634"/>
              </a:xfrm>
              <a:prstGeom prst="rect">
                <a:avLst/>
              </a:prstGeom>
              <a:blipFill rotWithShape="0">
                <a:blip r:embed="rId6"/>
                <a:stretch>
                  <a:fillRect b="-76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4"/>
          <p:cNvSpPr>
            <a:spLocks noChangeArrowheads="1"/>
          </p:cNvSpPr>
          <p:nvPr/>
        </p:nvSpPr>
        <p:spPr bwMode="auto">
          <a:xfrm>
            <a:off x="76200" y="1752600"/>
            <a:ext cx="861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(4)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当△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G=0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或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Q=K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时，反应处于平衡状态。</a:t>
            </a: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66675" y="2209800"/>
            <a:ext cx="8393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(5) n</a:t>
            </a:r>
            <a:r>
              <a:rPr kumimoji="1"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总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、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总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、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kumimoji="1"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总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、混合气平均分子量、混合气体密度等问题</a:t>
            </a:r>
          </a:p>
        </p:txBody>
      </p:sp>
      <p:sp>
        <p:nvSpPr>
          <p:cNvPr id="38918" name="Text Box 6"/>
          <p:cNvSpPr txBox="1">
            <a:spLocks noChangeArrowheads="1"/>
          </p:cNvSpPr>
          <p:nvPr/>
        </p:nvSpPr>
        <p:spPr bwMode="auto">
          <a:xfrm>
            <a:off x="1404938" y="3155950"/>
            <a:ext cx="4546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aA(g)+bB(g)              pC(g)+qD(g)</a:t>
            </a:r>
          </a:p>
        </p:txBody>
      </p:sp>
      <p:graphicFrame>
        <p:nvGraphicFramePr>
          <p:cNvPr id="38983" name="Group 71"/>
          <p:cNvGraphicFramePr>
            <a:graphicFrameLocks noGrp="1"/>
          </p:cNvGraphicFramePr>
          <p:nvPr/>
        </p:nvGraphicFramePr>
        <p:xfrm>
          <a:off x="304800" y="3733800"/>
          <a:ext cx="8353425" cy="914400"/>
        </p:xfrm>
        <a:graphic>
          <a:graphicData uri="http://schemas.openxmlformats.org/drawingml/2006/table">
            <a:tbl>
              <a:tblPr/>
              <a:tblGrid>
                <a:gridCol w="3581400">
                  <a:extLst>
                    <a:ext uri="{9D8B030D-6E8A-4147-A177-3AD203B41FA5}"/>
                  </a:extLst>
                </a:gridCol>
                <a:gridCol w="2386013">
                  <a:extLst>
                    <a:ext uri="{9D8B030D-6E8A-4147-A177-3AD203B41FA5}"/>
                  </a:extLst>
                </a:gridCol>
                <a:gridCol w="2386012">
                  <a:extLst>
                    <a:ext uri="{9D8B030D-6E8A-4147-A177-3AD203B41FA5}"/>
                  </a:extLst>
                </a:gridCol>
              </a:tblGrid>
              <a:tr h="180975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①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当气体组分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n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总不变时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a+b=p+q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不一定平衡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1809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a+b≠p+q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平衡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38934" name="Line 22"/>
          <p:cNvSpPr>
            <a:spLocks noChangeShapeType="1"/>
          </p:cNvSpPr>
          <p:nvPr/>
        </p:nvSpPr>
        <p:spPr bwMode="auto">
          <a:xfrm>
            <a:off x="3359150" y="3457575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5" name="Line 23"/>
          <p:cNvSpPr>
            <a:spLocks noChangeShapeType="1"/>
          </p:cNvSpPr>
          <p:nvPr/>
        </p:nvSpPr>
        <p:spPr bwMode="auto">
          <a:xfrm rot="1500000">
            <a:off x="3348038" y="350202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6" name="Line 24"/>
          <p:cNvSpPr>
            <a:spLocks noChangeShapeType="1"/>
          </p:cNvSpPr>
          <p:nvPr/>
        </p:nvSpPr>
        <p:spPr bwMode="auto">
          <a:xfrm>
            <a:off x="3359150" y="3381375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7" name="Line 25"/>
          <p:cNvSpPr>
            <a:spLocks noChangeShapeType="1"/>
          </p:cNvSpPr>
          <p:nvPr/>
        </p:nvSpPr>
        <p:spPr bwMode="auto">
          <a:xfrm rot="1500000">
            <a:off x="3873500" y="333692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9" name="Text Box 27"/>
          <p:cNvSpPr txBox="1">
            <a:spLocks noChangeArrowheads="1"/>
          </p:cNvSpPr>
          <p:nvPr/>
        </p:nvSpPr>
        <p:spPr bwMode="auto">
          <a:xfrm>
            <a:off x="228600" y="2667000"/>
            <a:ext cx="868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(g)+3H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            2NH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          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(g)+I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           2HI(g)</a:t>
            </a:r>
          </a:p>
        </p:txBody>
      </p:sp>
      <p:sp>
        <p:nvSpPr>
          <p:cNvPr id="38940" name="Line 28"/>
          <p:cNvSpPr>
            <a:spLocks noChangeShapeType="1"/>
          </p:cNvSpPr>
          <p:nvPr/>
        </p:nvSpPr>
        <p:spPr bwMode="auto">
          <a:xfrm>
            <a:off x="2144713" y="2927350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41" name="Line 29"/>
          <p:cNvSpPr>
            <a:spLocks noChangeShapeType="1"/>
          </p:cNvSpPr>
          <p:nvPr/>
        </p:nvSpPr>
        <p:spPr bwMode="auto">
          <a:xfrm rot="1500000">
            <a:off x="2133600" y="297180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42" name="Line 30"/>
          <p:cNvSpPr>
            <a:spLocks noChangeShapeType="1"/>
          </p:cNvSpPr>
          <p:nvPr/>
        </p:nvSpPr>
        <p:spPr bwMode="auto">
          <a:xfrm>
            <a:off x="2144713" y="2851150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43" name="Line 31"/>
          <p:cNvSpPr>
            <a:spLocks noChangeShapeType="1"/>
          </p:cNvSpPr>
          <p:nvPr/>
        </p:nvSpPr>
        <p:spPr bwMode="auto">
          <a:xfrm rot="1500000">
            <a:off x="2659063" y="280670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44" name="Line 32"/>
          <p:cNvSpPr>
            <a:spLocks noChangeShapeType="1"/>
          </p:cNvSpPr>
          <p:nvPr/>
        </p:nvSpPr>
        <p:spPr bwMode="auto">
          <a:xfrm>
            <a:off x="6289675" y="2955925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45" name="Line 33"/>
          <p:cNvSpPr>
            <a:spLocks noChangeShapeType="1"/>
          </p:cNvSpPr>
          <p:nvPr/>
        </p:nvSpPr>
        <p:spPr bwMode="auto">
          <a:xfrm rot="1500000">
            <a:off x="6278563" y="30003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46" name="Line 34"/>
          <p:cNvSpPr>
            <a:spLocks noChangeShapeType="1"/>
          </p:cNvSpPr>
          <p:nvPr/>
        </p:nvSpPr>
        <p:spPr bwMode="auto">
          <a:xfrm>
            <a:off x="6289675" y="2879725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47" name="Line 35"/>
          <p:cNvSpPr>
            <a:spLocks noChangeShapeType="1"/>
          </p:cNvSpPr>
          <p:nvPr/>
        </p:nvSpPr>
        <p:spPr bwMode="auto">
          <a:xfrm rot="1500000">
            <a:off x="6804025" y="28352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Text Box 39"/>
          <p:cNvSpPr txBox="1">
            <a:spLocks noChangeArrowheads="1"/>
          </p:cNvSpPr>
          <p:nvPr/>
        </p:nvSpPr>
        <p:spPr bwMode="auto">
          <a:xfrm>
            <a:off x="17463" y="990600"/>
            <a:ext cx="91440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(3)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在密闭容器中进行的可逆反应，任意一种生成物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或反应物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的浓度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体积分数、百分含量）不随时间变化。</a:t>
            </a:r>
            <a:endParaRPr lang="zh-CN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8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8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8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8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8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8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8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8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8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8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8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8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8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/>
      <p:bldP spid="38917" grpId="0"/>
      <p:bldP spid="38918" grpId="0"/>
      <p:bldP spid="38934" grpId="0" animBg="1"/>
      <p:bldP spid="38935" grpId="0" animBg="1"/>
      <p:bldP spid="38936" grpId="0" animBg="1"/>
      <p:bldP spid="38937" grpId="0" animBg="1"/>
      <p:bldP spid="38939" grpId="0"/>
      <p:bldP spid="38940" grpId="0" animBg="1"/>
      <p:bldP spid="38941" grpId="0" animBg="1"/>
      <p:bldP spid="38942" grpId="0" animBg="1"/>
      <p:bldP spid="38943" grpId="0" animBg="1"/>
      <p:bldP spid="38944" grpId="0" animBg="1"/>
      <p:bldP spid="38945" grpId="0" animBg="1"/>
      <p:bldP spid="38946" grpId="0" animBg="1"/>
      <p:bldP spid="3894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38"/>
          <p:cNvSpPr txBox="1">
            <a:spLocks noChangeArrowheads="1"/>
          </p:cNvSpPr>
          <p:nvPr/>
        </p:nvSpPr>
        <p:spPr bwMode="auto">
          <a:xfrm>
            <a:off x="304800" y="914400"/>
            <a:ext cx="44958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(g)+3H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            2NH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 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 +I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 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             2HI (g)</a:t>
            </a:r>
          </a:p>
        </p:txBody>
      </p:sp>
      <p:sp>
        <p:nvSpPr>
          <p:cNvPr id="39939" name="Line 39"/>
          <p:cNvSpPr>
            <a:spLocks noChangeShapeType="1"/>
          </p:cNvSpPr>
          <p:nvPr/>
        </p:nvSpPr>
        <p:spPr bwMode="auto">
          <a:xfrm>
            <a:off x="2220913" y="1174750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0" name="Line 40"/>
          <p:cNvSpPr>
            <a:spLocks noChangeShapeType="1"/>
          </p:cNvSpPr>
          <p:nvPr/>
        </p:nvSpPr>
        <p:spPr bwMode="auto">
          <a:xfrm rot="1500000">
            <a:off x="2209800" y="121920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1" name="Line 41"/>
          <p:cNvSpPr>
            <a:spLocks noChangeShapeType="1"/>
          </p:cNvSpPr>
          <p:nvPr/>
        </p:nvSpPr>
        <p:spPr bwMode="auto">
          <a:xfrm>
            <a:off x="2220913" y="1098550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2" name="Line 42"/>
          <p:cNvSpPr>
            <a:spLocks noChangeShapeType="1"/>
          </p:cNvSpPr>
          <p:nvPr/>
        </p:nvSpPr>
        <p:spPr bwMode="auto">
          <a:xfrm rot="1500000">
            <a:off x="2735263" y="105410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3" name="Line 43"/>
          <p:cNvSpPr>
            <a:spLocks noChangeShapeType="1"/>
          </p:cNvSpPr>
          <p:nvPr/>
        </p:nvSpPr>
        <p:spPr bwMode="auto">
          <a:xfrm>
            <a:off x="2197100" y="1555750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4" name="Line 44"/>
          <p:cNvSpPr>
            <a:spLocks noChangeShapeType="1"/>
          </p:cNvSpPr>
          <p:nvPr/>
        </p:nvSpPr>
        <p:spPr bwMode="auto">
          <a:xfrm rot="1500000">
            <a:off x="2185988" y="160020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5" name="Line 45"/>
          <p:cNvSpPr>
            <a:spLocks noChangeShapeType="1"/>
          </p:cNvSpPr>
          <p:nvPr/>
        </p:nvSpPr>
        <p:spPr bwMode="auto">
          <a:xfrm>
            <a:off x="2197100" y="1479550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6" name="Line 46"/>
          <p:cNvSpPr>
            <a:spLocks noChangeShapeType="1"/>
          </p:cNvSpPr>
          <p:nvPr/>
        </p:nvSpPr>
        <p:spPr bwMode="auto">
          <a:xfrm rot="1500000">
            <a:off x="2711450" y="143510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7" name="Text Box 47"/>
          <p:cNvSpPr txBox="1">
            <a:spLocks noChangeArrowheads="1"/>
          </p:cNvSpPr>
          <p:nvPr/>
        </p:nvSpPr>
        <p:spPr bwMode="auto">
          <a:xfrm>
            <a:off x="304800" y="457200"/>
            <a:ext cx="2838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②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当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总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或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总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不变时</a:t>
            </a:r>
          </a:p>
        </p:txBody>
      </p:sp>
      <p:sp>
        <p:nvSpPr>
          <p:cNvPr id="37936" name="Rectangle 48"/>
          <p:cNvSpPr>
            <a:spLocks noChangeArrowheads="1"/>
          </p:cNvSpPr>
          <p:nvPr/>
        </p:nvSpPr>
        <p:spPr bwMode="auto">
          <a:xfrm>
            <a:off x="5105400" y="1219200"/>
            <a:ext cx="1371600" cy="990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37940" name="Group 52"/>
          <p:cNvGrpSpPr>
            <a:grpSpLocks/>
          </p:cNvGrpSpPr>
          <p:nvPr/>
        </p:nvGrpSpPr>
        <p:grpSpPr bwMode="auto">
          <a:xfrm>
            <a:off x="6689725" y="685800"/>
            <a:ext cx="1600200" cy="1524000"/>
            <a:chOff x="2486" y="2496"/>
            <a:chExt cx="1008" cy="960"/>
          </a:xfrm>
        </p:grpSpPr>
        <p:sp>
          <p:nvSpPr>
            <p:cNvPr id="40018" name="Rectangle 49"/>
            <p:cNvSpPr>
              <a:spLocks noChangeArrowheads="1"/>
            </p:cNvSpPr>
            <p:nvPr/>
          </p:nvSpPr>
          <p:spPr bwMode="auto">
            <a:xfrm>
              <a:off x="2544" y="2592"/>
              <a:ext cx="864" cy="86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0019" name="Rectangle 50" descr="画布"/>
            <p:cNvSpPr>
              <a:spLocks noChangeArrowheads="1"/>
            </p:cNvSpPr>
            <p:nvPr/>
          </p:nvSpPr>
          <p:spPr bwMode="auto">
            <a:xfrm>
              <a:off x="2544" y="2880"/>
              <a:ext cx="864" cy="48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40020" name="Rectangle 51"/>
            <p:cNvSpPr>
              <a:spLocks noChangeArrowheads="1"/>
            </p:cNvSpPr>
            <p:nvPr/>
          </p:nvSpPr>
          <p:spPr bwMode="auto">
            <a:xfrm>
              <a:off x="2486" y="2496"/>
              <a:ext cx="1008" cy="1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37946" name="Rectangle 58"/>
          <p:cNvSpPr>
            <a:spLocks noChangeArrowheads="1"/>
          </p:cNvSpPr>
          <p:nvPr/>
        </p:nvSpPr>
        <p:spPr bwMode="auto">
          <a:xfrm>
            <a:off x="3349625" y="468313"/>
            <a:ext cx="18573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总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=n</a:t>
            </a:r>
            <a:r>
              <a:rPr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总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RT/V</a:t>
            </a:r>
          </a:p>
        </p:txBody>
      </p:sp>
      <p:sp>
        <p:nvSpPr>
          <p:cNvPr id="38076" name="Text Box 188"/>
          <p:cNvSpPr txBox="1">
            <a:spLocks noChangeArrowheads="1"/>
          </p:cNvSpPr>
          <p:nvPr/>
        </p:nvSpPr>
        <p:spPr bwMode="auto">
          <a:xfrm>
            <a:off x="5359400" y="457200"/>
            <a:ext cx="2328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注意：限制条件</a:t>
            </a:r>
          </a:p>
        </p:txBody>
      </p:sp>
      <p:sp>
        <p:nvSpPr>
          <p:cNvPr id="38079" name="Text Box 191"/>
          <p:cNvSpPr txBox="1">
            <a:spLocks noChangeArrowheads="1"/>
          </p:cNvSpPr>
          <p:nvPr/>
        </p:nvSpPr>
        <p:spPr bwMode="auto">
          <a:xfrm>
            <a:off x="325438" y="1701800"/>
            <a:ext cx="4546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aA(g)+bB(g)              pC(g)+qD(g)</a:t>
            </a:r>
          </a:p>
        </p:txBody>
      </p:sp>
      <p:sp>
        <p:nvSpPr>
          <p:cNvPr id="38080" name="Line 192"/>
          <p:cNvSpPr>
            <a:spLocks noChangeShapeType="1"/>
          </p:cNvSpPr>
          <p:nvPr/>
        </p:nvSpPr>
        <p:spPr bwMode="auto">
          <a:xfrm>
            <a:off x="2279650" y="2003425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081" name="Line 193"/>
          <p:cNvSpPr>
            <a:spLocks noChangeShapeType="1"/>
          </p:cNvSpPr>
          <p:nvPr/>
        </p:nvSpPr>
        <p:spPr bwMode="auto">
          <a:xfrm rot="1500000">
            <a:off x="2268538" y="20478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082" name="Line 194"/>
          <p:cNvSpPr>
            <a:spLocks noChangeShapeType="1"/>
          </p:cNvSpPr>
          <p:nvPr/>
        </p:nvSpPr>
        <p:spPr bwMode="auto">
          <a:xfrm>
            <a:off x="2279650" y="1927225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083" name="Line 195"/>
          <p:cNvSpPr>
            <a:spLocks noChangeShapeType="1"/>
          </p:cNvSpPr>
          <p:nvPr/>
        </p:nvSpPr>
        <p:spPr bwMode="auto">
          <a:xfrm rot="1500000">
            <a:off x="2794000" y="18827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04800" y="2347913"/>
          <a:ext cx="8353425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/>
                  </a:extLst>
                </a:gridCol>
                <a:gridCol w="2895600">
                  <a:extLst>
                    <a:ext uri="{9D8B030D-6E8A-4147-A177-3AD203B41FA5}"/>
                  </a:extLst>
                </a:gridCol>
                <a:gridCol w="1600200">
                  <a:extLst>
                    <a:ext uri="{9D8B030D-6E8A-4147-A177-3AD203B41FA5}"/>
                  </a:extLst>
                </a:gridCol>
                <a:gridCol w="2028825">
                  <a:extLst>
                    <a:ext uri="{9D8B030D-6E8A-4147-A177-3AD203B41FA5}"/>
                  </a:extLst>
                </a:gridCol>
              </a:tblGrid>
              <a:tr h="18097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恒温恒容时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当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P</a:t>
                      </a:r>
                      <a:r>
                        <a:rPr kumimoji="1" lang="zh-CN" altLang="en-US" sz="24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总</a:t>
                      </a: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不随时间变化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a+b≠p+q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平衡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556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a+b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=</a:t>
                      </a:r>
                      <a:r>
                        <a:rPr kumimoji="1" lang="en-US" altLang="zh-CN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p+q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不一定平衡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04800" y="3492500"/>
          <a:ext cx="8353425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/>
                  </a:extLst>
                </a:gridCol>
                <a:gridCol w="2895600">
                  <a:extLst>
                    <a:ext uri="{9D8B030D-6E8A-4147-A177-3AD203B41FA5}"/>
                  </a:extLst>
                </a:gridCol>
                <a:gridCol w="1600200">
                  <a:extLst>
                    <a:ext uri="{9D8B030D-6E8A-4147-A177-3AD203B41FA5}"/>
                  </a:extLst>
                </a:gridCol>
                <a:gridCol w="2028825">
                  <a:extLst>
                    <a:ext uri="{9D8B030D-6E8A-4147-A177-3AD203B41FA5}"/>
                  </a:extLst>
                </a:gridCol>
              </a:tblGrid>
              <a:tr h="18097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恒温恒压时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当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P</a:t>
                      </a:r>
                      <a:r>
                        <a:rPr kumimoji="1" lang="zh-CN" altLang="en-US" sz="24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总</a:t>
                      </a: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不随时间变化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a+b≠p+q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不一定平衡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556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a+b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=</a:t>
                      </a:r>
                      <a:r>
                        <a:rPr kumimoji="1" lang="en-US" altLang="zh-CN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p+q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不一定平衡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325438" y="4621213"/>
          <a:ext cx="8353425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/>
                  </a:extLst>
                </a:gridCol>
                <a:gridCol w="2895600">
                  <a:extLst>
                    <a:ext uri="{9D8B030D-6E8A-4147-A177-3AD203B41FA5}"/>
                  </a:extLst>
                </a:gridCol>
                <a:gridCol w="1600200">
                  <a:extLst>
                    <a:ext uri="{9D8B030D-6E8A-4147-A177-3AD203B41FA5}"/>
                  </a:extLst>
                </a:gridCol>
                <a:gridCol w="2028825">
                  <a:extLst>
                    <a:ext uri="{9D8B030D-6E8A-4147-A177-3AD203B41FA5}"/>
                  </a:extLst>
                </a:gridCol>
              </a:tblGrid>
              <a:tr h="18097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恒温恒压时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当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V</a:t>
                      </a:r>
                      <a:r>
                        <a:rPr kumimoji="1" lang="zh-CN" altLang="en-US" sz="24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总</a:t>
                      </a: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不随时间变化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a+b≠p+q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平衡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556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a+b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=</a:t>
                      </a:r>
                      <a:r>
                        <a:rPr kumimoji="1" lang="en-US" altLang="zh-CN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p+q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不一定平衡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/>
        </p:nvGraphicFramePr>
        <p:xfrm>
          <a:off x="325438" y="5764213"/>
          <a:ext cx="8353425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/>
                  </a:extLst>
                </a:gridCol>
                <a:gridCol w="2895600">
                  <a:extLst>
                    <a:ext uri="{9D8B030D-6E8A-4147-A177-3AD203B41FA5}"/>
                  </a:extLst>
                </a:gridCol>
                <a:gridCol w="1600200">
                  <a:extLst>
                    <a:ext uri="{9D8B030D-6E8A-4147-A177-3AD203B41FA5}"/>
                  </a:extLst>
                </a:gridCol>
                <a:gridCol w="2028825">
                  <a:extLst>
                    <a:ext uri="{9D8B030D-6E8A-4147-A177-3AD203B41FA5}"/>
                  </a:extLst>
                </a:gridCol>
              </a:tblGrid>
              <a:tr h="18097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恒温恒容时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当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V</a:t>
                      </a:r>
                      <a:r>
                        <a:rPr kumimoji="1" lang="zh-CN" altLang="en-US" sz="24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总</a:t>
                      </a: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不随时间变化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a+b≠p+q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不一定平衡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556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a+b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=</a:t>
                      </a:r>
                      <a:r>
                        <a:rPr kumimoji="1" lang="en-US" altLang="zh-CN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p+q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不一定平衡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80975" y="2201863"/>
            <a:ext cx="1927225" cy="1103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9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9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xit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7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7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8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8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/>
      <p:bldP spid="39939" grpId="0" animBg="1"/>
      <p:bldP spid="39940" grpId="0" animBg="1"/>
      <p:bldP spid="39941" grpId="0" animBg="1"/>
      <p:bldP spid="39942" grpId="0" animBg="1"/>
      <p:bldP spid="39943" grpId="0" animBg="1"/>
      <p:bldP spid="39944" grpId="0" animBg="1"/>
      <p:bldP spid="39945" grpId="0" animBg="1"/>
      <p:bldP spid="39946" grpId="0" animBg="1"/>
      <p:bldP spid="37936" grpId="0" animBg="1"/>
      <p:bldP spid="37946" grpId="0"/>
      <p:bldP spid="38076" grpId="0"/>
      <p:bldP spid="38079" grpId="0"/>
      <p:bldP spid="38080" grpId="0" animBg="1"/>
      <p:bldP spid="38081" grpId="0" animBg="1"/>
      <p:bldP spid="38082" grpId="0" animBg="1"/>
      <p:bldP spid="38083" grpId="0" animBg="1"/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4"/>
          <p:cNvSpPr>
            <a:spLocks noChangeArrowheads="1"/>
          </p:cNvSpPr>
          <p:nvPr/>
        </p:nvSpPr>
        <p:spPr bwMode="auto">
          <a:xfrm>
            <a:off x="304800" y="381000"/>
            <a:ext cx="4167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③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当混合气平均分子量不变时</a:t>
            </a:r>
          </a:p>
        </p:txBody>
      </p:sp>
      <p:graphicFrame>
        <p:nvGraphicFramePr>
          <p:cNvPr id="39941" name="Object 5"/>
          <p:cNvGraphicFramePr>
            <a:graphicFrameLocks noChangeAspect="1"/>
          </p:cNvGraphicFramePr>
          <p:nvPr/>
        </p:nvGraphicFramePr>
        <p:xfrm>
          <a:off x="381000" y="762000"/>
          <a:ext cx="1655763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8" name="公式" r:id="rId3" imgW="400071" imgH="219013" progId="Equation.3">
                  <p:embed/>
                </p:oleObj>
              </mc:Choice>
              <mc:Fallback>
                <p:oleObj name="公式" r:id="rId3" imgW="400071" imgH="21901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762000"/>
                        <a:ext cx="1655763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3" name="Text Box 7"/>
          <p:cNvSpPr txBox="1">
            <a:spLocks noChangeArrowheads="1"/>
          </p:cNvSpPr>
          <p:nvPr/>
        </p:nvSpPr>
        <p:spPr bwMode="auto">
          <a:xfrm>
            <a:off x="2362200" y="914400"/>
            <a:ext cx="4419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(g)+3H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            2NH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 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 +I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 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             2HI (g)</a:t>
            </a:r>
          </a:p>
        </p:txBody>
      </p:sp>
      <p:sp>
        <p:nvSpPr>
          <p:cNvPr id="39944" name="Line 8"/>
          <p:cNvSpPr>
            <a:spLocks noChangeShapeType="1"/>
          </p:cNvSpPr>
          <p:nvPr/>
        </p:nvSpPr>
        <p:spPr bwMode="auto">
          <a:xfrm>
            <a:off x="4278313" y="1174750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5" name="Line 9"/>
          <p:cNvSpPr>
            <a:spLocks noChangeShapeType="1"/>
          </p:cNvSpPr>
          <p:nvPr/>
        </p:nvSpPr>
        <p:spPr bwMode="auto">
          <a:xfrm rot="1500000">
            <a:off x="4267200" y="121920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6" name="Line 10"/>
          <p:cNvSpPr>
            <a:spLocks noChangeShapeType="1"/>
          </p:cNvSpPr>
          <p:nvPr/>
        </p:nvSpPr>
        <p:spPr bwMode="auto">
          <a:xfrm>
            <a:off x="4278313" y="1098550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7" name="Line 11"/>
          <p:cNvSpPr>
            <a:spLocks noChangeShapeType="1"/>
          </p:cNvSpPr>
          <p:nvPr/>
        </p:nvSpPr>
        <p:spPr bwMode="auto">
          <a:xfrm rot="1500000">
            <a:off x="4792663" y="105410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8" name="Line 12"/>
          <p:cNvSpPr>
            <a:spLocks noChangeShapeType="1"/>
          </p:cNvSpPr>
          <p:nvPr/>
        </p:nvSpPr>
        <p:spPr bwMode="auto">
          <a:xfrm>
            <a:off x="4254500" y="1555750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9" name="Line 13"/>
          <p:cNvSpPr>
            <a:spLocks noChangeShapeType="1"/>
          </p:cNvSpPr>
          <p:nvPr/>
        </p:nvSpPr>
        <p:spPr bwMode="auto">
          <a:xfrm rot="1500000">
            <a:off x="4243388" y="160020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0" name="Line 14"/>
          <p:cNvSpPr>
            <a:spLocks noChangeShapeType="1"/>
          </p:cNvSpPr>
          <p:nvPr/>
        </p:nvSpPr>
        <p:spPr bwMode="auto">
          <a:xfrm>
            <a:off x="4254500" y="1479550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1" name="Line 15"/>
          <p:cNvSpPr>
            <a:spLocks noChangeShapeType="1"/>
          </p:cNvSpPr>
          <p:nvPr/>
        </p:nvSpPr>
        <p:spPr bwMode="auto">
          <a:xfrm rot="1500000">
            <a:off x="4768850" y="143510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0001" name="Group 65"/>
          <p:cNvGraphicFramePr>
            <a:graphicFrameLocks noGrp="1"/>
          </p:cNvGraphicFramePr>
          <p:nvPr/>
        </p:nvGraphicFramePr>
        <p:xfrm>
          <a:off x="104775" y="2362200"/>
          <a:ext cx="8810625" cy="1371600"/>
        </p:xfrm>
        <a:graphic>
          <a:graphicData uri="http://schemas.openxmlformats.org/drawingml/2006/table">
            <a:tbl>
              <a:tblPr/>
              <a:tblGrid>
                <a:gridCol w="2790825">
                  <a:extLst>
                    <a:ext uri="{9D8B030D-6E8A-4147-A177-3AD203B41FA5}"/>
                  </a:extLst>
                </a:gridCol>
                <a:gridCol w="2209800">
                  <a:extLst>
                    <a:ext uri="{9D8B030D-6E8A-4147-A177-3AD203B41FA5}"/>
                  </a:extLst>
                </a:gridCol>
                <a:gridCol w="1752600">
                  <a:extLst>
                    <a:ext uri="{9D8B030D-6E8A-4147-A177-3AD203B41FA5}"/>
                  </a:extLst>
                </a:gridCol>
                <a:gridCol w="2057400">
                  <a:extLst>
                    <a:ext uri="{9D8B030D-6E8A-4147-A177-3AD203B41FA5}"/>
                  </a:extLst>
                </a:gridCol>
              </a:tblGrid>
              <a:tr h="180975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当混合气体平均分子量不随时间变化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均为气体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a+b≠p+q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平衡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556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a+b=p+q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不一定平衡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1809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有固态或液态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a+b=p+q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平衡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40007" name="Text Box 71"/>
          <p:cNvSpPr txBox="1">
            <a:spLocks noChangeArrowheads="1"/>
          </p:cNvSpPr>
          <p:nvPr/>
        </p:nvSpPr>
        <p:spPr bwMode="auto">
          <a:xfrm>
            <a:off x="482600" y="1828800"/>
            <a:ext cx="4546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aA(g)+bB(g)              pC(g)+qD(g)</a:t>
            </a:r>
          </a:p>
        </p:txBody>
      </p:sp>
      <p:sp>
        <p:nvSpPr>
          <p:cNvPr id="40008" name="Line 72"/>
          <p:cNvSpPr>
            <a:spLocks noChangeShapeType="1"/>
          </p:cNvSpPr>
          <p:nvPr/>
        </p:nvSpPr>
        <p:spPr bwMode="auto">
          <a:xfrm>
            <a:off x="2436813" y="2130425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009" name="Line 73"/>
          <p:cNvSpPr>
            <a:spLocks noChangeShapeType="1"/>
          </p:cNvSpPr>
          <p:nvPr/>
        </p:nvSpPr>
        <p:spPr bwMode="auto">
          <a:xfrm rot="1500000">
            <a:off x="2425700" y="21748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010" name="Line 74"/>
          <p:cNvSpPr>
            <a:spLocks noChangeShapeType="1"/>
          </p:cNvSpPr>
          <p:nvPr/>
        </p:nvSpPr>
        <p:spPr bwMode="auto">
          <a:xfrm>
            <a:off x="2436813" y="2054225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011" name="Line 75"/>
          <p:cNvSpPr>
            <a:spLocks noChangeShapeType="1"/>
          </p:cNvSpPr>
          <p:nvPr/>
        </p:nvSpPr>
        <p:spPr bwMode="auto">
          <a:xfrm rot="1500000">
            <a:off x="2951163" y="20097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012" name="Text Box 76"/>
          <p:cNvSpPr txBox="1">
            <a:spLocks noChangeArrowheads="1"/>
          </p:cNvSpPr>
          <p:nvPr/>
        </p:nvSpPr>
        <p:spPr bwMode="auto">
          <a:xfrm>
            <a:off x="330200" y="4111625"/>
            <a:ext cx="5245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aA(g)+bB(g)              pC(g)+qD(g)+E(s)</a:t>
            </a:r>
          </a:p>
        </p:txBody>
      </p:sp>
      <p:sp>
        <p:nvSpPr>
          <p:cNvPr id="40013" name="Line 77"/>
          <p:cNvSpPr>
            <a:spLocks noChangeShapeType="1"/>
          </p:cNvSpPr>
          <p:nvPr/>
        </p:nvSpPr>
        <p:spPr bwMode="auto">
          <a:xfrm>
            <a:off x="2284413" y="4413250"/>
            <a:ext cx="719137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014" name="Line 78"/>
          <p:cNvSpPr>
            <a:spLocks noChangeShapeType="1"/>
          </p:cNvSpPr>
          <p:nvPr/>
        </p:nvSpPr>
        <p:spPr bwMode="auto">
          <a:xfrm rot="1500000">
            <a:off x="2273300" y="4457700"/>
            <a:ext cx="215900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015" name="Line 79"/>
          <p:cNvSpPr>
            <a:spLocks noChangeShapeType="1"/>
          </p:cNvSpPr>
          <p:nvPr/>
        </p:nvSpPr>
        <p:spPr bwMode="auto">
          <a:xfrm>
            <a:off x="2284413" y="4337050"/>
            <a:ext cx="719137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016" name="Line 80"/>
          <p:cNvSpPr>
            <a:spLocks noChangeShapeType="1"/>
          </p:cNvSpPr>
          <p:nvPr/>
        </p:nvSpPr>
        <p:spPr bwMode="auto">
          <a:xfrm rot="1500000">
            <a:off x="2798763" y="4292600"/>
            <a:ext cx="215900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017" name="Oval 81"/>
          <p:cNvSpPr>
            <a:spLocks noChangeArrowheads="1"/>
          </p:cNvSpPr>
          <p:nvPr/>
        </p:nvSpPr>
        <p:spPr bwMode="auto">
          <a:xfrm>
            <a:off x="4765675" y="3962400"/>
            <a:ext cx="762000" cy="762000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0" name="矩形 29"/>
          <p:cNvSpPr>
            <a:spLocks noChangeArrowheads="1"/>
          </p:cNvSpPr>
          <p:nvPr/>
        </p:nvSpPr>
        <p:spPr bwMode="auto">
          <a:xfrm>
            <a:off x="2936875" y="3308350"/>
            <a:ext cx="6164263" cy="5603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0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0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0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xit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40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40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0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40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40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40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40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3" grpId="0"/>
      <p:bldP spid="39944" grpId="0" animBg="1"/>
      <p:bldP spid="39945" grpId="0" animBg="1"/>
      <p:bldP spid="39946" grpId="0" animBg="1"/>
      <p:bldP spid="39947" grpId="0" animBg="1"/>
      <p:bldP spid="39948" grpId="0" animBg="1"/>
      <p:bldP spid="39949" grpId="0" animBg="1"/>
      <p:bldP spid="39950" grpId="0" animBg="1"/>
      <p:bldP spid="39951" grpId="0" animBg="1"/>
      <p:bldP spid="40007" grpId="0"/>
      <p:bldP spid="40008" grpId="0" animBg="1"/>
      <p:bldP spid="40009" grpId="0" animBg="1"/>
      <p:bldP spid="40010" grpId="0" animBg="1"/>
      <p:bldP spid="40011" grpId="0" animBg="1"/>
      <p:bldP spid="40012" grpId="0"/>
      <p:bldP spid="40013" grpId="0" animBg="1"/>
      <p:bldP spid="40014" grpId="0" animBg="1"/>
      <p:bldP spid="40015" grpId="0" animBg="1"/>
      <p:bldP spid="40016" grpId="0" animBg="1"/>
      <p:bldP spid="40017" grpId="0" animBg="1"/>
      <p:bldP spid="3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4" name="Object 4"/>
          <p:cNvGraphicFramePr>
            <a:graphicFrameLocks noChangeAspect="1"/>
          </p:cNvGraphicFramePr>
          <p:nvPr/>
        </p:nvGraphicFramePr>
        <p:xfrm>
          <a:off x="457200" y="609600"/>
          <a:ext cx="2133600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0" name="公式" r:id="rId3" imgW="638166" imgH="219013" progId="Equation.3">
                  <p:embed/>
                </p:oleObj>
              </mc:Choice>
              <mc:Fallback>
                <p:oleObj name="公式" r:id="rId3" imgW="638166" imgH="21901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609600"/>
                        <a:ext cx="2133600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7" name="Rectangle 5"/>
          <p:cNvSpPr>
            <a:spLocks noChangeArrowheads="1"/>
          </p:cNvSpPr>
          <p:nvPr/>
        </p:nvSpPr>
        <p:spPr bwMode="auto">
          <a:xfrm>
            <a:off x="304800" y="152400"/>
            <a:ext cx="3554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⑤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当混合气体密度不变时</a:t>
            </a:r>
          </a:p>
        </p:txBody>
      </p:sp>
      <p:sp>
        <p:nvSpPr>
          <p:cNvPr id="40966" name="Text Box 6"/>
          <p:cNvSpPr txBox="1">
            <a:spLocks noChangeArrowheads="1"/>
          </p:cNvSpPr>
          <p:nvPr/>
        </p:nvSpPr>
        <p:spPr bwMode="auto">
          <a:xfrm>
            <a:off x="2743200" y="777875"/>
            <a:ext cx="4419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(g)+3H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            2NH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 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 +I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 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             2HI (g)</a:t>
            </a:r>
          </a:p>
        </p:txBody>
      </p:sp>
      <p:sp>
        <p:nvSpPr>
          <p:cNvPr id="40967" name="Line 7"/>
          <p:cNvSpPr>
            <a:spLocks noChangeShapeType="1"/>
          </p:cNvSpPr>
          <p:nvPr/>
        </p:nvSpPr>
        <p:spPr bwMode="auto">
          <a:xfrm>
            <a:off x="4659313" y="1038225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8" name="Line 8"/>
          <p:cNvSpPr>
            <a:spLocks noChangeShapeType="1"/>
          </p:cNvSpPr>
          <p:nvPr/>
        </p:nvSpPr>
        <p:spPr bwMode="auto">
          <a:xfrm rot="1500000">
            <a:off x="4648200" y="10826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9" name="Line 9"/>
          <p:cNvSpPr>
            <a:spLocks noChangeShapeType="1"/>
          </p:cNvSpPr>
          <p:nvPr/>
        </p:nvSpPr>
        <p:spPr bwMode="auto">
          <a:xfrm>
            <a:off x="4659313" y="962025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70" name="Line 10"/>
          <p:cNvSpPr>
            <a:spLocks noChangeShapeType="1"/>
          </p:cNvSpPr>
          <p:nvPr/>
        </p:nvSpPr>
        <p:spPr bwMode="auto">
          <a:xfrm rot="1500000">
            <a:off x="5173663" y="9175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71" name="Line 11"/>
          <p:cNvSpPr>
            <a:spLocks noChangeShapeType="1"/>
          </p:cNvSpPr>
          <p:nvPr/>
        </p:nvSpPr>
        <p:spPr bwMode="auto">
          <a:xfrm>
            <a:off x="4635500" y="1419225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72" name="Line 12"/>
          <p:cNvSpPr>
            <a:spLocks noChangeShapeType="1"/>
          </p:cNvSpPr>
          <p:nvPr/>
        </p:nvSpPr>
        <p:spPr bwMode="auto">
          <a:xfrm rot="1500000">
            <a:off x="4624388" y="14636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73" name="Line 13"/>
          <p:cNvSpPr>
            <a:spLocks noChangeShapeType="1"/>
          </p:cNvSpPr>
          <p:nvPr/>
        </p:nvSpPr>
        <p:spPr bwMode="auto">
          <a:xfrm>
            <a:off x="4635500" y="1343025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74" name="Line 14"/>
          <p:cNvSpPr>
            <a:spLocks noChangeShapeType="1"/>
          </p:cNvSpPr>
          <p:nvPr/>
        </p:nvSpPr>
        <p:spPr bwMode="auto">
          <a:xfrm rot="1500000">
            <a:off x="5149850" y="12985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1004" name="Group 44"/>
          <p:cNvGraphicFramePr>
            <a:graphicFrameLocks noGrp="1"/>
          </p:cNvGraphicFramePr>
          <p:nvPr/>
        </p:nvGraphicFramePr>
        <p:xfrm>
          <a:off x="257175" y="2133600"/>
          <a:ext cx="8810625" cy="1828800"/>
        </p:xfrm>
        <a:graphic>
          <a:graphicData uri="http://schemas.openxmlformats.org/drawingml/2006/table">
            <a:tbl>
              <a:tblPr/>
              <a:tblGrid>
                <a:gridCol w="2790825">
                  <a:extLst>
                    <a:ext uri="{9D8B030D-6E8A-4147-A177-3AD203B41FA5}"/>
                  </a:extLst>
                </a:gridCol>
                <a:gridCol w="2209800">
                  <a:extLst>
                    <a:ext uri="{9D8B030D-6E8A-4147-A177-3AD203B41FA5}"/>
                  </a:extLst>
                </a:gridCol>
                <a:gridCol w="1752600">
                  <a:extLst>
                    <a:ext uri="{9D8B030D-6E8A-4147-A177-3AD203B41FA5}"/>
                  </a:extLst>
                </a:gridCol>
                <a:gridCol w="2057400">
                  <a:extLst>
                    <a:ext uri="{9D8B030D-6E8A-4147-A177-3AD203B41FA5}"/>
                  </a:extLst>
                </a:gridCol>
              </a:tblGrid>
              <a:tr h="457200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当混合气体密度不随时间变化</a:t>
                      </a:r>
                    </a:p>
                  </a:txBody>
                  <a:tcPr marT="45671" marB="45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恒温恒压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均为气体</a:t>
                      </a:r>
                    </a:p>
                  </a:txBody>
                  <a:tcPr marT="45671" marB="45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a+b≠p+q</a:t>
                      </a:r>
                    </a:p>
                  </a:txBody>
                  <a:tcPr marT="45671" marB="45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平衡</a:t>
                      </a:r>
                    </a:p>
                  </a:txBody>
                  <a:tcPr marT="45671" marB="45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a+b=p+q</a:t>
                      </a:r>
                    </a:p>
                  </a:txBody>
                  <a:tcPr marT="45671" marB="45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不一定平衡</a:t>
                      </a:r>
                    </a:p>
                  </a:txBody>
                  <a:tcPr marT="45671" marB="45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恒温恒容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均为气体</a:t>
                      </a:r>
                    </a:p>
                  </a:txBody>
                  <a:tcPr marT="45671" marB="45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a+b≠p+q</a:t>
                      </a:r>
                    </a:p>
                  </a:txBody>
                  <a:tcPr marT="45671" marB="45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不一定平衡</a:t>
                      </a:r>
                    </a:p>
                  </a:txBody>
                  <a:tcPr marT="45671" marB="45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a+b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=</a:t>
                      </a:r>
                      <a:r>
                        <a:rPr kumimoji="1" lang="en-US" altLang="zh-CN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p+q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671" marB="45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不一定平衡</a:t>
                      </a:r>
                    </a:p>
                  </a:txBody>
                  <a:tcPr marT="45671" marB="456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40999" name="Text Box 39"/>
          <p:cNvSpPr txBox="1">
            <a:spLocks noChangeArrowheads="1"/>
          </p:cNvSpPr>
          <p:nvPr/>
        </p:nvSpPr>
        <p:spPr bwMode="auto">
          <a:xfrm>
            <a:off x="635000" y="1600200"/>
            <a:ext cx="4546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aA(g)+bB(g)              pC(g)+qD(g)</a:t>
            </a:r>
          </a:p>
        </p:txBody>
      </p:sp>
      <p:sp>
        <p:nvSpPr>
          <p:cNvPr id="41000" name="Line 40"/>
          <p:cNvSpPr>
            <a:spLocks noChangeShapeType="1"/>
          </p:cNvSpPr>
          <p:nvPr/>
        </p:nvSpPr>
        <p:spPr bwMode="auto">
          <a:xfrm>
            <a:off x="2589213" y="1901825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01" name="Line 41"/>
          <p:cNvSpPr>
            <a:spLocks noChangeShapeType="1"/>
          </p:cNvSpPr>
          <p:nvPr/>
        </p:nvSpPr>
        <p:spPr bwMode="auto">
          <a:xfrm rot="1500000">
            <a:off x="2578100" y="19462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02" name="Line 42"/>
          <p:cNvSpPr>
            <a:spLocks noChangeShapeType="1"/>
          </p:cNvSpPr>
          <p:nvPr/>
        </p:nvSpPr>
        <p:spPr bwMode="auto">
          <a:xfrm>
            <a:off x="2589213" y="1825625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03" name="Line 43"/>
          <p:cNvSpPr>
            <a:spLocks noChangeShapeType="1"/>
          </p:cNvSpPr>
          <p:nvPr/>
        </p:nvSpPr>
        <p:spPr bwMode="auto">
          <a:xfrm rot="1500000">
            <a:off x="3103563" y="17811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05" name="Text Box 45"/>
          <p:cNvSpPr txBox="1">
            <a:spLocks noChangeArrowheads="1"/>
          </p:cNvSpPr>
          <p:nvPr/>
        </p:nvSpPr>
        <p:spPr bwMode="auto">
          <a:xfrm>
            <a:off x="304800" y="4187825"/>
            <a:ext cx="5245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aA(g)+bB(g)              pC(g)+qD(g)+E(s)</a:t>
            </a:r>
          </a:p>
        </p:txBody>
      </p:sp>
      <p:sp>
        <p:nvSpPr>
          <p:cNvPr id="41006" name="Line 46"/>
          <p:cNvSpPr>
            <a:spLocks noChangeShapeType="1"/>
          </p:cNvSpPr>
          <p:nvPr/>
        </p:nvSpPr>
        <p:spPr bwMode="auto">
          <a:xfrm>
            <a:off x="2259013" y="4489450"/>
            <a:ext cx="719137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07" name="Line 47"/>
          <p:cNvSpPr>
            <a:spLocks noChangeShapeType="1"/>
          </p:cNvSpPr>
          <p:nvPr/>
        </p:nvSpPr>
        <p:spPr bwMode="auto">
          <a:xfrm rot="1500000">
            <a:off x="2247900" y="4533900"/>
            <a:ext cx="215900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08" name="Line 48"/>
          <p:cNvSpPr>
            <a:spLocks noChangeShapeType="1"/>
          </p:cNvSpPr>
          <p:nvPr/>
        </p:nvSpPr>
        <p:spPr bwMode="auto">
          <a:xfrm>
            <a:off x="2259013" y="4413250"/>
            <a:ext cx="719137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09" name="Line 49"/>
          <p:cNvSpPr>
            <a:spLocks noChangeShapeType="1"/>
          </p:cNvSpPr>
          <p:nvPr/>
        </p:nvSpPr>
        <p:spPr bwMode="auto">
          <a:xfrm rot="1500000">
            <a:off x="2773363" y="4368800"/>
            <a:ext cx="215900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10" name="Oval 50"/>
          <p:cNvSpPr>
            <a:spLocks noChangeArrowheads="1"/>
          </p:cNvSpPr>
          <p:nvPr/>
        </p:nvSpPr>
        <p:spPr bwMode="auto">
          <a:xfrm>
            <a:off x="4772025" y="4038600"/>
            <a:ext cx="762000" cy="762000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1011" name="Group 51"/>
          <p:cNvGraphicFramePr>
            <a:graphicFrameLocks noGrp="1"/>
          </p:cNvGraphicFramePr>
          <p:nvPr/>
        </p:nvGraphicFramePr>
        <p:xfrm>
          <a:off x="228600" y="4900613"/>
          <a:ext cx="8810625" cy="1809750"/>
        </p:xfrm>
        <a:graphic>
          <a:graphicData uri="http://schemas.openxmlformats.org/drawingml/2006/table">
            <a:tbl>
              <a:tblPr/>
              <a:tblGrid>
                <a:gridCol w="2790825">
                  <a:extLst>
                    <a:ext uri="{9D8B030D-6E8A-4147-A177-3AD203B41FA5}"/>
                  </a:extLst>
                </a:gridCol>
                <a:gridCol w="2209800">
                  <a:extLst>
                    <a:ext uri="{9D8B030D-6E8A-4147-A177-3AD203B41FA5}"/>
                  </a:extLst>
                </a:gridCol>
                <a:gridCol w="1752600">
                  <a:extLst>
                    <a:ext uri="{9D8B030D-6E8A-4147-A177-3AD203B41FA5}"/>
                  </a:extLst>
                </a:gridCol>
                <a:gridCol w="2057400">
                  <a:extLst>
                    <a:ext uri="{9D8B030D-6E8A-4147-A177-3AD203B41FA5}"/>
                  </a:extLst>
                </a:gridCol>
              </a:tblGrid>
              <a:tr h="91377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当混合气体密度不随时间变化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恒温恒压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有固态或液态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a+b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=</a:t>
                      </a:r>
                      <a:r>
                        <a:rPr kumimoji="1" lang="en-US" altLang="zh-CN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p+q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平衡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89597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恒温恒容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有固态或液态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a+b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=</a:t>
                      </a:r>
                      <a:r>
                        <a:rPr kumimoji="1" lang="en-US" altLang="zh-CN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p+q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</a:endParaRP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平衡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0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4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4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4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4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4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4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6" grpId="0"/>
      <p:bldP spid="40967" grpId="0" animBg="1"/>
      <p:bldP spid="40968" grpId="0" animBg="1"/>
      <p:bldP spid="40969" grpId="0" animBg="1"/>
      <p:bldP spid="40970" grpId="0" animBg="1"/>
      <p:bldP spid="40971" grpId="0" animBg="1"/>
      <p:bldP spid="40972" grpId="0" animBg="1"/>
      <p:bldP spid="40973" grpId="0" animBg="1"/>
      <p:bldP spid="40974" grpId="0" animBg="1"/>
      <p:bldP spid="40999" grpId="0"/>
      <p:bldP spid="41000" grpId="0" animBg="1"/>
      <p:bldP spid="41001" grpId="0" animBg="1"/>
      <p:bldP spid="41002" grpId="0" animBg="1"/>
      <p:bldP spid="41003" grpId="0" animBg="1"/>
      <p:bldP spid="41005" grpId="0"/>
      <p:bldP spid="41006" grpId="0" animBg="1"/>
      <p:bldP spid="41007" grpId="0" animBg="1"/>
      <p:bldP spid="41008" grpId="0" animBg="1"/>
      <p:bldP spid="41009" grpId="0" animBg="1"/>
      <p:bldP spid="4101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179388" y="333375"/>
            <a:ext cx="8964612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：在一定温度下，反应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(g) +B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(g)            2AB (g)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达到平衡标志的是</a:t>
            </a:r>
            <a:b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．单位时间内生成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 mol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的同时生成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 mol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AB</a:t>
            </a:r>
            <a:b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  B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．容器内的总压强不随时间变化</a:t>
            </a:r>
            <a:b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．单位时间内生成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 n mol</a:t>
            </a:r>
            <a:r>
              <a:rPr kumimoji="1" lang="en-US" altLang="zh-CN" sz="2400" b="0"/>
              <a:t>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AB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同时生成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 mol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/>
            </a:r>
            <a:b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  D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．单位时间内生成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 mol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的同时生成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 mol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1403350" y="739775"/>
            <a:ext cx="10175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>
                <a:solidFill>
                  <a:srgbClr val="FFFF00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43012" name="Line 4"/>
          <p:cNvSpPr>
            <a:spLocks noChangeShapeType="1"/>
          </p:cNvSpPr>
          <p:nvPr/>
        </p:nvSpPr>
        <p:spPr bwMode="auto">
          <a:xfrm>
            <a:off x="5608638" y="611188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3" name="Line 5"/>
          <p:cNvSpPr>
            <a:spLocks noChangeShapeType="1"/>
          </p:cNvSpPr>
          <p:nvPr/>
        </p:nvSpPr>
        <p:spPr bwMode="auto">
          <a:xfrm rot="1500000">
            <a:off x="5597525" y="655638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4" name="Line 6"/>
          <p:cNvSpPr>
            <a:spLocks noChangeShapeType="1"/>
          </p:cNvSpPr>
          <p:nvPr/>
        </p:nvSpPr>
        <p:spPr bwMode="auto">
          <a:xfrm>
            <a:off x="5608638" y="534988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5" name="Line 7"/>
          <p:cNvSpPr>
            <a:spLocks noChangeShapeType="1"/>
          </p:cNvSpPr>
          <p:nvPr/>
        </p:nvSpPr>
        <p:spPr bwMode="auto">
          <a:xfrm rot="1500000">
            <a:off x="6122988" y="490538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6" name="Rectangle 8"/>
          <p:cNvSpPr>
            <a:spLocks noChangeArrowheads="1"/>
          </p:cNvSpPr>
          <p:nvPr/>
        </p:nvSpPr>
        <p:spPr bwMode="auto">
          <a:xfrm>
            <a:off x="215900" y="2725738"/>
            <a:ext cx="8893175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712788" indent="-71278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：下列叙述表示可逆反应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</a:t>
            </a:r>
            <a:r>
              <a:rPr kumimoji="1" lang="en-US" altLang="zh-CN" sz="2400" b="0">
                <a:latin typeface="Times New Roman" panose="02020603050405020304" pitchFamily="18" charset="0"/>
              </a:rPr>
              <a:t>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+3H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</a:t>
            </a:r>
            <a:r>
              <a:rPr kumimoji="1" lang="en-US" altLang="zh-CN" sz="2400" b="0">
                <a:latin typeface="Times New Roman" panose="02020603050405020304" pitchFamily="18" charset="0"/>
              </a:rPr>
              <a:t>            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2NH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一定处于平衡状态的是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NH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的百分含量相等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．单位时间消耗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 mol N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的同时消耗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3a mol H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 C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．单位时间内消耗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 mol N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的同时生成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3a mol H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 D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．反应若在定容的密闭容器中进行，温度一定时，压强不随时间改变</a:t>
            </a:r>
          </a:p>
        </p:txBody>
      </p:sp>
      <p:sp>
        <p:nvSpPr>
          <p:cNvPr id="33801" name="Text Box 9"/>
          <p:cNvSpPr txBox="1">
            <a:spLocks noChangeArrowheads="1"/>
          </p:cNvSpPr>
          <p:nvPr/>
        </p:nvSpPr>
        <p:spPr bwMode="auto">
          <a:xfrm>
            <a:off x="4284663" y="2725738"/>
            <a:ext cx="1238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>
                <a:solidFill>
                  <a:srgbClr val="FFFF00"/>
                </a:solidFill>
                <a:latin typeface="Times New Roman" panose="02020603050405020304" pitchFamily="18" charset="0"/>
              </a:rPr>
              <a:t>CD</a:t>
            </a: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43018" name="Line 10"/>
          <p:cNvSpPr>
            <a:spLocks noChangeShapeType="1"/>
          </p:cNvSpPr>
          <p:nvPr/>
        </p:nvSpPr>
        <p:spPr bwMode="auto">
          <a:xfrm>
            <a:off x="2257425" y="3349625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9" name="Line 11"/>
          <p:cNvSpPr>
            <a:spLocks noChangeShapeType="1"/>
          </p:cNvSpPr>
          <p:nvPr/>
        </p:nvSpPr>
        <p:spPr bwMode="auto">
          <a:xfrm rot="1500000">
            <a:off x="2246313" y="33940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20" name="Line 12"/>
          <p:cNvSpPr>
            <a:spLocks noChangeShapeType="1"/>
          </p:cNvSpPr>
          <p:nvPr/>
        </p:nvSpPr>
        <p:spPr bwMode="auto">
          <a:xfrm>
            <a:off x="2257425" y="3273425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21" name="Line 13"/>
          <p:cNvSpPr>
            <a:spLocks noChangeShapeType="1"/>
          </p:cNvSpPr>
          <p:nvPr/>
        </p:nvSpPr>
        <p:spPr bwMode="auto">
          <a:xfrm rot="1500000">
            <a:off x="2771775" y="32289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/>
      <p:bldP spid="33801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215900" y="188913"/>
            <a:ext cx="882015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：在恒温下的密闭容器中，有可逆反应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2NO (g) +O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(g)             2NO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(g)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；△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H&lt;0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，不能说明已达到平衡状态的是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NO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与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的生成速率相等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．反应器中的压强不随时间的变化而变化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．混合气体颜色深浅保持不变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．混合气体平均分子量保持不变</a:t>
            </a: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6084888" y="188913"/>
            <a:ext cx="10175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44036" name="Line 4"/>
          <p:cNvSpPr>
            <a:spLocks noChangeShapeType="1"/>
          </p:cNvSpPr>
          <p:nvPr/>
        </p:nvSpPr>
        <p:spPr bwMode="auto">
          <a:xfrm>
            <a:off x="2495550" y="830263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7" name="Line 5"/>
          <p:cNvSpPr>
            <a:spLocks noChangeShapeType="1"/>
          </p:cNvSpPr>
          <p:nvPr/>
        </p:nvSpPr>
        <p:spPr bwMode="auto">
          <a:xfrm rot="1500000">
            <a:off x="2484438" y="874713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8" name="Line 6"/>
          <p:cNvSpPr>
            <a:spLocks noChangeShapeType="1"/>
          </p:cNvSpPr>
          <p:nvPr/>
        </p:nvSpPr>
        <p:spPr bwMode="auto">
          <a:xfrm>
            <a:off x="2495550" y="754063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9" name="Line 7"/>
          <p:cNvSpPr>
            <a:spLocks noChangeShapeType="1"/>
          </p:cNvSpPr>
          <p:nvPr/>
        </p:nvSpPr>
        <p:spPr bwMode="auto">
          <a:xfrm rot="1500000">
            <a:off x="3009900" y="709613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0" name="Rectangle 8"/>
          <p:cNvSpPr>
            <a:spLocks noChangeArrowheads="1"/>
          </p:cNvSpPr>
          <p:nvPr/>
        </p:nvSpPr>
        <p:spPr bwMode="auto">
          <a:xfrm>
            <a:off x="179388" y="2874963"/>
            <a:ext cx="8964612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：一定条件下，在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2NO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          N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的可逆反应中，下列状态说明达到平衡状态的标志是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n(N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)=n(NO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的状态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处于不再分解状态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NO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的分子数与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O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分子数比为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1:2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状态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．体系的颜色不再发生改变的状态</a:t>
            </a:r>
          </a:p>
        </p:txBody>
      </p:sp>
      <p:sp>
        <p:nvSpPr>
          <p:cNvPr id="35849" name="Text Box 9"/>
          <p:cNvSpPr txBox="1">
            <a:spLocks noChangeArrowheads="1"/>
          </p:cNvSpPr>
          <p:nvPr/>
        </p:nvSpPr>
        <p:spPr bwMode="auto">
          <a:xfrm>
            <a:off x="6948488" y="3306763"/>
            <a:ext cx="10175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>
                <a:solidFill>
                  <a:srgbClr val="FFFF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44042" name="Line 10"/>
          <p:cNvSpPr>
            <a:spLocks noChangeShapeType="1"/>
          </p:cNvSpPr>
          <p:nvPr/>
        </p:nvSpPr>
        <p:spPr bwMode="auto">
          <a:xfrm>
            <a:off x="3933825" y="3140075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3" name="Line 11"/>
          <p:cNvSpPr>
            <a:spLocks noChangeShapeType="1"/>
          </p:cNvSpPr>
          <p:nvPr/>
        </p:nvSpPr>
        <p:spPr bwMode="auto">
          <a:xfrm rot="1500000">
            <a:off x="3922713" y="318452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4" name="Line 12"/>
          <p:cNvSpPr>
            <a:spLocks noChangeShapeType="1"/>
          </p:cNvSpPr>
          <p:nvPr/>
        </p:nvSpPr>
        <p:spPr bwMode="auto">
          <a:xfrm>
            <a:off x="3933825" y="3063875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5" name="Line 13"/>
          <p:cNvSpPr>
            <a:spLocks noChangeShapeType="1"/>
          </p:cNvSpPr>
          <p:nvPr/>
        </p:nvSpPr>
        <p:spPr bwMode="auto">
          <a:xfrm rot="1500000">
            <a:off x="4448175" y="301942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autoUpdateAnimBg="0"/>
      <p:bldP spid="35849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250825" y="2670175"/>
            <a:ext cx="8964613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6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：对于固定体积的密闭容器中进行的气体反应可以说明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A(g)+B(g)            C(g)+D(g)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在恒温下已达到平衡状态的是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．反应容器中压强不随时间而变化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气体和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气体的生成速率相等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三种气体的生成速率相等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．反应混合气体的密度不随时间而变化</a:t>
            </a: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6731000" y="3478213"/>
            <a:ext cx="10175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>
                <a:solidFill>
                  <a:srgbClr val="FFFF00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45060" name="Line 4"/>
          <p:cNvSpPr>
            <a:spLocks noChangeShapeType="1"/>
          </p:cNvSpPr>
          <p:nvPr/>
        </p:nvSpPr>
        <p:spPr bwMode="auto">
          <a:xfrm>
            <a:off x="1755775" y="3325813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1" name="Line 5"/>
          <p:cNvSpPr>
            <a:spLocks noChangeShapeType="1"/>
          </p:cNvSpPr>
          <p:nvPr/>
        </p:nvSpPr>
        <p:spPr bwMode="auto">
          <a:xfrm rot="1500000">
            <a:off x="1744663" y="3370263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2" name="Line 6"/>
          <p:cNvSpPr>
            <a:spLocks noChangeShapeType="1"/>
          </p:cNvSpPr>
          <p:nvPr/>
        </p:nvSpPr>
        <p:spPr bwMode="auto">
          <a:xfrm>
            <a:off x="1755775" y="3249613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3" name="Line 7"/>
          <p:cNvSpPr>
            <a:spLocks noChangeShapeType="1"/>
          </p:cNvSpPr>
          <p:nvPr/>
        </p:nvSpPr>
        <p:spPr bwMode="auto">
          <a:xfrm rot="1500000">
            <a:off x="2270125" y="3205163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4" name="Rectangle 14"/>
          <p:cNvSpPr>
            <a:spLocks noChangeArrowheads="1"/>
          </p:cNvSpPr>
          <p:nvPr/>
        </p:nvSpPr>
        <p:spPr bwMode="auto">
          <a:xfrm>
            <a:off x="250825" y="282575"/>
            <a:ext cx="8893175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：下列说法中，可以表示反应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 +3H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              2NH</a:t>
            </a:r>
            <a:r>
              <a:rPr kumimoji="1"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(g)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，已达到平衡的是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1mol N</a:t>
            </a:r>
            <a:r>
              <a:rPr kumimoji="1" lang="en-US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≡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三键断裂的同时有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3 mol H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键生成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1mol N</a:t>
            </a:r>
            <a:r>
              <a:rPr kumimoji="1" lang="en-US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≡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三键断裂的同时有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3 mol H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键断裂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1mol N</a:t>
            </a:r>
            <a:r>
              <a:rPr kumimoji="1" lang="en-US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≡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三键断裂的同时有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6  mol N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键生成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1mol N</a:t>
            </a:r>
            <a:r>
              <a:rPr kumimoji="1" lang="en-US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≡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三键断裂的同时有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6  mol N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H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键断裂</a:t>
            </a:r>
          </a:p>
        </p:txBody>
      </p:sp>
      <p:sp>
        <p:nvSpPr>
          <p:cNvPr id="36879" name="Text Box 15"/>
          <p:cNvSpPr txBox="1">
            <a:spLocks noChangeArrowheads="1"/>
          </p:cNvSpPr>
          <p:nvPr/>
        </p:nvSpPr>
        <p:spPr bwMode="auto">
          <a:xfrm>
            <a:off x="7561263" y="260350"/>
            <a:ext cx="1238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>
                <a:solidFill>
                  <a:srgbClr val="FFFF00"/>
                </a:solidFill>
                <a:latin typeface="Times New Roman" panose="02020603050405020304" pitchFamily="18" charset="0"/>
              </a:rPr>
              <a:t>AD</a:t>
            </a: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45066" name="Line 16"/>
          <p:cNvSpPr>
            <a:spLocks noChangeShapeType="1"/>
          </p:cNvSpPr>
          <p:nvPr/>
        </p:nvSpPr>
        <p:spPr bwMode="auto">
          <a:xfrm>
            <a:off x="2365375" y="936625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7" name="Line 17"/>
          <p:cNvSpPr>
            <a:spLocks noChangeShapeType="1"/>
          </p:cNvSpPr>
          <p:nvPr/>
        </p:nvSpPr>
        <p:spPr bwMode="auto">
          <a:xfrm rot="1500000">
            <a:off x="2354263" y="9810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8" name="Line 18"/>
          <p:cNvSpPr>
            <a:spLocks noChangeShapeType="1"/>
          </p:cNvSpPr>
          <p:nvPr/>
        </p:nvSpPr>
        <p:spPr bwMode="auto">
          <a:xfrm>
            <a:off x="2365375" y="860425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9" name="Line 19"/>
          <p:cNvSpPr>
            <a:spLocks noChangeShapeType="1"/>
          </p:cNvSpPr>
          <p:nvPr/>
        </p:nvSpPr>
        <p:spPr bwMode="auto">
          <a:xfrm rot="1500000">
            <a:off x="2879725" y="8159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/>
      <p:bldP spid="3687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4"/>
          <p:cNvSpPr txBox="1">
            <a:spLocks noChangeArrowheads="1"/>
          </p:cNvSpPr>
          <p:nvPr/>
        </p:nvSpPr>
        <p:spPr bwMode="auto">
          <a:xfrm>
            <a:off x="152400" y="2305050"/>
            <a:ext cx="891540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8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：一定条件下，将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与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以体积比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1∶2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置于密闭容器中发生反应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(g)+SO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            SO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(g)+NO(g)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，下列能说明反应达到平衡状态的是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．体系压强保持不变  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．混合气体颜色保持不变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的体积比保持不变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 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SO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NO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的体积比保持不变 </a:t>
            </a:r>
          </a:p>
        </p:txBody>
      </p:sp>
      <p:sp>
        <p:nvSpPr>
          <p:cNvPr id="46083" name="Text Box 5"/>
          <p:cNvSpPr txBox="1">
            <a:spLocks noChangeArrowheads="1"/>
          </p:cNvSpPr>
          <p:nvPr/>
        </p:nvSpPr>
        <p:spPr bwMode="auto">
          <a:xfrm>
            <a:off x="152400" y="323850"/>
            <a:ext cx="8624888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7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：在一定温度下的固定体积密闭容器中，当下列物理量不再变化时，表明反应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A(s)+2B(g)            C(g)+D(g)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已达到平衡状态的是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 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混合气体的压强        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B 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混合气体的密度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  A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的浓度                      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D 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气体的总物质的量</a:t>
            </a:r>
          </a:p>
        </p:txBody>
      </p:sp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7834313" y="1012825"/>
            <a:ext cx="1000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>
                <a:solidFill>
                  <a:srgbClr val="FFFF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46085" name="Line 7"/>
          <p:cNvSpPr>
            <a:spLocks noChangeShapeType="1"/>
          </p:cNvSpPr>
          <p:nvPr/>
        </p:nvSpPr>
        <p:spPr bwMode="auto">
          <a:xfrm>
            <a:off x="4224338" y="965200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6" name="Line 8"/>
          <p:cNvSpPr>
            <a:spLocks noChangeShapeType="1"/>
          </p:cNvSpPr>
          <p:nvPr/>
        </p:nvSpPr>
        <p:spPr bwMode="auto">
          <a:xfrm rot="1500000">
            <a:off x="4213225" y="100965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7" name="Line 9"/>
          <p:cNvSpPr>
            <a:spLocks noChangeShapeType="1"/>
          </p:cNvSpPr>
          <p:nvPr/>
        </p:nvSpPr>
        <p:spPr bwMode="auto">
          <a:xfrm>
            <a:off x="4224338" y="889000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8" name="Line 10"/>
          <p:cNvSpPr>
            <a:spLocks noChangeShapeType="1"/>
          </p:cNvSpPr>
          <p:nvPr/>
        </p:nvSpPr>
        <p:spPr bwMode="auto">
          <a:xfrm rot="1500000">
            <a:off x="4738688" y="84455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95" name="Text Box 11"/>
          <p:cNvSpPr txBox="1">
            <a:spLocks noChangeArrowheads="1"/>
          </p:cNvSpPr>
          <p:nvPr/>
        </p:nvSpPr>
        <p:spPr bwMode="auto">
          <a:xfrm>
            <a:off x="7543800" y="3219450"/>
            <a:ext cx="1220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>
                <a:solidFill>
                  <a:srgbClr val="FFFF00"/>
                </a:solidFill>
                <a:latin typeface="Times New Roman" panose="02020603050405020304" pitchFamily="18" charset="0"/>
              </a:rPr>
              <a:t>BC</a:t>
            </a: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46090" name="Line 12"/>
          <p:cNvSpPr>
            <a:spLocks noChangeShapeType="1"/>
          </p:cNvSpPr>
          <p:nvPr/>
        </p:nvSpPr>
        <p:spPr bwMode="auto">
          <a:xfrm>
            <a:off x="3232150" y="2946400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1" name="Line 13"/>
          <p:cNvSpPr>
            <a:spLocks noChangeShapeType="1"/>
          </p:cNvSpPr>
          <p:nvPr/>
        </p:nvSpPr>
        <p:spPr bwMode="auto">
          <a:xfrm rot="1500000">
            <a:off x="3221038" y="299085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2" name="Line 14"/>
          <p:cNvSpPr>
            <a:spLocks noChangeShapeType="1"/>
          </p:cNvSpPr>
          <p:nvPr/>
        </p:nvSpPr>
        <p:spPr bwMode="auto">
          <a:xfrm>
            <a:off x="3232150" y="2870200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3" name="Line 15"/>
          <p:cNvSpPr>
            <a:spLocks noChangeShapeType="1"/>
          </p:cNvSpPr>
          <p:nvPr/>
        </p:nvSpPr>
        <p:spPr bwMode="auto">
          <a:xfrm rot="1500000">
            <a:off x="3746500" y="282575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0" grpId="0"/>
      <p:bldP spid="4199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Line 5"/>
          <p:cNvSpPr>
            <a:spLocks noChangeShapeType="1"/>
          </p:cNvSpPr>
          <p:nvPr/>
        </p:nvSpPr>
        <p:spPr bwMode="auto">
          <a:xfrm>
            <a:off x="5222875" y="962025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7" name="Line 6"/>
          <p:cNvSpPr>
            <a:spLocks noChangeShapeType="1"/>
          </p:cNvSpPr>
          <p:nvPr/>
        </p:nvSpPr>
        <p:spPr bwMode="auto">
          <a:xfrm rot="1500000">
            <a:off x="5211763" y="10064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8" name="Line 7"/>
          <p:cNvSpPr>
            <a:spLocks noChangeShapeType="1"/>
          </p:cNvSpPr>
          <p:nvPr/>
        </p:nvSpPr>
        <p:spPr bwMode="auto">
          <a:xfrm>
            <a:off x="5222875" y="885825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9" name="Line 8"/>
          <p:cNvSpPr>
            <a:spLocks noChangeShapeType="1"/>
          </p:cNvSpPr>
          <p:nvPr/>
        </p:nvSpPr>
        <p:spPr bwMode="auto">
          <a:xfrm rot="1500000">
            <a:off x="5737225" y="841375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10" name="Text Box 9"/>
          <p:cNvSpPr txBox="1">
            <a:spLocks noChangeArrowheads="1"/>
          </p:cNvSpPr>
          <p:nvPr/>
        </p:nvSpPr>
        <p:spPr bwMode="auto">
          <a:xfrm>
            <a:off x="228600" y="304800"/>
            <a:ext cx="8610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9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：在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300mL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密闭容器中，放入镍粉并充入一定量的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CO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气体，一定条件下发生反应：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Ni(s)+4CO(g)            Ni(CO)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，已知该反应平衡常数与温度的关系如下表，下列说法不正确的是</a:t>
            </a:r>
          </a:p>
        </p:txBody>
      </p:sp>
      <p:graphicFrame>
        <p:nvGraphicFramePr>
          <p:cNvPr id="44108" name="Group 76"/>
          <p:cNvGraphicFramePr>
            <a:graphicFrameLocks noGrp="1"/>
          </p:cNvGraphicFramePr>
          <p:nvPr/>
        </p:nvGraphicFramePr>
        <p:xfrm>
          <a:off x="533400" y="1600200"/>
          <a:ext cx="7239000" cy="91440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/>
                  </a:extLst>
                </a:gridCol>
                <a:gridCol w="1809750">
                  <a:extLst>
                    <a:ext uri="{9D8B030D-6E8A-4147-A177-3AD203B41FA5}"/>
                  </a:extLst>
                </a:gridCol>
                <a:gridCol w="1809750">
                  <a:extLst>
                    <a:ext uri="{9D8B030D-6E8A-4147-A177-3AD203B41FA5}"/>
                  </a:extLst>
                </a:gridCol>
                <a:gridCol w="1809750">
                  <a:extLst>
                    <a:ext uri="{9D8B030D-6E8A-4147-A177-3AD203B41FA5}"/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温度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/℃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230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平衡常数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5×10</a:t>
                      </a:r>
                      <a:r>
                        <a:rPr kumimoji="0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1.9×10</a:t>
                      </a:r>
                      <a:r>
                        <a:rPr kumimoji="0" lang="zh-CN" altLang="en-US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－</a:t>
                      </a:r>
                      <a:r>
                        <a:rPr kumimoji="0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47128" name="Text Box 77"/>
          <p:cNvSpPr txBox="1">
            <a:spLocks noChangeArrowheads="1"/>
          </p:cNvSpPr>
          <p:nvPr/>
        </p:nvSpPr>
        <p:spPr bwMode="auto">
          <a:xfrm>
            <a:off x="228600" y="2667000"/>
            <a:ext cx="8610600" cy="267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．上述生成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Ni(CO)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的反应为吸热反应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25℃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时反应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Ni(CO)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(g)              Ni(s)+4CO(g)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的平衡常数为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2×10</a:t>
            </a:r>
            <a:r>
              <a:rPr lang="zh-CN" altLang="en-US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80℃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时，测得某时刻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Ni(CO)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CO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浓度均为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0.5mol·L</a:t>
            </a:r>
            <a:r>
              <a:rPr lang="zh-CN" altLang="en-US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，则此时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正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&gt;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en-US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逆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．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80℃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达到平衡时，测得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n(CO)=0.3mol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，则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Ni(CO)</a:t>
            </a:r>
            <a:r>
              <a:rPr lang="en-US" altLang="zh-CN" sz="2400" baseline="-2500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的平衡浓度为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2mol·L</a:t>
            </a:r>
            <a:r>
              <a:rPr lang="zh-CN" altLang="en-US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－</a:t>
            </a:r>
            <a:r>
              <a:rPr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44110" name="Text Box 78"/>
          <p:cNvSpPr txBox="1">
            <a:spLocks noChangeArrowheads="1"/>
          </p:cNvSpPr>
          <p:nvPr/>
        </p:nvSpPr>
        <p:spPr bwMode="auto">
          <a:xfrm>
            <a:off x="7905750" y="1524000"/>
            <a:ext cx="1238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sz="2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AC</a:t>
            </a:r>
            <a:r>
              <a:rPr lang="zh-CN" altLang="en-US" sz="24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47130" name="Line 79"/>
          <p:cNvSpPr>
            <a:spLocks noChangeShapeType="1"/>
          </p:cNvSpPr>
          <p:nvPr/>
        </p:nvSpPr>
        <p:spPr bwMode="auto">
          <a:xfrm>
            <a:off x="3944938" y="3308350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31" name="Line 80"/>
          <p:cNvSpPr>
            <a:spLocks noChangeShapeType="1"/>
          </p:cNvSpPr>
          <p:nvPr/>
        </p:nvSpPr>
        <p:spPr bwMode="auto">
          <a:xfrm rot="1500000">
            <a:off x="3933825" y="335280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32" name="Line 81"/>
          <p:cNvSpPr>
            <a:spLocks noChangeShapeType="1"/>
          </p:cNvSpPr>
          <p:nvPr/>
        </p:nvSpPr>
        <p:spPr bwMode="auto">
          <a:xfrm>
            <a:off x="3944938" y="3232150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33" name="Line 82"/>
          <p:cNvSpPr>
            <a:spLocks noChangeShapeType="1"/>
          </p:cNvSpPr>
          <p:nvPr/>
        </p:nvSpPr>
        <p:spPr bwMode="auto">
          <a:xfrm rot="1500000">
            <a:off x="4459288" y="3187700"/>
            <a:ext cx="215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10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3">
      <a:dk1>
        <a:srgbClr val="336699"/>
      </a:dk1>
      <a:lt1>
        <a:srgbClr val="FFFFFF"/>
      </a:lt1>
      <a:dk2>
        <a:srgbClr val="000000"/>
      </a:dk2>
      <a:lt2>
        <a:srgbClr val="E3EBF1"/>
      </a:lt2>
      <a:accent1>
        <a:srgbClr val="003399"/>
      </a:accent1>
      <a:accent2>
        <a:srgbClr val="468A4B"/>
      </a:accent2>
      <a:accent3>
        <a:srgbClr val="AAAAAA"/>
      </a:accent3>
      <a:accent4>
        <a:srgbClr val="DADADA"/>
      </a:accent4>
      <a:accent5>
        <a:srgbClr val="AAADCA"/>
      </a:accent5>
      <a:accent6>
        <a:srgbClr val="3F7D43"/>
      </a:accent6>
      <a:hlink>
        <a:srgbClr val="FFFF00"/>
      </a:hlink>
      <a:folHlink>
        <a:srgbClr val="F0E5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黑体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FFFF00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1238</TotalTime>
  <Words>5239</Words>
  <Application>Microsoft Office PowerPoint</Application>
  <PresentationFormat>全屏显示(4:3)</PresentationFormat>
  <Paragraphs>537</Paragraphs>
  <Slides>46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7" baseType="lpstr">
      <vt:lpstr>黑体</vt:lpstr>
      <vt:lpstr>华文行楷</vt:lpstr>
      <vt:lpstr>华文新魏</vt:lpstr>
      <vt:lpstr>宋体</vt:lpstr>
      <vt:lpstr>微软雅黑</vt:lpstr>
      <vt:lpstr>Arial</vt:lpstr>
      <vt:lpstr>Cambria Math</vt:lpstr>
      <vt:lpstr>Times New Roman</vt:lpstr>
      <vt:lpstr>Wingdings</vt:lpstr>
      <vt:lpstr>默认设计模板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Riwkq</dc:creator>
  <cp:lastModifiedBy>朱侃</cp:lastModifiedBy>
  <cp:revision>217</cp:revision>
  <cp:lastPrinted>1601-01-01T00:00:00Z</cp:lastPrinted>
  <dcterms:created xsi:type="dcterms:W3CDTF">1601-01-01T00:00:00Z</dcterms:created>
  <dcterms:modified xsi:type="dcterms:W3CDTF">2020-09-27T06:29:27Z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