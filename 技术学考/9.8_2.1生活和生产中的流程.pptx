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6"/>
  </p:handoutMasterIdLst>
  <p:sldIdLst>
    <p:sldId id="258" r:id="rId4"/>
    <p:sldId id="387" r:id="rId6"/>
    <p:sldId id="377" r:id="rId7"/>
    <p:sldId id="405" r:id="rId8"/>
    <p:sldId id="404" r:id="rId9"/>
    <p:sldId id="440" r:id="rId10"/>
    <p:sldId id="411" r:id="rId11"/>
    <p:sldId id="385" r:id="rId12"/>
    <p:sldId id="436" r:id="rId13"/>
    <p:sldId id="451" r:id="rId14"/>
    <p:sldId id="448" r:id="rId15"/>
    <p:sldId id="425" r:id="rId16"/>
    <p:sldId id="426" r:id="rId17"/>
    <p:sldId id="431" r:id="rId18"/>
    <p:sldId id="442" r:id="rId19"/>
    <p:sldId id="321" r:id="rId20"/>
    <p:sldId id="443" r:id="rId21"/>
    <p:sldId id="439" r:id="rId22"/>
    <p:sldId id="444" r:id="rId23"/>
    <p:sldId id="447" r:id="rId24"/>
    <p:sldId id="449" r:id="rId25"/>
    <p:sldId id="450" r:id="rId26"/>
    <p:sldId id="399" r:id="rId27"/>
    <p:sldId id="452" r:id="rId28"/>
    <p:sldId id="420" r:id="rId29"/>
    <p:sldId id="474" r:id="rId30"/>
    <p:sldId id="475" r:id="rId31"/>
    <p:sldId id="476" r:id="rId32"/>
    <p:sldId id="324" r:id="rId33"/>
    <p:sldId id="325" r:id="rId34"/>
    <p:sldId id="419" r:id="rId35"/>
  </p:sldIdLst>
  <p:sldSz cx="9144000" cy="6858000" type="screen4x3"/>
  <p:notesSz cx="10020300" cy="6888480"/>
  <p:defaultTextStyle>
    <a:defPPr>
      <a:defRPr lang="ko-KR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Y강B"/>
        <a:ea typeface="HY강B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9A96"/>
    <a:srgbClr val="00DBD6"/>
    <a:srgbClr val="FFFFFF"/>
    <a:srgbClr val="008000"/>
    <a:srgbClr val="0066CC"/>
    <a:srgbClr val="CC0000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47"/>
    <p:restoredTop sz="92452"/>
  </p:normalViewPr>
  <p:slideViewPr>
    <p:cSldViewPr snapToGrid="0" showGuides="1">
      <p:cViewPr>
        <p:scale>
          <a:sx n="66" d="100"/>
          <a:sy n="66" d="100"/>
        </p:scale>
        <p:origin x="-1368" y="-84"/>
      </p:cViewPr>
      <p:guideLst>
        <p:guide orient="horz" pos="214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1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>
            <a:lvl1pPr algn="l" latinLnBrk="1">
              <a:defRPr sz="1300">
                <a:latin typeface="HY강B" pitchFamily="18" charset="-127"/>
                <a:ea typeface="HY강B" pitchFamily="18" charset="-127"/>
                <a:cs typeface="+mn-cs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76900" y="0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>
            <a:lvl1pPr algn="r" latinLnBrk="1">
              <a:defRPr sz="1300">
                <a:latin typeface="HY강B" pitchFamily="18" charset="-127"/>
                <a:ea typeface="HY강B" pitchFamily="18" charset="-127"/>
                <a:cs typeface="+mn-cs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02CAA9-B64F-4CD4-AFC4-2E1E7F46CB93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  <p:sp>
        <p:nvSpPr>
          <p:cNvPr id="2416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42088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b" anchorCtr="0" compatLnSpc="1"/>
          <a:lstStyle>
            <a:lvl1pPr algn="l" latinLnBrk="1">
              <a:defRPr sz="1300">
                <a:latin typeface="HY강B" pitchFamily="18" charset="-127"/>
                <a:ea typeface="HY강B" pitchFamily="18" charset="-127"/>
                <a:cs typeface="+mn-cs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  <p:sp>
        <p:nvSpPr>
          <p:cNvPr id="2416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76900" y="6542088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b" anchorCtr="0" compatLnSpc="1"/>
          <a:p>
            <a:pPr lvl="0" algn="r" eaLnBrk="1" fontAlgn="base" latinLnBrk="1" hangingPunct="1">
              <a:buNone/>
            </a:pPr>
            <a:fld id="{9A0DB2DC-4C9A-4742-B13C-FB6460FD3503}" type="slidenum">
              <a:rPr lang="en-US" altLang="ko-KR" sz="1300" strike="noStrike" noProof="1" dirty="0">
                <a:latin typeface="HY강B"/>
                <a:ea typeface="HY강B"/>
                <a:cs typeface="+mn-cs"/>
              </a:rPr>
            </a:fld>
            <a:endParaRPr lang="en-US" altLang="ko-KR" sz="13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>
            <a:lvl1pPr algn="l" latinLnBrk="1">
              <a:defRPr sz="1300">
                <a:latin typeface="HY강B" pitchFamily="18" charset="-127"/>
                <a:ea typeface="HY강B" pitchFamily="18" charset="-127"/>
                <a:cs typeface="+mn-cs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76900" y="0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>
            <a:lvl1pPr algn="r" latinLnBrk="1">
              <a:defRPr sz="1300">
                <a:latin typeface="HY강B" pitchFamily="18" charset="-127"/>
                <a:ea typeface="HY강B" pitchFamily="18" charset="-127"/>
                <a:cs typeface="+mn-cs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91754-2E25-46DB-AC55-F2EE3551D96B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287713" y="515938"/>
            <a:ext cx="3446462" cy="2584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1713" y="3271838"/>
            <a:ext cx="8016875" cy="31003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t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HY강B"/>
              </a:rPr>
              <a:t>마스터 텍스트 스타일을 편집합니다</a:t>
            </a:r>
            <a:endParaRPr kumimoji="1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HY강B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HY강B"/>
              </a:rPr>
              <a:t>둘째 수준</a:t>
            </a:r>
            <a:endParaRPr kumimoji="1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HY강B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HY강B"/>
              </a:rPr>
              <a:t>셋째 수준</a:t>
            </a:r>
            <a:endParaRPr kumimoji="1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HY강B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HY강B"/>
              </a:rPr>
              <a:t>넷째 수준</a:t>
            </a:r>
            <a:endParaRPr kumimoji="1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HY강B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HY강B"/>
              </a:rPr>
              <a:t>다섯째 수준</a:t>
            </a:r>
            <a:endParaRPr kumimoji="1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HY강B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42088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b" anchorCtr="0" compatLnSpc="1"/>
          <a:lstStyle>
            <a:lvl1pPr algn="l" latinLnBrk="1">
              <a:defRPr sz="1300">
                <a:latin typeface="HY강B" pitchFamily="18" charset="-127"/>
                <a:ea typeface="HY강B" pitchFamily="18" charset="-127"/>
                <a:cs typeface="+mn-cs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76900" y="6542088"/>
            <a:ext cx="4341813" cy="344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16" tIns="48308" rIns="96616" bIns="48308" numCol="1" anchor="b" anchorCtr="0" compatLnSpc="1"/>
          <a:p>
            <a:pPr lvl="0" algn="r" eaLnBrk="1" fontAlgn="base" latinLnBrk="1" hangingPunct="1">
              <a:buNone/>
            </a:pPr>
            <a:fld id="{9A0DB2DC-4C9A-4742-B13C-FB6460FD3503}" type="slidenum">
              <a:rPr lang="en-US" altLang="ko-KR" sz="1300" strike="noStrike" noProof="1" dirty="0">
                <a:latin typeface="HY강B"/>
                <a:ea typeface="HY강B"/>
                <a:cs typeface="+mn-cs"/>
              </a:rPr>
            </a:fld>
            <a:endParaRPr lang="en-US" altLang="ko-KR" sz="13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강B" pitchFamily="18" charset="-127"/>
        <a:ea typeface="HY강B" pitchFamily="18" charset="-127"/>
        <a:cs typeface="HY강B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강B" pitchFamily="18" charset="-127"/>
        <a:ea typeface="HY강B" pitchFamily="18" charset="-127"/>
        <a:cs typeface="HY강B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강B" pitchFamily="18" charset="-127"/>
        <a:ea typeface="HY강B" pitchFamily="18" charset="-127"/>
        <a:cs typeface="HY강B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강B" pitchFamily="18" charset="-127"/>
        <a:ea typeface="HY강B" pitchFamily="18" charset="-127"/>
        <a:cs typeface="HY강B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강B" pitchFamily="18" charset="-127"/>
        <a:ea typeface="HY강B" pitchFamily="18" charset="-127"/>
        <a:cs typeface="HY강B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0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我们今天学习的是套路的同义词，流程。看看流程包含哪些要素，合理的流程对生活生产有哪些意义。</a:t>
            </a:r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705E0B-574B-4986-A835-115CE52B39F9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8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环节的划分是相对的，分法不一，环节本身又可以是一个流程，可分解。</a:t>
            </a:r>
            <a:endParaRPr lang="zh-CN" altLang="en-US" dirty="0"/>
          </a:p>
          <a:p>
            <a:pPr lvl="0"/>
            <a:r>
              <a:rPr lang="en-US" altLang="zh-CN" dirty="0"/>
              <a:t>7:30</a:t>
            </a:r>
            <a:r>
              <a:rPr lang="zh-CN" altLang="en-US" dirty="0"/>
              <a:t>早读，家距学校</a:t>
            </a:r>
            <a:r>
              <a:rPr lang="en-US" altLang="zh-CN" dirty="0"/>
              <a:t>20</a:t>
            </a:r>
            <a:r>
              <a:rPr lang="zh-CN" altLang="en-US" dirty="0"/>
              <a:t>分钟自行车程。</a:t>
            </a:r>
            <a:r>
              <a:rPr lang="en-US" altLang="zh-CN" dirty="0"/>
              <a:t>6:30</a:t>
            </a:r>
            <a:r>
              <a:rPr lang="zh-CN" altLang="en-US" dirty="0"/>
              <a:t>起床和</a:t>
            </a:r>
            <a:r>
              <a:rPr lang="en-US" altLang="zh-CN" dirty="0"/>
              <a:t>7:05</a:t>
            </a:r>
            <a:r>
              <a:rPr lang="zh-CN" altLang="en-US" dirty="0"/>
              <a:t>起床流程不同。</a:t>
            </a:r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E4D1EF-8286-4D6E-AE88-FCB7DCEE27B8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6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人们做事一般带有目的性，为了目的按照一定顺序完成的一系列事情即为流程。简单的说，为了一定的目的去做事情的顺序。</a:t>
            </a:r>
            <a:endParaRPr lang="zh-CN" altLang="en-US" dirty="0"/>
          </a:p>
          <a:p>
            <a:pPr lvl="0" eaLnBrk="1" latinLnBrk="0" hangingPunct="1">
              <a:spcBef>
                <a:spcPct val="0"/>
              </a:spcBef>
            </a:pPr>
            <a:r>
              <a:rPr lang="zh-CN" altLang="en-US" dirty="0"/>
              <a:t>任何流程反映了一定的</a:t>
            </a:r>
            <a:r>
              <a:rPr lang="zh-CN" altLang="en-US" dirty="0">
                <a:solidFill>
                  <a:srgbClr val="A50021"/>
                </a:solidFill>
              </a:rPr>
              <a:t>时序</a:t>
            </a:r>
            <a:r>
              <a:rPr lang="zh-CN" altLang="en-US" dirty="0"/>
              <a:t>，体现出一定的</a:t>
            </a:r>
            <a:r>
              <a:rPr lang="zh-CN" altLang="en-US" dirty="0">
                <a:solidFill>
                  <a:srgbClr val="A50021"/>
                </a:solidFill>
              </a:rPr>
              <a:t>环节</a:t>
            </a:r>
            <a:r>
              <a:rPr lang="zh-CN" altLang="en-US" dirty="0"/>
              <a:t>。</a:t>
            </a:r>
            <a:endParaRPr lang="en-US" altLang="zh-CN" dirty="0"/>
          </a:p>
          <a:p>
            <a:pPr lvl="0" eaLnBrk="1" latinLnBrk="0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环节：把完成某个具体目标、组成某项生产或某个活动的</a:t>
            </a:r>
            <a:r>
              <a:rPr lang="zh-CN" altLang="en-US" dirty="0">
                <a:solidFill>
                  <a:srgbClr val="CC0000"/>
                </a:solidFill>
                <a:ea typeface="宋体" panose="02010600030101010101" pitchFamily="2" charset="-122"/>
              </a:rPr>
              <a:t>若干阶段或小的过程</a:t>
            </a:r>
            <a:r>
              <a:rPr lang="zh-CN" altLang="en-US" dirty="0">
                <a:ea typeface="宋体" panose="02010600030101010101" pitchFamily="2" charset="-122"/>
              </a:rPr>
              <a:t>称之为环节。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 eaLnBrk="1" latinLnBrk="0" hangingPunct="1">
              <a:spcBef>
                <a:spcPct val="0"/>
              </a:spcBef>
            </a:pP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EF5555-DEA6-46B8-B55A-05A8CAB21E7F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环节的划分是相对的，分法不一，环节本身又可以是一个流程，可分解。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EF2759-C73B-4BC1-82A0-1D05ACE4AAF4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假设你家距离学校</a:t>
            </a:r>
            <a:r>
              <a:rPr lang="en-US" altLang="zh-CN" dirty="0"/>
              <a:t>30</a:t>
            </a:r>
            <a:r>
              <a:rPr lang="zh-CN" altLang="en-US" dirty="0"/>
              <a:t>分钟自行车程，</a:t>
            </a:r>
            <a:r>
              <a:rPr lang="en-US" altLang="zh-CN" dirty="0"/>
              <a:t>7:30</a:t>
            </a:r>
            <a:r>
              <a:rPr lang="zh-CN" altLang="en-US" dirty="0"/>
              <a:t>到校参加早读，一天</a:t>
            </a:r>
            <a:r>
              <a:rPr lang="en-US" altLang="zh-CN" dirty="0"/>
              <a:t>6:50</a:t>
            </a:r>
            <a:r>
              <a:rPr lang="zh-CN" altLang="en-US" dirty="0"/>
              <a:t>起床。请写出当天从起床到早读的流程。</a:t>
            </a:r>
            <a:endParaRPr lang="zh-CN" altLang="en-US" dirty="0"/>
          </a:p>
          <a:p>
            <a:pPr lvl="0"/>
            <a:r>
              <a:rPr lang="zh-CN" altLang="en-US" dirty="0"/>
              <a:t>是时间充裕按部就班还是手忙脚乱急忙出门。</a:t>
            </a:r>
            <a:endParaRPr lang="en-US" altLang="zh-CN" dirty="0"/>
          </a:p>
          <a:p>
            <a:pPr lvl="0"/>
            <a:r>
              <a:rPr lang="zh-CN" altLang="en-US" dirty="0"/>
              <a:t>流程安排受到轻重缓急，个人习惯和意愿等多方面的影响。</a:t>
            </a:r>
            <a:endParaRPr lang="en-US" altLang="zh-CN" dirty="0"/>
          </a:p>
          <a:p>
            <a:pPr lvl="0"/>
            <a:r>
              <a:rPr lang="zh-CN" altLang="en-US" dirty="0"/>
              <a:t>有人觉得早餐不重要，有人觉得重要，学生上课要是把早餐省去，怎么解释关键步骤不能省？从科学角度当然重要。选择吃早餐再出门，宁可迟到一点。每人对关键解读不同。</a:t>
            </a:r>
            <a:endParaRPr lang="en-US" altLang="zh-CN" dirty="0"/>
          </a:p>
          <a:p>
            <a:pPr lvl="0"/>
            <a:r>
              <a:rPr lang="zh-CN" altLang="en-US" dirty="0"/>
              <a:t>部队出征，有时需要速度，必须丢弃重武器，有时宁可慢一点，牺牲其他部队去当炮灰也要为重武器运输留出时间，情况天天不同，人人不同，最后的战略目标应该是一致的，为了好好学习。</a:t>
            </a:r>
            <a:endParaRPr lang="en-US" altLang="zh-CN" dirty="0"/>
          </a:p>
          <a:p>
            <a:pPr lvl="0"/>
            <a:r>
              <a:rPr lang="zh-CN" altLang="en-US" dirty="0"/>
              <a:t>流程虽然重要，但不能被流程框住，随时变化，不等于丢掉流程而是流程的改良。</a:t>
            </a:r>
            <a:endParaRPr lang="en-US" altLang="zh-CN" dirty="0"/>
          </a:p>
          <a:p>
            <a:pPr lvl="0"/>
            <a:r>
              <a:rPr lang="zh-CN" altLang="en-US" dirty="0"/>
              <a:t>起床起不来，自我管理能力不够，起床不得力，一直重启，从前一晚早睡开始调整流程。</a:t>
            </a:r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E5FC78-A580-42C6-A81A-070993CFB440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682FB4-F235-43A7-92E2-D5335AD15DF1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当环节先后顺序调换，事情无法继续时，时序不可颠倒。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C2B39C-6F1B-4A16-B85B-976A6997D5FB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每个小组讨论，说出生活中一个可颠倒的时序，和一个不可颠倒的时序。不可颠倒说明理由。</a:t>
            </a:r>
            <a:endParaRPr lang="zh-CN" altLang="en-US" dirty="0"/>
          </a:p>
          <a:p>
            <a:pPr lvl="0"/>
            <a:r>
              <a:rPr lang="zh-CN" altLang="en-US" dirty="0"/>
              <a:t>可颠倒：</a:t>
            </a:r>
            <a:r>
              <a:rPr lang="zh-CN" altLang="en-US" b="1" dirty="0"/>
              <a:t>1、同学考试，从第一题做或从最后一题开始做。</a:t>
            </a:r>
            <a:endParaRPr lang="zh-CN" altLang="en-US" b="1" dirty="0"/>
          </a:p>
          <a:p>
            <a:pPr lvl="0"/>
            <a:r>
              <a:rPr lang="zh-CN" altLang="en-US" b="1" dirty="0"/>
              <a:t>2、周末放假，先买书，还是先理发。</a:t>
            </a:r>
            <a:endParaRPr lang="zh-CN" altLang="en-US" b="1" dirty="0"/>
          </a:p>
          <a:p>
            <a:pPr lvl="0"/>
            <a:r>
              <a:rPr lang="zh-CN" altLang="en-US" b="1" dirty="0"/>
              <a:t>3、先穿上衣，还是先穿裤子。</a:t>
            </a:r>
            <a:endParaRPr lang="zh-CN" altLang="en-US" b="1" dirty="0"/>
          </a:p>
          <a:p>
            <a:pPr lvl="0"/>
            <a:r>
              <a:rPr lang="zh-CN" altLang="en-US" b="1" dirty="0"/>
              <a:t>4、自行车的装配中，是先装车铃还是先装鞍座</a:t>
            </a:r>
            <a:endParaRPr lang="zh-CN" altLang="en-US" b="1" dirty="0"/>
          </a:p>
          <a:p>
            <a:pPr lvl="0">
              <a:lnSpc>
                <a:spcPct val="90000"/>
              </a:lnSpc>
              <a:spcBef>
                <a:spcPts val="1000"/>
              </a:spcBef>
              <a:buChar char="•"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也是创业发展流程的一种模式</a:t>
            </a:r>
            <a:endParaRPr lang="zh-CN" altLang="en-US" dirty="0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5676900" y="6542088"/>
            <a:ext cx="4341813" cy="3444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16" tIns="48308" rIns="96616" bIns="48308" anchor="b" anchorCtr="0"/>
          <a:p>
            <a:pPr lvl="0" algn="r" latinLnBrk="1"/>
            <a:fld id="{9A0DB2DC-4C9A-4742-B13C-FB6460FD3503}" type="slidenum">
              <a:rPr lang="en-US" altLang="ko-KR" sz="1300" dirty="0">
                <a:latin typeface="HY강B"/>
                <a:ea typeface="Malgun Gothic" panose="020B0503020000020004" charset="-127"/>
              </a:rPr>
            </a:fld>
            <a:endParaRPr lang="en-US" altLang="ko-KR" sz="1300" dirty="0">
              <a:latin typeface="HY강B"/>
              <a:ea typeface="Malgun Gothic" panose="020B0503020000020004" charset="-127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3ABD91-068F-4A2F-A951-ED9303D2F12D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/>
        </p:nvSpPr>
        <p:spPr bwMode="auto">
          <a:xfrm>
            <a:off x="5676900" y="0"/>
            <a:ext cx="4341813" cy="344488"/>
          </a:xfrm>
          <a:prstGeom prst="rect">
            <a:avLst/>
          </a:prstGeom>
          <a:noFill/>
        </p:spPr>
        <p:txBody>
          <a:bodyPr lIns="96616" tIns="48308" rIns="96616" bIns="48308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682FB4-F235-43A7-92E2-D5335AD15DF1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dirty="0"/>
              <a:t>对于一些可以颠倒的时序，我们应注意分析和比较，并根据一定的目的和条件，进行适当的安排。</a:t>
            </a:r>
            <a:endParaRPr lang="zh-CN" altLang="en-US" dirty="0"/>
          </a:p>
          <a:p>
            <a:pPr lvl="0"/>
            <a:r>
              <a:rPr lang="zh-CN" altLang="en-US" dirty="0"/>
              <a:t>●总结：环节是一个相对的概念，依据问题性质的不同和不同人的理解，环节的</a:t>
            </a:r>
            <a:endParaRPr lang="zh-CN" altLang="en-US" dirty="0"/>
          </a:p>
          <a:p>
            <a:pPr lvl="0"/>
            <a:r>
              <a:rPr lang="zh-CN" altLang="en-US" dirty="0"/>
              <a:t>划分可能会有所不同。环节中又可包含若干个可以分解的、目标更具体的事项。 </a:t>
            </a:r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C5C809-FCE0-4DB2-BDDD-0631295C5B4B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 eaLnBrk="1" latinLnBrk="0" hangingPunct="1"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、生活中存在各种流程，而且我们的生活离不开流程。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/>
            <a:r>
              <a:rPr lang="en-US" altLang="zh-CN" dirty="0"/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、各环节一般都是用箭头、数字符号或时间去表达他们的时序。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latinLnBrk="0" hangingPunct="1"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en-US" b="1" dirty="0">
                <a:solidFill>
                  <a:srgbClr val="000000"/>
                </a:solidFill>
              </a:rPr>
              <a:t>、公众容易理解的领域，一般用文字表达或表格表达的，而不易理解的领域，则用图示、模型甚至动画表达。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/>
            <a:endParaRPr lang="zh-CN" altLang="en-US" b="1" dirty="0">
              <a:solidFill>
                <a:srgbClr val="000000"/>
              </a:solidFill>
            </a:endParaRPr>
          </a:p>
          <a:p>
            <a:pPr lvl="0"/>
            <a:endParaRPr lang="zh-CN" altLang="en-US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9BE66D-E3C3-48A9-A76D-3095352206E3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/>
          <p:cNvSpPr>
            <a:spLocks noGrp="1"/>
          </p:cNvSpPr>
          <p:nvPr>
            <p:ph type="body"/>
          </p:nvPr>
        </p:nvSpPr>
        <p:spPr>
          <a:xfrm>
            <a:off x="1001713" y="3271838"/>
            <a:ext cx="8016875" cy="3100387"/>
          </a:xfrm>
          <a:ln/>
        </p:spPr>
        <p:txBody>
          <a:bodyPr wrap="square" lIns="96616" tIns="48308" rIns="96616" bIns="48308" anchor="t" anchorCtr="0"/>
          <a:p>
            <a:pPr lvl="0"/>
            <a:r>
              <a:rPr lang="zh-CN" altLang="en-US" b="1" dirty="0"/>
              <a:t>我们每个人的生命历程，何尝不是一个流程，你将怎样设计自己的人生流程？怎样设计自己高中的流程？怎样设计自己今天的流程？</a:t>
            </a:r>
            <a:endParaRPr lang="zh-CN" altLang="en-US" b="1" dirty="0"/>
          </a:p>
          <a:p>
            <a:pPr lvl="0"/>
            <a:r>
              <a:rPr lang="zh-CN" altLang="en-US" b="1" dirty="0"/>
              <a:t>人生路漫漫，流程常相伴。</a:t>
            </a:r>
            <a:endParaRPr lang="zh-CN" altLang="en-US" b="1" dirty="0"/>
          </a:p>
          <a:p>
            <a:pPr lvl="0"/>
            <a:endParaRPr lang="zh-CN" altLang="en-US" b="1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/>
          </p:nvPr>
        </p:nvSpPr>
        <p:spPr bwMode="auto">
          <a:ln/>
        </p:spPr>
        <p:txBody>
          <a:bodyPr wrap="square" lIns="96616" tIns="48308" rIns="96616" bIns="48308" numCol="1" anchor="t" anchorCtr="0" compatLnSpc="1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36C82D-2092-4F50-8102-7EDBC268216F}" type="datetime1">
              <a:rPr kumimoji="1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강B" pitchFamily="18" charset="-127"/>
                <a:ea typeface="HY강B" pitchFamily="18" charset="-127"/>
                <a:cs typeface="+mn-cs"/>
              </a:rPr>
            </a:fld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강B" pitchFamily="18" charset="-127"/>
              <a:ea typeface="HY강B" pitchFamily="18" charset="-127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HY강B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3867"/>
            <a:ext cx="8229600" cy="743279"/>
          </a:xfrm>
          <a:prstGeom prst="rect">
            <a:avLst/>
          </a:prstGeo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HY강B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368425"/>
            <a:ext cx="4038600" cy="47577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68425"/>
            <a:ext cx="4038600" cy="47577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8463" y="188913"/>
            <a:ext cx="8288337" cy="59372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jpeg"/><Relationship Id="rId13" Type="http://schemas.openxmlformats.org/officeDocument/2006/relationships/image" Target="../media/image2.wmf"/><Relationship Id="rId12" Type="http://schemas.openxmlformats.org/officeDocument/2006/relationships/image" Target="../media/image1.em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7.png"/><Relationship Id="rId15" Type="http://schemas.openxmlformats.org/officeDocument/2006/relationships/image" Target="../media/image6.jpeg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46" descr="CampusMon"/>
          <p:cNvPicPr>
            <a:picLocks noChangeAspect="1"/>
          </p:cNvPicPr>
          <p:nvPr userDrawn="1"/>
        </p:nvPicPr>
        <p:blipFill>
          <a:blip r:embed="rId12">
            <a:lum bright="100000" contrast="-100000"/>
          </a:blip>
          <a:stretch>
            <a:fillRect/>
          </a:stretch>
        </p:blipFill>
        <p:spPr>
          <a:xfrm>
            <a:off x="992188" y="5035550"/>
            <a:ext cx="2376487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Picture 147" descr="H_Mon_noTag_CMYK"/>
          <p:cNvPicPr>
            <a:picLocks noChangeAspect="1"/>
          </p:cNvPicPr>
          <p:nvPr userDrawn="1"/>
        </p:nvPicPr>
        <p:blipFill>
          <a:blip r:embed="rId13">
            <a:lum bright="100000" contrast="-100000"/>
          </a:blip>
          <a:stretch>
            <a:fillRect/>
          </a:stretch>
        </p:blipFill>
        <p:spPr>
          <a:xfrm>
            <a:off x="6321425" y="4910138"/>
            <a:ext cx="2155825" cy="55721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28" name="Picture 142" descr="ggg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9" name="Rectangle 145" descr="어두운 상향 대각선"/>
          <p:cNvSpPr/>
          <p:nvPr userDrawn="1"/>
        </p:nvSpPr>
        <p:spPr>
          <a:xfrm>
            <a:off x="0" y="2540000"/>
            <a:ext cx="9144000" cy="1960563"/>
          </a:xfrm>
          <a:prstGeom prst="rect">
            <a:avLst/>
          </a:prstGeom>
          <a:pattFill prst="dkUpDiag">
            <a:fgClr>
              <a:srgbClr val="B2B2B2">
                <a:alpha val="47842"/>
              </a:srgbClr>
            </a:fgClr>
            <a:bgClr>
              <a:schemeClr val="bg1">
                <a:alpha val="47842"/>
              </a:schemeClr>
            </a:bgClr>
          </a:pattFill>
          <a:ln w="9525">
            <a:noFill/>
          </a:ln>
        </p:spPr>
        <p:txBody>
          <a:bodyPr wrap="none" anchor="ctr" anchorCtr="0"/>
          <a:p>
            <a:pPr lvl="0" algn="r" latinLnBrk="1"/>
            <a:endParaRPr lang="zh-CN" altLang="en-US" sz="1800" dirty="0">
              <a:latin typeface="HY강B"/>
              <a:ea typeface="HY강B"/>
            </a:endParaRPr>
          </a:p>
        </p:txBody>
      </p:sp>
      <p:pic>
        <p:nvPicPr>
          <p:cNvPr id="1030" name="Picture 143" descr="sdrfsf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1970088"/>
            <a:ext cx="9144000" cy="2079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1" name="Picture 150" descr="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105400" y="1173163"/>
            <a:ext cx="4067175" cy="29702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HY강B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HY강B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HY강B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HY강B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HY강B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HY강B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49" descr="Untitled-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53" descr="esedded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284913" y="-9525"/>
            <a:ext cx="2782887" cy="1814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Rectangle 51" descr="어두운 상향 대각선"/>
          <p:cNvSpPr/>
          <p:nvPr userDrawn="1"/>
        </p:nvSpPr>
        <p:spPr>
          <a:xfrm>
            <a:off x="0" y="6138863"/>
            <a:ext cx="9144000" cy="719137"/>
          </a:xfrm>
          <a:prstGeom prst="rect">
            <a:avLst/>
          </a:prstGeom>
          <a:pattFill prst="dkUpDiag">
            <a:fgClr>
              <a:srgbClr val="B2B2B2">
                <a:alpha val="47842"/>
              </a:srgbClr>
            </a:fgClr>
            <a:bgClr>
              <a:schemeClr val="bg1">
                <a:alpha val="47842"/>
              </a:schemeClr>
            </a:bgClr>
          </a:pattFill>
          <a:ln w="9525">
            <a:noFill/>
          </a:ln>
        </p:spPr>
        <p:txBody>
          <a:bodyPr wrap="none" anchor="ctr" anchorCtr="0"/>
          <a:p>
            <a:pPr lvl="0" algn="r" latinLnBrk="1"/>
            <a:endParaRPr lang="zh-CN" altLang="en-US" sz="1800" dirty="0">
              <a:latin typeface="HY강B"/>
              <a:ea typeface="HY강B"/>
            </a:endParaRPr>
          </a:p>
        </p:txBody>
      </p:sp>
      <p:sp>
        <p:nvSpPr>
          <p:cNvPr id="2053" name="Rectangle 5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4" name="Rectangle 6"/>
          <p:cNvSpPr>
            <a:spLocks noGrp="1"/>
          </p:cNvSpPr>
          <p:nvPr>
            <p:ph type="body"/>
          </p:nvPr>
        </p:nvSpPr>
        <p:spPr>
          <a:xfrm>
            <a:off x="457200" y="1368425"/>
            <a:ext cx="8229600" cy="47577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slow"/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HY강B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HY강B" pitchFamily="18" charset="-127"/>
          <a:ea typeface="HY강B" pitchFamily="18" charset="-127"/>
          <a:cs typeface="HY강B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Y강B" pitchFamily="18" charset="-127"/>
          <a:ea typeface="HY강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600" b="1">
          <a:solidFill>
            <a:schemeClr val="tx1"/>
          </a:solidFill>
          <a:latin typeface="+mn-lt"/>
          <a:ea typeface="+mn-ea"/>
          <a:cs typeface="HY강B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latin typeface="+mn-lt"/>
          <a:ea typeface="+mn-ea"/>
          <a:cs typeface="HY강B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  <a:cs typeface="HY강B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+mn-lt"/>
          <a:ea typeface="+mn-ea"/>
          <a:cs typeface="HY강B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+mn-lt"/>
          <a:ea typeface="+mn-ea"/>
          <a:cs typeface="HY강B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9.png"/><Relationship Id="rId2" Type="http://schemas.microsoft.com/office/2007/relationships/media" Target="file:///C:\Users\hp\Desktop\2.1&#29983;&#27963;&#21644;&#29983;&#20135;&#20013;&#30340;&#27969;&#31243;\&#38634;&#31957;&#22914;&#20309;&#29983;&#20135;&#30340;.wmv" TargetMode="External"/><Relationship Id="rId1" Type="http://schemas.openxmlformats.org/officeDocument/2006/relationships/video" Target="file:///C:\Users\hp\Desktop\2.1&#29983;&#27963;&#21644;&#29983;&#20135;&#20013;&#30340;&#27969;&#31243;\&#38634;&#31957;&#22914;&#20309;&#29983;&#20135;&#30340;.wmv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21.png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7" name="Text Box 21"/>
          <p:cNvSpPr txBox="1">
            <a:spLocks noChangeArrowheads="1"/>
          </p:cNvSpPr>
          <p:nvPr/>
        </p:nvSpPr>
        <p:spPr bwMode="auto">
          <a:xfrm>
            <a:off x="581025" y="2606675"/>
            <a:ext cx="6472238" cy="7699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latinLnBrk="1">
              <a:buClrTx/>
              <a:buSzTx/>
              <a:buFontTx/>
              <a:defRPr/>
            </a:pPr>
            <a:r>
              <a:rPr kumimoji="1" lang="zh-CN" altLang="zh-CN" sz="4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HY강B" pitchFamily="18" charset="-127"/>
                <a:ea typeface="宋体" panose="02010600030101010101" pitchFamily="2" charset="-122"/>
                <a:cs typeface="+mn-cs"/>
              </a:rPr>
              <a:t>2.1 生活和生产中的</a:t>
            </a:r>
            <a:r>
              <a:rPr kumimoji="1" lang="zh-CN" altLang="zh-CN" sz="4400" b="1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강B" pitchFamily="18" charset="-127"/>
                <a:ea typeface="宋体" panose="02010600030101010101" pitchFamily="2" charset="-122"/>
                <a:cs typeface="+mn-cs"/>
              </a:rPr>
              <a:t>流程</a:t>
            </a:r>
            <a:endParaRPr kumimoji="1" lang="en-US" altLang="ko-KR" sz="4400" b="1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강B" pitchFamily="18" charset="-127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7"/>
          <p:cNvSpPr txBox="1"/>
          <p:nvPr/>
        </p:nvSpPr>
        <p:spPr>
          <a:xfrm>
            <a:off x="304800" y="3071813"/>
            <a:ext cx="8431213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atinLnBrk="1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请写出你今天早上起床</a:t>
            </a:r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午餐的过程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11"/>
          <p:cNvSpPr/>
          <p:nvPr/>
        </p:nvSpPr>
        <p:spPr>
          <a:xfrm>
            <a:off x="482600" y="85725"/>
            <a:ext cx="2312988" cy="900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defTabSz="863600" latinLnBrk="1">
              <a:lnSpc>
                <a:spcPct val="90000"/>
              </a:lnSpc>
            </a:pPr>
            <a:r>
              <a:rPr lang="zh-CN" altLang="en-US" sz="4000" b="1" dirty="0">
                <a:latin typeface="宋体" panose="02010600030101010101" pitchFamily="2" charset="-122"/>
                <a:ea typeface="方正琥珀简体"/>
              </a:rPr>
              <a:t>认识流程</a:t>
            </a:r>
            <a:endParaRPr lang="zh-CN" altLang="en-US" sz="4000" b="1" dirty="0">
              <a:latin typeface="宋体" panose="02010600030101010101" pitchFamily="2" charset="-122"/>
              <a:ea typeface="方正琥珀简体"/>
            </a:endParaRPr>
          </a:p>
        </p:txBody>
      </p:sp>
      <p:sp>
        <p:nvSpPr>
          <p:cNvPr id="10242" name="Text Box 12"/>
          <p:cNvSpPr txBox="1"/>
          <p:nvPr/>
        </p:nvSpPr>
        <p:spPr>
          <a:xfrm>
            <a:off x="431800" y="1587500"/>
            <a:ext cx="7775575" cy="2297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15900" indent="-215900" defTabSz="863600" latinLnBrk="1">
              <a:lnSpc>
                <a:spcPct val="90000"/>
              </a:lnSpc>
            </a:pPr>
            <a:r>
              <a:rPr lang="zh-CN" altLang="en-US" sz="3600" b="1" dirty="0">
                <a:latin typeface="宋体" panose="02010600030101010101" pitchFamily="2" charset="-122"/>
                <a:ea typeface="方正黑体简体"/>
              </a:rPr>
              <a:t>     人类的生产、生活活动都是在一定的时间内发生、发展和结束的，都是为了一定的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方正黑体简体"/>
              </a:rPr>
              <a:t>目的</a:t>
            </a:r>
            <a:r>
              <a:rPr lang="zh-CN" altLang="en-US" sz="3600" b="1" dirty="0">
                <a:latin typeface="宋体" panose="02010600030101010101" pitchFamily="2" charset="-122"/>
                <a:ea typeface="方正黑体简体"/>
              </a:rPr>
              <a:t>，按照一定的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方正黑体简体"/>
              </a:rPr>
              <a:t>顺序和规则</a:t>
            </a:r>
            <a:r>
              <a:rPr lang="zh-CN" altLang="en-US" sz="3600" b="1" dirty="0">
                <a:latin typeface="宋体" panose="02010600030101010101" pitchFamily="2" charset="-122"/>
                <a:ea typeface="方正黑体简体"/>
              </a:rPr>
              <a:t>进行的。</a:t>
            </a:r>
            <a:endParaRPr lang="zh-CN" altLang="en-US" sz="3600" b="1" dirty="0">
              <a:latin typeface="宋体" panose="02010600030101010101" pitchFamily="2" charset="-122"/>
              <a:ea typeface="方正黑体简体"/>
            </a:endParaRPr>
          </a:p>
        </p:txBody>
      </p:sp>
      <p:sp>
        <p:nvSpPr>
          <p:cNvPr id="13319" name="Text Box 7"/>
          <p:cNvSpPr txBox="1"/>
          <p:nvPr/>
        </p:nvSpPr>
        <p:spPr>
          <a:xfrm>
            <a:off x="544513" y="4159250"/>
            <a:ext cx="7983537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HY강B"/>
              </a:rPr>
              <a:t>流程：为了一定的</a:t>
            </a:r>
            <a:r>
              <a:rPr lang="zh-CN" altLang="en-US" sz="3600" b="1" u="sng" dirty="0">
                <a:latin typeface="宋体" panose="02010600030101010101" pitchFamily="2" charset="-122"/>
                <a:ea typeface="HY강B"/>
              </a:rPr>
              <a:t>目的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HY강B"/>
              </a:rPr>
              <a:t>做事情</a:t>
            </a:r>
            <a:r>
              <a:rPr lang="zh-CN" altLang="en-US" sz="3600" b="1" dirty="0">
                <a:latin typeface="宋体" panose="02010600030101010101" pitchFamily="2" charset="-122"/>
                <a:ea typeface="HY강B"/>
              </a:rPr>
              <a:t>的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HY강B"/>
              </a:rPr>
              <a:t>顺序</a:t>
            </a:r>
            <a:r>
              <a:rPr lang="zh-CN" altLang="en-US" sz="3600" b="1" dirty="0">
                <a:latin typeface="宋体" panose="02010600030101010101" pitchFamily="2" charset="-122"/>
                <a:ea typeface="HY강B"/>
              </a:rPr>
              <a:t>。</a:t>
            </a:r>
            <a:endParaRPr lang="zh-CN" altLang="en-US" sz="3600" b="1" dirty="0">
              <a:latin typeface="宋体" panose="02010600030101010101" pitchFamily="2" charset="-122"/>
              <a:ea typeface="HY강B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5357813" y="4762500"/>
            <a:ext cx="1111250" cy="1031875"/>
            <a:chOff x="3375" y="3000"/>
            <a:chExt cx="700" cy="650"/>
          </a:xfrm>
        </p:grpSpPr>
        <p:sp>
          <p:nvSpPr>
            <p:cNvPr id="10245" name="Text Box 9"/>
            <p:cNvSpPr txBox="1"/>
            <p:nvPr/>
          </p:nvSpPr>
          <p:spPr>
            <a:xfrm>
              <a:off x="3375" y="3240"/>
              <a:ext cx="700" cy="41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3600" b="1" dirty="0">
                  <a:latin typeface="HY강B"/>
                  <a:ea typeface="HY강B"/>
                </a:rPr>
                <a:t>环节</a:t>
              </a:r>
              <a:endParaRPr lang="zh-CN" altLang="en-US" sz="3600" b="1" dirty="0">
                <a:latin typeface="HY강B"/>
                <a:ea typeface="HY강B"/>
              </a:endParaRPr>
            </a:p>
          </p:txBody>
        </p:sp>
        <p:sp>
          <p:nvSpPr>
            <p:cNvPr id="10246" name="Line 10"/>
            <p:cNvSpPr/>
            <p:nvPr/>
          </p:nvSpPr>
          <p:spPr>
            <a:xfrm>
              <a:off x="3728" y="3000"/>
              <a:ext cx="0" cy="2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Group 13"/>
          <p:cNvGrpSpPr/>
          <p:nvPr/>
        </p:nvGrpSpPr>
        <p:grpSpPr>
          <a:xfrm>
            <a:off x="7002463" y="4737100"/>
            <a:ext cx="1111250" cy="1046163"/>
            <a:chOff x="4411" y="2984"/>
            <a:chExt cx="700" cy="659"/>
          </a:xfrm>
        </p:grpSpPr>
        <p:sp>
          <p:nvSpPr>
            <p:cNvPr id="10248" name="Rectangle 8"/>
            <p:cNvSpPr/>
            <p:nvPr/>
          </p:nvSpPr>
          <p:spPr>
            <a:xfrm>
              <a:off x="4411" y="3233"/>
              <a:ext cx="700" cy="41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3600" b="1" dirty="0">
                  <a:latin typeface="HY강B"/>
                  <a:ea typeface="HY강B"/>
                </a:rPr>
                <a:t>时序</a:t>
              </a:r>
              <a:endParaRPr lang="zh-CN" altLang="en-US" sz="3600" b="1" dirty="0">
                <a:latin typeface="HY강B"/>
                <a:ea typeface="HY강B"/>
              </a:endParaRPr>
            </a:p>
          </p:txBody>
        </p:sp>
        <p:sp>
          <p:nvSpPr>
            <p:cNvPr id="10249" name="Line 11"/>
            <p:cNvSpPr/>
            <p:nvPr/>
          </p:nvSpPr>
          <p:spPr>
            <a:xfrm>
              <a:off x="4745" y="2984"/>
              <a:ext cx="0" cy="2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/>
          <p:nvPr/>
        </p:nvSpPr>
        <p:spPr>
          <a:xfrm>
            <a:off x="231775" y="255588"/>
            <a:ext cx="3222625" cy="741362"/>
          </a:xfrm>
          <a:prstGeom prst="rect">
            <a:avLst/>
          </a:prstGeom>
          <a:noFill/>
          <a:ln w="9525">
            <a:noFill/>
          </a:ln>
        </p:spPr>
        <p:txBody>
          <a:bodyPr lIns="0" tIns="0" bIns="0" anchor="ctr" anchorCtr="0"/>
          <a:p>
            <a:pPr eaLnBrk="0" latinLnBrk="1" hangingPunct="0"/>
            <a:r>
              <a:rPr lang="zh-CN" altLang="en-US" sz="3600" b="1" dirty="0">
                <a:latin typeface="Siemens Sans Black" pitchFamily="2" charset="0"/>
                <a:ea typeface="宋体" panose="02010600030101010101" pitchFamily="2" charset="-122"/>
              </a:rPr>
              <a:t>环节的特性</a:t>
            </a:r>
            <a:endParaRPr lang="de-DE" altLang="zh-CN" sz="3600" b="1" dirty="0">
              <a:latin typeface="Siemens Sans Black" pitchFamily="2" charset="0"/>
              <a:ea typeface="宋体" panose="02010600030101010101" pitchFamily="2" charset="-122"/>
            </a:endParaRPr>
          </a:p>
        </p:txBody>
      </p:sp>
      <p:grpSp>
        <p:nvGrpSpPr>
          <p:cNvPr id="12290" name="Group 12"/>
          <p:cNvGrpSpPr/>
          <p:nvPr/>
        </p:nvGrpSpPr>
        <p:grpSpPr>
          <a:xfrm>
            <a:off x="654050" y="2946400"/>
            <a:ext cx="7418388" cy="3190875"/>
            <a:chOff x="1087" y="1894"/>
            <a:chExt cx="4673" cy="2138"/>
          </a:xfrm>
        </p:grpSpPr>
        <p:sp>
          <p:nvSpPr>
            <p:cNvPr id="12291" name="Rectangle 13"/>
            <p:cNvSpPr/>
            <p:nvPr/>
          </p:nvSpPr>
          <p:spPr>
            <a:xfrm>
              <a:off x="1087" y="1894"/>
              <a:ext cx="4673" cy="213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  <p:pic>
          <p:nvPicPr>
            <p:cNvPr id="12292" name="Picture 14" descr="SH P 图 001"/>
            <p:cNvPicPr>
              <a:picLocks noChangeAspect="1"/>
            </p:cNvPicPr>
            <p:nvPr/>
          </p:nvPicPr>
          <p:blipFill>
            <a:blip r:embed="rId1">
              <a:lum bright="-29999" contrast="41999"/>
            </a:blip>
            <a:stretch>
              <a:fillRect/>
            </a:stretch>
          </p:blipFill>
          <p:spPr>
            <a:xfrm rot="230651">
              <a:off x="1360" y="2027"/>
              <a:ext cx="4156" cy="18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293" name="Rectangle 15"/>
            <p:cNvSpPr/>
            <p:nvPr/>
          </p:nvSpPr>
          <p:spPr>
            <a:xfrm>
              <a:off x="1201" y="1911"/>
              <a:ext cx="4405" cy="17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12294" name="Rectangle 16"/>
            <p:cNvSpPr/>
            <p:nvPr/>
          </p:nvSpPr>
          <p:spPr>
            <a:xfrm>
              <a:off x="5393" y="2041"/>
              <a:ext cx="367" cy="198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12295" name="Rectangle 17"/>
            <p:cNvSpPr/>
            <p:nvPr/>
          </p:nvSpPr>
          <p:spPr>
            <a:xfrm>
              <a:off x="1355" y="3819"/>
              <a:ext cx="4405" cy="1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</p:grpSp>
      <p:graphicFrame>
        <p:nvGraphicFramePr>
          <p:cNvPr id="12296" name="Object 19"/>
          <p:cNvGraphicFramePr>
            <a:graphicFrameLocks noChangeAspect="1"/>
          </p:cNvGraphicFramePr>
          <p:nvPr/>
        </p:nvGraphicFramePr>
        <p:xfrm>
          <a:off x="1200150" y="1584325"/>
          <a:ext cx="6577013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3546475" imgH="668020" progId="Visio.Drawing.11">
                  <p:embed/>
                </p:oleObj>
              </mc:Choice>
              <mc:Fallback>
                <p:oleObj name="" r:id="rId2" imgW="3546475" imgH="66802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0150" y="1584325"/>
                        <a:ext cx="6577013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Line 20"/>
          <p:cNvSpPr/>
          <p:nvPr/>
        </p:nvSpPr>
        <p:spPr>
          <a:xfrm flipV="1">
            <a:off x="4516438" y="2730500"/>
            <a:ext cx="0" cy="5619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1030" name="Rectangle 21"/>
          <p:cNvSpPr/>
          <p:nvPr/>
        </p:nvSpPr>
        <p:spPr>
          <a:xfrm>
            <a:off x="2546350" y="357188"/>
            <a:ext cx="3889375" cy="54927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 anchor="t" anchorCtr="0">
            <a:spAutoFit/>
          </a:bodyPr>
          <a:p>
            <a:pPr eaLnBrk="0" hangingPunct="0"/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—— </a:t>
            </a:r>
            <a:r>
              <a:rPr lang="zh-CN" altLang="en-US" sz="36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多样性</a:t>
            </a:r>
            <a:endParaRPr lang="zh-CN" altLang="en-US" sz="3600" b="1" dirty="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9" name="Text Box 22"/>
          <p:cNvSpPr txBox="1"/>
          <p:nvPr/>
        </p:nvSpPr>
        <p:spPr>
          <a:xfrm>
            <a:off x="7847013" y="1649413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HY강B"/>
                <a:ea typeface="HY강B"/>
              </a:rPr>
              <a:t>……</a:t>
            </a:r>
            <a:endParaRPr lang="en-US" altLang="zh-CN" sz="2800" dirty="0">
              <a:latin typeface="HY강B"/>
              <a:ea typeface="HY강B"/>
            </a:endParaRPr>
          </a:p>
        </p:txBody>
      </p:sp>
      <p:sp useBgFill="1">
        <p:nvSpPr>
          <p:cNvPr id="109591" name="Rectangle 23"/>
          <p:cNvSpPr/>
          <p:nvPr/>
        </p:nvSpPr>
        <p:spPr>
          <a:xfrm>
            <a:off x="812800" y="1379538"/>
            <a:ext cx="8012113" cy="1900237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HY강B"/>
              <a:ea typeface="HY강B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" grpId="0"/>
      <p:bldP spid="10959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/>
          <p:nvPr/>
        </p:nvSpPr>
        <p:spPr>
          <a:xfrm>
            <a:off x="317500" y="220663"/>
            <a:ext cx="7086600" cy="741362"/>
          </a:xfrm>
          <a:prstGeom prst="rect">
            <a:avLst/>
          </a:prstGeom>
          <a:noFill/>
          <a:ln w="9525">
            <a:noFill/>
          </a:ln>
        </p:spPr>
        <p:txBody>
          <a:bodyPr lIns="0" tIns="0" bIns="0" anchor="ctr" anchorCtr="0"/>
          <a:p>
            <a:pPr eaLnBrk="0" latinLnBrk="1" hangingPunct="0"/>
            <a:r>
              <a:rPr lang="zh-CN" altLang="en-US" sz="3600" b="1" dirty="0">
                <a:latin typeface="Siemens Sans Black" pitchFamily="2" charset="0"/>
                <a:ea typeface="宋体" panose="02010600030101010101" pitchFamily="2" charset="-122"/>
              </a:rPr>
              <a:t>环节的特性</a:t>
            </a:r>
            <a:endParaRPr lang="de-DE" altLang="zh-CN" sz="3600" b="1" dirty="0">
              <a:latin typeface="Siemens Sans Black" pitchFamily="2" charset="0"/>
              <a:ea typeface="宋体" panose="02010600030101010101" pitchFamily="2" charset="-122"/>
            </a:endParaRPr>
          </a:p>
        </p:txBody>
      </p:sp>
      <p:sp>
        <p:nvSpPr>
          <p:cNvPr id="2052" name="Rectangle 12"/>
          <p:cNvSpPr/>
          <p:nvPr/>
        </p:nvSpPr>
        <p:spPr>
          <a:xfrm>
            <a:off x="2633663" y="285750"/>
            <a:ext cx="3889375" cy="549275"/>
          </a:xfrm>
          <a:prstGeom prst="rect">
            <a:avLst/>
          </a:prstGeom>
          <a:noFill/>
          <a:ln w="9525">
            <a:noFill/>
          </a:ln>
        </p:spPr>
        <p:txBody>
          <a:bodyPr lIns="36000" tIns="0" rIns="36000" bIns="0" anchor="t" anchorCtr="0">
            <a:spAutoFit/>
          </a:bodyPr>
          <a:p>
            <a:pPr eaLnBrk="0" hangingPunct="0"/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—— </a:t>
            </a:r>
            <a:r>
              <a:rPr lang="zh-CN" altLang="en-US" sz="36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相对性</a:t>
            </a:r>
            <a:endParaRPr lang="zh-CN" altLang="en-US" sz="3600" b="1" dirty="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15" name="Group 13"/>
          <p:cNvGrpSpPr/>
          <p:nvPr/>
        </p:nvGrpSpPr>
        <p:grpSpPr>
          <a:xfrm>
            <a:off x="1025525" y="1381125"/>
            <a:ext cx="7418388" cy="3190875"/>
            <a:chOff x="1087" y="1894"/>
            <a:chExt cx="4673" cy="2138"/>
          </a:xfrm>
        </p:grpSpPr>
        <p:sp>
          <p:nvSpPr>
            <p:cNvPr id="13316" name="Rectangle 14"/>
            <p:cNvSpPr/>
            <p:nvPr/>
          </p:nvSpPr>
          <p:spPr>
            <a:xfrm>
              <a:off x="1087" y="1894"/>
              <a:ext cx="4673" cy="213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  <p:pic>
          <p:nvPicPr>
            <p:cNvPr id="13317" name="Picture 15" descr="SH P 图 001"/>
            <p:cNvPicPr>
              <a:picLocks noChangeAspect="1"/>
            </p:cNvPicPr>
            <p:nvPr/>
          </p:nvPicPr>
          <p:blipFill>
            <a:blip r:embed="rId1">
              <a:lum bright="-23999" contrast="35999"/>
            </a:blip>
            <a:stretch>
              <a:fillRect/>
            </a:stretch>
          </p:blipFill>
          <p:spPr>
            <a:xfrm rot="230651">
              <a:off x="1360" y="2027"/>
              <a:ext cx="4156" cy="18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8" name="Rectangle 16"/>
            <p:cNvSpPr/>
            <p:nvPr/>
          </p:nvSpPr>
          <p:spPr>
            <a:xfrm>
              <a:off x="1201" y="1911"/>
              <a:ext cx="4405" cy="17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13319" name="Rectangle 17"/>
            <p:cNvSpPr/>
            <p:nvPr/>
          </p:nvSpPr>
          <p:spPr>
            <a:xfrm>
              <a:off x="5393" y="2041"/>
              <a:ext cx="367" cy="198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13320" name="Rectangle 18"/>
            <p:cNvSpPr/>
            <p:nvPr/>
          </p:nvSpPr>
          <p:spPr>
            <a:xfrm>
              <a:off x="1355" y="3819"/>
              <a:ext cx="4405" cy="1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36000" tIns="0" rIns="36000" bIns="0" anchor="ctr" anchorCtr="0">
              <a:spAutoFit/>
            </a:bodyPr>
            <a:p>
              <a:endParaRPr lang="zh-CN" altLang="en-US" dirty="0">
                <a:latin typeface="HY강B"/>
                <a:ea typeface="HY강B"/>
              </a:endParaRPr>
            </a:p>
          </p:txBody>
        </p:sp>
      </p:grpSp>
      <p:graphicFrame>
        <p:nvGraphicFramePr>
          <p:cNvPr id="13321" name="Object 19"/>
          <p:cNvGraphicFramePr>
            <a:graphicFrameLocks noChangeAspect="1"/>
          </p:cNvGraphicFramePr>
          <p:nvPr/>
        </p:nvGraphicFramePr>
        <p:xfrm>
          <a:off x="1219200" y="4633913"/>
          <a:ext cx="6365875" cy="222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4468495" imgH="1582420" progId="Visio.Drawing.11">
                  <p:embed/>
                </p:oleObj>
              </mc:Choice>
              <mc:Fallback>
                <p:oleObj name="" r:id="rId2" imgW="4468495" imgH="158242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9200" y="4633913"/>
                        <a:ext cx="6365875" cy="2224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64" name="Rectangle 20"/>
          <p:cNvSpPr/>
          <p:nvPr/>
        </p:nvSpPr>
        <p:spPr>
          <a:xfrm>
            <a:off x="812800" y="5835650"/>
            <a:ext cx="7343775" cy="827088"/>
          </a:xfrm>
          <a:prstGeom prst="rect">
            <a:avLst/>
          </a:prstGeom>
          <a:solidFill>
            <a:srgbClr val="ECECEC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HY강B"/>
              <a:ea typeface="HY강B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  <p:bldP spid="10856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 idx="4294967295"/>
          </p:nvPr>
        </p:nvSpPr>
        <p:spPr>
          <a:xfrm>
            <a:off x="155575" y="188913"/>
            <a:ext cx="8504238" cy="765175"/>
          </a:xfrm>
          <a:gradFill rotWithShape="0">
            <a:gsLst>
              <a:gs pos="0">
                <a:schemeClr val="accent1"/>
              </a:gs>
              <a:gs pos="100000">
                <a:srgbClr val="0066CC"/>
              </a:gs>
            </a:gsLst>
            <a:lin ang="0" scaled="1"/>
            <a:tileRect/>
          </a:gradFill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以时刻为时序写出</a:t>
            </a:r>
            <a:r>
              <a:rPr lang="en-US" altLang="zh-CN" dirty="0"/>
              <a:t>6:50</a:t>
            </a:r>
            <a:r>
              <a:rPr lang="zh-CN" altLang="en-US" dirty="0"/>
              <a:t>起床到早读的流程</a:t>
            </a:r>
            <a:endParaRPr lang="zh-CN" altLang="en-US" dirty="0"/>
          </a:p>
        </p:txBody>
      </p:sp>
      <p:sp>
        <p:nvSpPr>
          <p:cNvPr id="93186" name="Rectangle 2"/>
          <p:cNvSpPr/>
          <p:nvPr/>
        </p:nvSpPr>
        <p:spPr>
          <a:xfrm>
            <a:off x="261938" y="5118100"/>
            <a:ext cx="9144000" cy="765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latinLnBrk="1" hangingPunct="0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环节可根据需要增减，</a:t>
            </a:r>
            <a:r>
              <a:rPr lang="zh-CN" altLang="en-US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关键环节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不可随意缺少！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244" name="Group 28"/>
          <p:cNvGraphicFramePr>
            <a:graphicFrameLocks noGrp="1"/>
          </p:cNvGraphicFramePr>
          <p:nvPr/>
        </p:nvGraphicFramePr>
        <p:xfrm>
          <a:off x="1331913" y="1247775"/>
          <a:ext cx="6618288" cy="3746500"/>
        </p:xfrm>
        <a:graphic>
          <a:graphicData uri="http://schemas.openxmlformats.org/drawingml/2006/table">
            <a:tbl>
              <a:tblPr/>
              <a:tblGrid>
                <a:gridCol w="3309937"/>
                <a:gridCol w="3308350"/>
              </a:tblGrid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강B"/>
                          <a:ea typeface="HY강B"/>
                          <a:cs typeface="HY강B"/>
                        </a:rPr>
                        <a:t>时刻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강B"/>
                          <a:ea typeface="HY강B"/>
                          <a:cs typeface="HY강B"/>
                        </a:rPr>
                        <a:t>环节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강B"/>
                          <a:ea typeface="HY강B"/>
                          <a:cs typeface="HY강B"/>
                        </a:rPr>
                        <a:t>6:50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강B"/>
                          <a:ea typeface="HY강B"/>
                          <a:cs typeface="HY강B"/>
                        </a:rPr>
                        <a:t>起床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5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강B"/>
                          <a:ea typeface="HY강B"/>
                          <a:cs typeface="HY강B"/>
                        </a:rPr>
                        <a:t>7:30</a:t>
                      </a:r>
                      <a:endParaRPr kumimoji="1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Y강B"/>
                          <a:ea typeface="HY강B"/>
                          <a:cs typeface="HY강B"/>
                        </a:rPr>
                        <a:t>到校早读</a:t>
                      </a:r>
                      <a:endParaRPr kumimoji="1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강B"/>
                        <a:ea typeface="HY강B"/>
                        <a:cs typeface="HY강B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33" name="AutoShape 25"/>
          <p:cNvSpPr/>
          <p:nvPr/>
        </p:nvSpPr>
        <p:spPr>
          <a:xfrm>
            <a:off x="1104900" y="6042025"/>
            <a:ext cx="6924675" cy="712788"/>
          </a:xfrm>
          <a:prstGeom prst="roundRect">
            <a:avLst>
              <a:gd name="adj" fmla="val 10347"/>
            </a:avLst>
          </a:prstGeom>
          <a:solidFill>
            <a:schemeClr val="bg1"/>
          </a:solidFill>
          <a:ln w="508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  <p:txBody>
          <a:bodyPr wrap="none" anchor="ctr" anchorCtr="0"/>
          <a:p>
            <a:pPr algn="ctr" latinLnBrk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科学合理的流程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使生活有序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/>
      <p:bldP spid="174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kumimoji="1" lang="zh-CN" altLang="en-US" dirty="0">
                <a:latin typeface="+mj-lt"/>
                <a:ea typeface="+mj-ea"/>
                <a:cs typeface="HY강B"/>
              </a:rPr>
              <a:t>关于环节的小结</a:t>
            </a:r>
            <a:endParaRPr kumimoji="1" lang="zh-CN" altLang="en-US" dirty="0">
              <a:latin typeface="+mj-lt"/>
              <a:ea typeface="+mj-ea"/>
              <a:cs typeface="HY강B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457200" y="1368425"/>
            <a:ext cx="8229600" cy="4757738"/>
          </a:xfrm>
          <a:ln/>
        </p:spPr>
        <p:txBody>
          <a:bodyPr vert="horz" wrap="square" lIns="91440" tIns="45720" rIns="91440" bIns="45720" anchor="t" anchorCtr="0"/>
          <a:p>
            <a:pPr/>
            <a:r>
              <a:rPr kumimoji="1" lang="zh-CN" altLang="en-US" dirty="0">
                <a:latin typeface="+mn-lt"/>
                <a:ea typeface="+mn-ea"/>
                <a:cs typeface="HY강B"/>
              </a:rPr>
              <a:t>活动中的小过程或阶段称为</a:t>
            </a:r>
            <a:r>
              <a:rPr kumimoji="1" lang="zh-CN" altLang="en-US" dirty="0">
                <a:solidFill>
                  <a:srgbClr val="CC0000"/>
                </a:solidFill>
                <a:latin typeface="+mn-lt"/>
                <a:ea typeface="+mn-ea"/>
                <a:cs typeface="HY강B"/>
              </a:rPr>
              <a:t>环节</a:t>
            </a:r>
            <a:r>
              <a:rPr kumimoji="1" lang="zh-CN" altLang="en-US" dirty="0">
                <a:latin typeface="+mn-lt"/>
                <a:ea typeface="+mn-ea"/>
                <a:cs typeface="HY강B"/>
              </a:rPr>
              <a:t>。</a:t>
            </a:r>
            <a:endParaRPr kumimoji="1" lang="zh-CN" altLang="en-US" dirty="0">
              <a:latin typeface="+mn-lt"/>
              <a:ea typeface="+mn-ea"/>
              <a:cs typeface="HY강B"/>
            </a:endParaRPr>
          </a:p>
          <a:p>
            <a:pPr/>
            <a:endParaRPr kumimoji="1" lang="en-US" altLang="zh-CN" dirty="0">
              <a:latin typeface="+mn-lt"/>
              <a:ea typeface="+mn-ea"/>
              <a:cs typeface="HY강B"/>
            </a:endParaRPr>
          </a:p>
          <a:p>
            <a:pPr/>
            <a:r>
              <a:rPr kumimoji="1" lang="en-US" altLang="zh-CN" dirty="0">
                <a:latin typeface="+mn-lt"/>
                <a:ea typeface="+mn-ea"/>
                <a:cs typeface="HY강B"/>
              </a:rPr>
              <a:t>1</a:t>
            </a:r>
            <a:r>
              <a:rPr kumimoji="1" lang="zh-CN" altLang="en-US" dirty="0">
                <a:latin typeface="+mn-lt"/>
                <a:ea typeface="+mn-ea"/>
                <a:cs typeface="HY강B"/>
              </a:rPr>
              <a:t>、环节具有相对性和多样性。</a:t>
            </a:r>
            <a:endParaRPr kumimoji="1" lang="zh-CN" altLang="en-US" dirty="0">
              <a:latin typeface="+mn-lt"/>
              <a:ea typeface="+mn-ea"/>
              <a:cs typeface="HY강B"/>
            </a:endParaRPr>
          </a:p>
          <a:p>
            <a:pPr/>
            <a:r>
              <a:rPr kumimoji="1" lang="en-US" altLang="zh-CN" dirty="0">
                <a:latin typeface="+mn-lt"/>
                <a:ea typeface="+mn-ea"/>
                <a:cs typeface="HY강B"/>
              </a:rPr>
              <a:t>2</a:t>
            </a:r>
            <a:r>
              <a:rPr kumimoji="1" lang="zh-CN" altLang="en-US" dirty="0">
                <a:latin typeface="+mn-lt"/>
                <a:ea typeface="+mn-ea"/>
                <a:cs typeface="HY강B"/>
              </a:rPr>
              <a:t>、环节可根据需要增减，关键环节不可随意缺少！</a:t>
            </a:r>
            <a:endParaRPr kumimoji="1" lang="zh-CN" altLang="en-US" dirty="0">
              <a:latin typeface="+mn-lt"/>
              <a:ea typeface="+mn-ea"/>
              <a:cs typeface="HY강B"/>
            </a:endParaRPr>
          </a:p>
          <a:p>
            <a:pPr/>
            <a:endParaRPr kumimoji="1" lang="zh-CN" altLang="en-US" dirty="0">
              <a:latin typeface="+mn-lt"/>
              <a:ea typeface="+mn-ea"/>
              <a:cs typeface="HY강B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xfrm>
            <a:off x="457200" y="239713"/>
            <a:ext cx="8229600" cy="642937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时序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HY강B"/>
            </a:endParaRPr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1012825" y="1271588"/>
            <a:ext cx="6711950" cy="4344987"/>
          </a:xfrm>
          <a:ln/>
        </p:spPr>
        <p:txBody>
          <a:bodyPr vert="horz" wrap="square" lIns="91440" tIns="45720" rIns="91440" bIns="45720" anchor="t" anchorCtr="0"/>
          <a:p>
            <a:pPr/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时序是指</a:t>
            </a:r>
            <a:r>
              <a:rPr kumimoji="1"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时间上的先后顺序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。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HY강B"/>
            </a:endParaRPr>
          </a:p>
        </p:txBody>
      </p:sp>
      <p:pic>
        <p:nvPicPr>
          <p:cNvPr id="4" name="Picture 5" descr="1385716108473"/>
          <p:cNvPicPr>
            <a:picLocks noChangeAspect="1"/>
          </p:cNvPicPr>
          <p:nvPr/>
        </p:nvPicPr>
        <p:blipFill>
          <a:blip r:embed="rId1"/>
          <a:srcRect b="6902"/>
          <a:stretch>
            <a:fillRect/>
          </a:stretch>
        </p:blipFill>
        <p:spPr>
          <a:xfrm>
            <a:off x="819150" y="2057400"/>
            <a:ext cx="7046913" cy="4327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5" descr="1385716108473"/>
          <p:cNvPicPr>
            <a:picLocks noChangeAspect="1"/>
          </p:cNvPicPr>
          <p:nvPr/>
        </p:nvPicPr>
        <p:blipFill>
          <a:blip r:embed="rId1"/>
          <a:srcRect r="78654" b="63937"/>
          <a:stretch>
            <a:fillRect/>
          </a:stretch>
        </p:blipFill>
        <p:spPr>
          <a:xfrm>
            <a:off x="2381250" y="2209800"/>
            <a:ext cx="3543300" cy="3948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482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483" name="Picture 5" descr="201563175342320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0825" y="982663"/>
            <a:ext cx="3525838" cy="5875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图片 1" hidden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0"/>
            <a:ext cx="9144000" cy="674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Rectangle 9"/>
          <p:cNvSpPr/>
          <p:nvPr/>
        </p:nvSpPr>
        <p:spPr>
          <a:xfrm>
            <a:off x="339725" y="238125"/>
            <a:ext cx="2478088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r" latinLnBrk="1"/>
            <a:r>
              <a:rPr lang="zh-CN" altLang="en-US" sz="3600" b="1" dirty="0">
                <a:latin typeface="Arial Black" panose="020B0A04020102020204" pitchFamily="34" charset="0"/>
                <a:ea typeface="方正琥珀简体"/>
              </a:rPr>
              <a:t>马上行动：</a:t>
            </a:r>
            <a:endParaRPr lang="zh-CN" altLang="en-US" sz="3600" b="1" dirty="0">
              <a:latin typeface="Arial Black" panose="020B0A04020102020204" pitchFamily="34" charset="0"/>
              <a:ea typeface="方正琥珀简体"/>
            </a:endParaRPr>
          </a:p>
        </p:txBody>
      </p:sp>
      <p:sp>
        <p:nvSpPr>
          <p:cNvPr id="57377" name="Rectangle 33"/>
          <p:cNvSpPr/>
          <p:nvPr/>
        </p:nvSpPr>
        <p:spPr>
          <a:xfrm>
            <a:off x="606425" y="5559425"/>
            <a:ext cx="8042275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latinLnBrk="1"/>
            <a:r>
              <a:rPr lang="zh-CN" altLang="en-US" sz="2800" b="1" dirty="0">
                <a:latin typeface="方正稚艺简体"/>
                <a:ea typeface="方正稚艺简体"/>
              </a:rPr>
              <a:t>      不可颠倒的时序往往反映了事物或活动的内在规律或机理，我们应尊重和遵循这些规律和机理。</a:t>
            </a:r>
            <a:endParaRPr lang="zh-CN" altLang="en-US" sz="2800" b="1" dirty="0">
              <a:latin typeface="方正稚艺简体"/>
              <a:ea typeface="方正稚艺简体"/>
            </a:endParaRPr>
          </a:p>
        </p:txBody>
      </p:sp>
      <p:graphicFrame>
        <p:nvGraphicFramePr>
          <p:cNvPr id="85038" name="Group 46"/>
          <p:cNvGraphicFramePr>
            <a:graphicFrameLocks noGrp="1"/>
          </p:cNvGraphicFramePr>
          <p:nvPr/>
        </p:nvGraphicFramePr>
        <p:xfrm>
          <a:off x="257175" y="1414463"/>
          <a:ext cx="8662988" cy="4043363"/>
        </p:xfrm>
        <a:graphic>
          <a:graphicData uri="http://schemas.openxmlformats.org/drawingml/2006/table">
            <a:tbl>
              <a:tblPr/>
              <a:tblGrid>
                <a:gridCol w="3468688"/>
                <a:gridCol w="2225675"/>
                <a:gridCol w="2968625"/>
              </a:tblGrid>
              <a:tr h="544513"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  生活中的流程</a:t>
                      </a: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是否可颠倒</a:t>
                      </a: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    理由</a:t>
                      </a: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</a:tr>
              <a:tr h="835025"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1、做作业时，先写语文作业，再写数学作业。</a:t>
                      </a:r>
                      <a:endParaRPr kumimoji="0" lang="en-US" altLang="zh-CN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2、稀释浓硫酸时，把浓硫酸倒入水中。</a:t>
                      </a: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</a:tr>
              <a:tr h="712788"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3、穿鞋先穿左脚，后穿右脚。</a:t>
                      </a: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方正准圆简体"/>
                          <a:ea typeface="方正准圆简体"/>
                          <a:cs typeface="方正准圆简体"/>
                        </a:rPr>
                        <a:t>4、先穿袜子，再穿鞋子。</a:t>
                      </a:r>
                      <a:endParaRPr kumimoji="0" lang="en-US" altLang="zh-CN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方正准圆简体"/>
                        <a:ea typeface="方正准圆简体"/>
                        <a:cs typeface="方正准圆简体"/>
                      </a:endParaRPr>
                    </a:p>
                  </a:txBody>
                  <a:tcPr marL="72567" marR="72567" marT="48386" marB="483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7402" name="Text Box 58"/>
          <p:cNvSpPr txBox="1"/>
          <p:nvPr/>
        </p:nvSpPr>
        <p:spPr>
          <a:xfrm>
            <a:off x="6142038" y="2259013"/>
            <a:ext cx="2651125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atinLnBrk="1">
              <a:spcBef>
                <a:spcPct val="50000"/>
              </a:spcBef>
            </a:pPr>
            <a:r>
              <a:rPr lang="zh-CN" altLang="en-US" sz="2200" b="1" dirty="0">
                <a:latin typeface="HY강B"/>
                <a:ea typeface="方正准圆简体"/>
              </a:rPr>
              <a:t>个人习惯。</a:t>
            </a:r>
            <a:endParaRPr lang="zh-CN" altLang="en-US" sz="2200" b="1" dirty="0">
              <a:latin typeface="HY강B"/>
              <a:ea typeface="方正准圆简体"/>
            </a:endParaRPr>
          </a:p>
        </p:txBody>
      </p:sp>
      <p:sp>
        <p:nvSpPr>
          <p:cNvPr id="57403" name="Text Box 59"/>
          <p:cNvSpPr txBox="1"/>
          <p:nvPr/>
        </p:nvSpPr>
        <p:spPr>
          <a:xfrm>
            <a:off x="6142038" y="3048000"/>
            <a:ext cx="2678112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atinLnBrk="1">
              <a:spcBef>
                <a:spcPct val="50000"/>
              </a:spcBef>
            </a:pPr>
            <a:r>
              <a:rPr lang="zh-CN" altLang="en-US" sz="2200" b="1" dirty="0">
                <a:latin typeface="HY강B"/>
                <a:ea typeface="方正准圆简体"/>
              </a:rPr>
              <a:t>稀释浓硫酸时会放出大量的热。</a:t>
            </a:r>
            <a:endParaRPr lang="zh-CN" altLang="en-US" sz="2200" b="1" dirty="0">
              <a:latin typeface="HY강B"/>
              <a:ea typeface="方正准圆简体"/>
            </a:endParaRPr>
          </a:p>
        </p:txBody>
      </p:sp>
      <p:sp>
        <p:nvSpPr>
          <p:cNvPr id="57404" name="Text Box 60"/>
          <p:cNvSpPr txBox="1"/>
          <p:nvPr/>
        </p:nvSpPr>
        <p:spPr>
          <a:xfrm>
            <a:off x="6102350" y="4035425"/>
            <a:ext cx="2130425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atinLnBrk="1">
              <a:spcBef>
                <a:spcPct val="50000"/>
              </a:spcBef>
            </a:pPr>
            <a:r>
              <a:rPr lang="zh-CN" altLang="en-US" sz="2200" b="1" dirty="0">
                <a:latin typeface="HY강B"/>
                <a:ea typeface="方正准圆简体"/>
              </a:rPr>
              <a:t>个人习惯。</a:t>
            </a:r>
            <a:endParaRPr lang="zh-CN" altLang="en-US" sz="2200" b="1" dirty="0">
              <a:latin typeface="HY강B"/>
              <a:ea typeface="方正准圆简体"/>
            </a:endParaRPr>
          </a:p>
        </p:txBody>
      </p:sp>
      <p:sp>
        <p:nvSpPr>
          <p:cNvPr id="57405" name="Text Box 61"/>
          <p:cNvSpPr txBox="1"/>
          <p:nvPr/>
        </p:nvSpPr>
        <p:spPr>
          <a:xfrm>
            <a:off x="5661025" y="4835525"/>
            <a:ext cx="3482975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1" indent="0" eaLnBrk="1" latinLnBrk="1" hangingPunct="1">
              <a:buSzPct val="60000"/>
            </a:pPr>
            <a:r>
              <a:rPr lang="zh-CN" altLang="en-US" sz="2200" b="1" dirty="0">
                <a:latin typeface="HY강B"/>
                <a:ea typeface="方正准圆简体"/>
              </a:rPr>
              <a:t>颠倒流程无法继续。</a:t>
            </a:r>
            <a:endParaRPr lang="zh-CN" altLang="en-US" sz="2200" b="1" dirty="0">
              <a:latin typeface="HY강B"/>
              <a:ea typeface="方正准圆简体"/>
            </a:endParaRPr>
          </a:p>
        </p:txBody>
      </p:sp>
      <p:sp>
        <p:nvSpPr>
          <p:cNvPr id="18524" name="Text Box 92"/>
          <p:cNvSpPr txBox="1"/>
          <p:nvPr/>
        </p:nvSpPr>
        <p:spPr>
          <a:xfrm>
            <a:off x="4549775" y="2239963"/>
            <a:ext cx="477838" cy="4429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300" b="1" dirty="0">
                <a:latin typeface="HY강B"/>
                <a:ea typeface="HY강B"/>
              </a:rPr>
              <a:t>是</a:t>
            </a:r>
            <a:endParaRPr lang="zh-CN" altLang="en-US" sz="2300" b="1" dirty="0">
              <a:latin typeface="HY강B"/>
              <a:ea typeface="HY강B"/>
            </a:endParaRPr>
          </a:p>
        </p:txBody>
      </p:sp>
      <p:sp>
        <p:nvSpPr>
          <p:cNvPr id="18525" name="Text Box 93"/>
          <p:cNvSpPr txBox="1"/>
          <p:nvPr/>
        </p:nvSpPr>
        <p:spPr>
          <a:xfrm>
            <a:off x="4557713" y="3248025"/>
            <a:ext cx="477837" cy="4429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300" b="1" dirty="0">
                <a:latin typeface="HY강B"/>
                <a:ea typeface="HY강B"/>
              </a:rPr>
              <a:t>否</a:t>
            </a:r>
            <a:endParaRPr lang="zh-CN" altLang="en-US" sz="2300" b="1" dirty="0">
              <a:latin typeface="HY강B"/>
              <a:ea typeface="HY강B"/>
            </a:endParaRPr>
          </a:p>
        </p:txBody>
      </p:sp>
      <p:sp>
        <p:nvSpPr>
          <p:cNvPr id="18526" name="Text Box 94"/>
          <p:cNvSpPr txBox="1"/>
          <p:nvPr/>
        </p:nvSpPr>
        <p:spPr>
          <a:xfrm>
            <a:off x="4584700" y="4000500"/>
            <a:ext cx="477838" cy="4429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300" b="1" dirty="0">
                <a:latin typeface="HY강B"/>
                <a:ea typeface="HY강B"/>
              </a:rPr>
              <a:t>是</a:t>
            </a:r>
            <a:endParaRPr lang="zh-CN" altLang="en-US" sz="2300" b="1" dirty="0">
              <a:latin typeface="HY강B"/>
              <a:ea typeface="HY강B"/>
            </a:endParaRPr>
          </a:p>
        </p:txBody>
      </p:sp>
      <p:sp>
        <p:nvSpPr>
          <p:cNvPr id="18527" name="Text Box 95"/>
          <p:cNvSpPr txBox="1"/>
          <p:nvPr/>
        </p:nvSpPr>
        <p:spPr>
          <a:xfrm>
            <a:off x="4594225" y="4803775"/>
            <a:ext cx="477838" cy="4429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300" b="1" dirty="0">
                <a:latin typeface="HY강B"/>
                <a:ea typeface="HY강B"/>
              </a:rPr>
              <a:t>否</a:t>
            </a:r>
            <a:endParaRPr lang="zh-CN" altLang="en-US" sz="2300" b="1" dirty="0">
              <a:latin typeface="HY강B"/>
              <a:ea typeface="HY강B"/>
            </a:endParaRPr>
          </a:p>
        </p:txBody>
      </p:sp>
      <p:grpSp>
        <p:nvGrpSpPr>
          <p:cNvPr id="85036" name="Group 44"/>
          <p:cNvGrpSpPr/>
          <p:nvPr/>
        </p:nvGrpSpPr>
        <p:grpSpPr>
          <a:xfrm>
            <a:off x="519113" y="2003425"/>
            <a:ext cx="3124200" cy="3376613"/>
            <a:chOff x="336" y="1271"/>
            <a:chExt cx="1968" cy="2127"/>
          </a:xfrm>
        </p:grpSpPr>
        <p:sp>
          <p:nvSpPr>
            <p:cNvPr id="22567" name="Rectangle 40"/>
            <p:cNvSpPr/>
            <p:nvPr/>
          </p:nvSpPr>
          <p:spPr>
            <a:xfrm>
              <a:off x="393" y="1271"/>
              <a:ext cx="1911" cy="5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22568" name="Rectangle 41"/>
            <p:cNvSpPr/>
            <p:nvPr/>
          </p:nvSpPr>
          <p:spPr>
            <a:xfrm>
              <a:off x="355" y="1919"/>
              <a:ext cx="1911" cy="50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22569" name="Rectangle 42"/>
            <p:cNvSpPr/>
            <p:nvPr/>
          </p:nvSpPr>
          <p:spPr>
            <a:xfrm>
              <a:off x="336" y="2485"/>
              <a:ext cx="1911" cy="38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22570" name="Rectangle 43"/>
            <p:cNvSpPr/>
            <p:nvPr/>
          </p:nvSpPr>
          <p:spPr>
            <a:xfrm>
              <a:off x="353" y="2959"/>
              <a:ext cx="1911" cy="43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85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7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7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02" grpId="0"/>
      <p:bldP spid="57403" grpId="0"/>
      <p:bldP spid="57404" grpId="0"/>
      <p:bldP spid="57405" grpId="0"/>
      <p:bldP spid="18524" grpId="0"/>
      <p:bldP spid="18525" grpId="0"/>
      <p:bldP spid="18526" grpId="0"/>
      <p:bldP spid="185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03200"/>
            <a:ext cx="8229600" cy="70485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活动：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六个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正方形纸盒的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制作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78" name="Text Box 4"/>
          <p:cNvSpPr txBox="1"/>
          <p:nvPr/>
        </p:nvSpPr>
        <p:spPr>
          <a:xfrm>
            <a:off x="4321175" y="1416050"/>
            <a:ext cx="4271963" cy="47529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制作要求：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(1)以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纸为材料制作。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人小组为单位完成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个正方形纸盒的制作。其中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人独立完成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个，其余三人合作完成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个。可自由选择折叠方式。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(3)将纸盒展开成方形，边角整齐，纸盒不易散架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分别记录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个纸盒的时间和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人合作完成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个纸盒的时间。</a:t>
            </a:r>
            <a:endParaRPr lang="zh-CN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79" name="AutoShape 6"/>
          <p:cNvSpPr>
            <a:spLocks noChangeAspect="1"/>
          </p:cNvSpPr>
          <p:nvPr/>
        </p:nvSpPr>
        <p:spPr>
          <a:xfrm>
            <a:off x="2414588" y="1781175"/>
            <a:ext cx="4314825" cy="3295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 latinLnBrk="1"/>
            <a:endParaRPr lang="zh-CN" altLang="en-US" sz="1800" dirty="0">
              <a:latin typeface="HY강B"/>
              <a:ea typeface="HY강B"/>
            </a:endParaRPr>
          </a:p>
        </p:txBody>
      </p:sp>
      <p:pic>
        <p:nvPicPr>
          <p:cNvPr id="24580" name="Picture 11" descr="Image0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63" y="1841500"/>
            <a:ext cx="3873500" cy="2922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Text Box 5"/>
          <p:cNvSpPr txBox="1"/>
          <p:nvPr/>
        </p:nvSpPr>
        <p:spPr>
          <a:xfrm>
            <a:off x="-52387" y="5327650"/>
            <a:ext cx="439896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目标：速度快、质量高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603" name="Picture 4" descr="33115sl"/>
          <p:cNvPicPr>
            <a:picLocks noChangeAspect="1"/>
          </p:cNvPicPr>
          <p:nvPr/>
        </p:nvPicPr>
        <p:blipFill>
          <a:blip r:embed="rId1"/>
          <a:srcRect b="71239"/>
          <a:stretch>
            <a:fillRect/>
          </a:stretch>
        </p:blipFill>
        <p:spPr>
          <a:xfrm>
            <a:off x="-14287" y="14288"/>
            <a:ext cx="4518025" cy="345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Picture 5" descr="33115sl"/>
          <p:cNvPicPr>
            <a:picLocks noChangeAspect="1"/>
          </p:cNvPicPr>
          <p:nvPr/>
        </p:nvPicPr>
        <p:blipFill>
          <a:blip r:embed="rId1"/>
          <a:srcRect t="28479" b="44574"/>
          <a:stretch>
            <a:fillRect/>
          </a:stretch>
        </p:blipFill>
        <p:spPr>
          <a:xfrm>
            <a:off x="-14287" y="3529013"/>
            <a:ext cx="4578350" cy="3278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6" descr="33115sl"/>
          <p:cNvPicPr>
            <a:picLocks noChangeAspect="1"/>
          </p:cNvPicPr>
          <p:nvPr/>
        </p:nvPicPr>
        <p:blipFill>
          <a:blip r:embed="rId1"/>
          <a:srcRect t="57153" b="14325"/>
          <a:stretch>
            <a:fillRect/>
          </a:stretch>
        </p:blipFill>
        <p:spPr>
          <a:xfrm>
            <a:off x="4524375" y="0"/>
            <a:ext cx="4619625" cy="3503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Picture 7" descr="33115sl"/>
          <p:cNvPicPr>
            <a:picLocks noChangeAspect="1"/>
          </p:cNvPicPr>
          <p:nvPr/>
        </p:nvPicPr>
        <p:blipFill>
          <a:blip r:embed="rId1"/>
          <a:srcRect t="85542" b="223"/>
          <a:stretch>
            <a:fillRect/>
          </a:stretch>
        </p:blipFill>
        <p:spPr>
          <a:xfrm>
            <a:off x="4535488" y="3535363"/>
            <a:ext cx="4608512" cy="1744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6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6627" name="Picture 4" descr="34fae6cd7b899e51e8b6f38040a7d933c8950d6e"/>
          <p:cNvPicPr>
            <a:picLocks noChangeAspect="1"/>
          </p:cNvPicPr>
          <p:nvPr/>
        </p:nvPicPr>
        <p:blipFill>
          <a:blip r:embed="rId1">
            <a:lum bright="-12000" contrast="24000"/>
          </a:blip>
          <a:stretch>
            <a:fillRect/>
          </a:stretch>
        </p:blipFill>
        <p:spPr>
          <a:xfrm>
            <a:off x="1790700" y="0"/>
            <a:ext cx="55626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203200"/>
            <a:ext cx="8229600" cy="704850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活动：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六个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正方形纸盒的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制作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0" name="Text Box 4"/>
          <p:cNvSpPr txBox="1"/>
          <p:nvPr/>
        </p:nvSpPr>
        <p:spPr>
          <a:xfrm>
            <a:off x="4321175" y="1416050"/>
            <a:ext cx="4271963" cy="47386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制作要求：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(1)以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8k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纸为材料制作。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人小组为单位完成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个正方形纸盒的制作。其中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人独立完成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个，其余三人合作完成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个。可自由选择折叠方式。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(3)将纸盒展开成方形，边角整齐，纸盒不易散架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分别记录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个纸盒的时间和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人合作完成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个纸盒的时间。</a:t>
            </a:r>
            <a:endParaRPr lang="zh-CN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1" name="AutoShape 6"/>
          <p:cNvSpPr>
            <a:spLocks noChangeAspect="1"/>
          </p:cNvSpPr>
          <p:nvPr/>
        </p:nvSpPr>
        <p:spPr>
          <a:xfrm>
            <a:off x="2414588" y="1781175"/>
            <a:ext cx="4314825" cy="3295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 latinLnBrk="1"/>
            <a:endParaRPr lang="zh-CN" altLang="en-US" sz="1800" dirty="0">
              <a:latin typeface="HY강B"/>
              <a:ea typeface="HY강B"/>
            </a:endParaRPr>
          </a:p>
        </p:txBody>
      </p:sp>
      <p:pic>
        <p:nvPicPr>
          <p:cNvPr id="27652" name="Picture 11" descr="Image0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63" y="1841500"/>
            <a:ext cx="3873500" cy="2922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3" name="Text Box 5"/>
          <p:cNvSpPr txBox="1"/>
          <p:nvPr/>
        </p:nvSpPr>
        <p:spPr>
          <a:xfrm>
            <a:off x="-52387" y="5327650"/>
            <a:ext cx="439896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目标：速度快、质量高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  <a:ln/>
        </p:spPr>
        <p:txBody>
          <a:bodyPr vert="horz" wrap="square" lIns="91440" tIns="45720" rIns="91440" bIns="45720" anchor="ctr" anchorCtr="0"/>
          <a:p>
            <a:pPr/>
            <a:endParaRPr kumimoji="1" lang="zh-CN" altLang="en-US" dirty="0">
              <a:latin typeface="+mj-lt"/>
              <a:ea typeface="+mj-ea"/>
              <a:cs typeface="HY강B"/>
            </a:endParaRPr>
          </a:p>
        </p:txBody>
      </p:sp>
      <p:sp>
        <p:nvSpPr>
          <p:cNvPr id="28674" name="WordArt 4"/>
          <p:cNvSpPr>
            <a:spLocks noTextEdit="1"/>
          </p:cNvSpPr>
          <p:nvPr/>
        </p:nvSpPr>
        <p:spPr>
          <a:xfrm>
            <a:off x="227013" y="1885950"/>
            <a:ext cx="4635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zh-CN" altLang="en-US" sz="3600" b="1"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5" name="WordArt 5"/>
          <p:cNvSpPr>
            <a:spLocks noTextEdit="1"/>
          </p:cNvSpPr>
          <p:nvPr/>
        </p:nvSpPr>
        <p:spPr>
          <a:xfrm>
            <a:off x="252413" y="2882900"/>
            <a:ext cx="4635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zh-CN" altLang="en-US" sz="3600" b="1"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6" name="WordArt 6"/>
          <p:cNvSpPr>
            <a:spLocks noTextEdit="1"/>
          </p:cNvSpPr>
          <p:nvPr/>
        </p:nvSpPr>
        <p:spPr>
          <a:xfrm>
            <a:off x="296863" y="3784600"/>
            <a:ext cx="4635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endParaRPr lang="zh-CN" altLang="en-US" sz="3600" b="1">
              <a:ln w="952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7" name="WordArt 7"/>
          <p:cNvSpPr>
            <a:spLocks noTextEdit="1"/>
          </p:cNvSpPr>
          <p:nvPr/>
        </p:nvSpPr>
        <p:spPr>
          <a:xfrm>
            <a:off x="322263" y="4667250"/>
            <a:ext cx="4635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endParaRPr lang="zh-CN" altLang="en-US" sz="3600" b="1"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952" name="Rectangle 8"/>
          <p:cNvSpPr/>
          <p:nvPr/>
        </p:nvSpPr>
        <p:spPr>
          <a:xfrm>
            <a:off x="1162050" y="1885950"/>
            <a:ext cx="19431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第一个纸盒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82953" name="Rectangle 9"/>
          <p:cNvSpPr/>
          <p:nvPr/>
        </p:nvSpPr>
        <p:spPr>
          <a:xfrm>
            <a:off x="1149350" y="2787650"/>
            <a:ext cx="194310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solidFill>
                  <a:srgbClr val="0066CC"/>
                </a:solidFill>
                <a:latin typeface="HY강B"/>
                <a:ea typeface="HY강B"/>
              </a:rPr>
              <a:t>第一个纸盒</a:t>
            </a:r>
            <a:endParaRPr lang="zh-CN" altLang="en-US" sz="28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2954" name="Rectangle 10"/>
          <p:cNvSpPr/>
          <p:nvPr/>
        </p:nvSpPr>
        <p:spPr>
          <a:xfrm>
            <a:off x="1168400" y="3721100"/>
            <a:ext cx="1943100" cy="609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solidFill>
                  <a:srgbClr val="FF3300"/>
                </a:solidFill>
                <a:latin typeface="HY강B"/>
                <a:ea typeface="HY강B"/>
              </a:rPr>
              <a:t>第一个纸盒</a:t>
            </a:r>
            <a:endParaRPr lang="zh-CN" altLang="en-US" sz="28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sp>
        <p:nvSpPr>
          <p:cNvPr id="82955" name="Rectangle 11"/>
          <p:cNvSpPr/>
          <p:nvPr/>
        </p:nvSpPr>
        <p:spPr>
          <a:xfrm>
            <a:off x="1168400" y="4616450"/>
            <a:ext cx="1943100" cy="609600"/>
          </a:xfrm>
          <a:prstGeom prst="rect">
            <a:avLst/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solidFill>
                  <a:srgbClr val="008000"/>
                </a:solidFill>
                <a:latin typeface="HY강B"/>
                <a:ea typeface="HY강B"/>
              </a:rPr>
              <a:t>第一个纸盒</a:t>
            </a:r>
            <a:endParaRPr lang="zh-CN" altLang="en-US" sz="2800" b="1" dirty="0">
              <a:solidFill>
                <a:srgbClr val="008000"/>
              </a:solidFill>
              <a:latin typeface="HY강B"/>
              <a:ea typeface="HY강B"/>
            </a:endParaRPr>
          </a:p>
        </p:txBody>
      </p:sp>
      <p:sp>
        <p:nvSpPr>
          <p:cNvPr id="82956" name="Rectangle 12"/>
          <p:cNvSpPr/>
          <p:nvPr/>
        </p:nvSpPr>
        <p:spPr>
          <a:xfrm>
            <a:off x="3606800" y="1854200"/>
            <a:ext cx="19431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第二个纸盒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82957" name="Rectangle 13"/>
          <p:cNvSpPr/>
          <p:nvPr/>
        </p:nvSpPr>
        <p:spPr>
          <a:xfrm>
            <a:off x="6083300" y="1835150"/>
            <a:ext cx="19431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第三个纸盒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82958" name="Line 14"/>
          <p:cNvSpPr/>
          <p:nvPr/>
        </p:nvSpPr>
        <p:spPr>
          <a:xfrm>
            <a:off x="3105150" y="217170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2959" name="Line 15"/>
          <p:cNvSpPr/>
          <p:nvPr/>
        </p:nvSpPr>
        <p:spPr>
          <a:xfrm>
            <a:off x="5549900" y="217805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" name="TextBox 14"/>
          <p:cNvSpPr txBox="1"/>
          <p:nvPr/>
        </p:nvSpPr>
        <p:spPr>
          <a:xfrm>
            <a:off x="8032750" y="1790700"/>
            <a:ext cx="111125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串行</a:t>
            </a:r>
            <a:endParaRPr lang="zh-CN" altLang="en-US" sz="3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03650" y="3714750"/>
            <a:ext cx="111125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并行</a:t>
            </a:r>
            <a:endParaRPr lang="zh-CN" altLang="en-US" sz="3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10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10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10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2" grpId="0" animBg="1"/>
      <p:bldP spid="82953" grpId="0" animBg="1"/>
      <p:bldP spid="82954" grpId="0" animBg="1"/>
      <p:bldP spid="82955" grpId="0" animBg="1"/>
      <p:bldP spid="82956" grpId="0" animBg="1"/>
      <p:bldP spid="82957" grpId="0" animBg="1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697" name="Group 4"/>
          <p:cNvGrpSpPr/>
          <p:nvPr/>
        </p:nvGrpSpPr>
        <p:grpSpPr>
          <a:xfrm>
            <a:off x="2128838" y="3678238"/>
            <a:ext cx="5240337" cy="2209800"/>
            <a:chOff x="912" y="2454"/>
            <a:chExt cx="3301" cy="1392"/>
          </a:xfrm>
        </p:grpSpPr>
        <p:sp>
          <p:nvSpPr>
            <p:cNvPr id="29698" name="Rectangle 5"/>
            <p:cNvSpPr/>
            <p:nvPr/>
          </p:nvSpPr>
          <p:spPr>
            <a:xfrm>
              <a:off x="960" y="2496"/>
              <a:ext cx="576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699" name="Rectangle 6"/>
            <p:cNvSpPr/>
            <p:nvPr/>
          </p:nvSpPr>
          <p:spPr>
            <a:xfrm>
              <a:off x="960" y="2880"/>
              <a:ext cx="576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0" name="Rectangle 7"/>
            <p:cNvSpPr/>
            <p:nvPr/>
          </p:nvSpPr>
          <p:spPr>
            <a:xfrm>
              <a:off x="960" y="3264"/>
              <a:ext cx="576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Line 8"/>
            <p:cNvSpPr/>
            <p:nvPr/>
          </p:nvSpPr>
          <p:spPr>
            <a:xfrm>
              <a:off x="1248" y="273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02" name="Line 9"/>
            <p:cNvSpPr/>
            <p:nvPr/>
          </p:nvSpPr>
          <p:spPr>
            <a:xfrm>
              <a:off x="1248" y="312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03" name="Rectangle 10"/>
            <p:cNvSpPr/>
            <p:nvPr/>
          </p:nvSpPr>
          <p:spPr>
            <a:xfrm>
              <a:off x="2965" y="3318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Rectangle 11"/>
            <p:cNvSpPr/>
            <p:nvPr/>
          </p:nvSpPr>
          <p:spPr>
            <a:xfrm>
              <a:off x="2245" y="2454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5" name="Rectangle 12"/>
            <p:cNvSpPr/>
            <p:nvPr/>
          </p:nvSpPr>
          <p:spPr>
            <a:xfrm>
              <a:off x="2965" y="2454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Rectangle 13"/>
            <p:cNvSpPr/>
            <p:nvPr/>
          </p:nvSpPr>
          <p:spPr>
            <a:xfrm>
              <a:off x="3685" y="2454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Rectangle 14"/>
            <p:cNvSpPr/>
            <p:nvPr/>
          </p:nvSpPr>
          <p:spPr>
            <a:xfrm>
              <a:off x="2245" y="2886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8" name="Rectangle 15"/>
            <p:cNvSpPr/>
            <p:nvPr/>
          </p:nvSpPr>
          <p:spPr>
            <a:xfrm>
              <a:off x="2965" y="2886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Rectangle 16"/>
            <p:cNvSpPr/>
            <p:nvPr/>
          </p:nvSpPr>
          <p:spPr>
            <a:xfrm>
              <a:off x="3685" y="2886"/>
              <a:ext cx="52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Line 17"/>
            <p:cNvSpPr/>
            <p:nvPr/>
          </p:nvSpPr>
          <p:spPr>
            <a:xfrm>
              <a:off x="2485" y="269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1" name="Line 18"/>
            <p:cNvSpPr/>
            <p:nvPr/>
          </p:nvSpPr>
          <p:spPr>
            <a:xfrm>
              <a:off x="3205" y="312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2" name="Line 19"/>
            <p:cNvSpPr/>
            <p:nvPr/>
          </p:nvSpPr>
          <p:spPr>
            <a:xfrm>
              <a:off x="3973" y="269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3" name="Line 20"/>
            <p:cNvSpPr/>
            <p:nvPr/>
          </p:nvSpPr>
          <p:spPr>
            <a:xfrm>
              <a:off x="3205" y="269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cxnSp>
          <p:nvCxnSpPr>
            <p:cNvPr id="29714" name="AutoShape 21"/>
            <p:cNvCxnSpPr>
              <a:stCxn id="29707" idx="2"/>
              <a:endCxn id="29703" idx="1"/>
            </p:cNvCxnSpPr>
            <p:nvPr/>
          </p:nvCxnSpPr>
          <p:spPr>
            <a:xfrm rot="-5400000" flipH="1">
              <a:off x="2581" y="3054"/>
              <a:ext cx="312" cy="456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cxnSp>
          <p:nvCxnSpPr>
            <p:cNvPr id="29715" name="AutoShape 22"/>
            <p:cNvCxnSpPr>
              <a:stCxn id="29709" idx="2"/>
              <a:endCxn id="29703" idx="3"/>
            </p:cNvCxnSpPr>
            <p:nvPr/>
          </p:nvCxnSpPr>
          <p:spPr>
            <a:xfrm rot="5400000">
              <a:off x="3565" y="3054"/>
              <a:ext cx="312" cy="456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sp>
          <p:nvSpPr>
            <p:cNvPr id="29716" name="Text Box 23"/>
            <p:cNvSpPr txBox="1"/>
            <p:nvPr/>
          </p:nvSpPr>
          <p:spPr>
            <a:xfrm>
              <a:off x="912" y="3609"/>
              <a:ext cx="48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b="1" dirty="0">
                  <a:latin typeface="Arial" panose="020B0604020202020204" pitchFamily="34" charset="0"/>
                  <a:ea typeface="黑体" panose="02010609060101010101" pitchFamily="49" charset="-122"/>
                </a:rPr>
                <a:t>  串行</a:t>
              </a:r>
              <a:endParaRPr lang="zh-CN" altLang="en-US" sz="1800" b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9717" name="Text Box 24"/>
            <p:cNvSpPr txBox="1"/>
            <p:nvPr/>
          </p:nvSpPr>
          <p:spPr>
            <a:xfrm>
              <a:off x="2897" y="3615"/>
              <a:ext cx="5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b="1" dirty="0">
                  <a:latin typeface="Arial" panose="020B0604020202020204" pitchFamily="34" charset="0"/>
                  <a:ea typeface="黑体" panose="02010609060101010101" pitchFamily="49" charset="-122"/>
                </a:rPr>
                <a:t>   并行</a:t>
              </a:r>
              <a:endParaRPr lang="zh-CN" altLang="en-US" sz="1800" b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9718" name="Rectangle 25"/>
          <p:cNvSpPr/>
          <p:nvPr/>
        </p:nvSpPr>
        <p:spPr>
          <a:xfrm>
            <a:off x="293688" y="1006475"/>
            <a:ext cx="8629650" cy="318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串行和并行</a:t>
            </a:r>
            <a:endParaRPr lang="en-US" altLang="zh-CN" sz="36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◆ 串行工序的特点：上一道工序完成之后才能进入下一道工序。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　　◆ 并行工序的特点：多人或多台设备同时进行工作。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33" name="AutoShape 25"/>
          <p:cNvSpPr/>
          <p:nvPr/>
        </p:nvSpPr>
        <p:spPr>
          <a:xfrm>
            <a:off x="1104900" y="6042025"/>
            <a:ext cx="6924675" cy="712788"/>
          </a:xfrm>
          <a:prstGeom prst="roundRect">
            <a:avLst>
              <a:gd name="adj" fmla="val 10347"/>
            </a:avLst>
          </a:prstGeom>
          <a:solidFill>
            <a:schemeClr val="bg1"/>
          </a:solidFill>
          <a:ln w="508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  <p:txBody>
          <a:bodyPr wrap="none" anchor="ctr" anchorCtr="0"/>
          <a:p>
            <a:pPr algn="ctr" latinLnBrk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科学合理的流程可以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提高生产、工作效率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720" name="TextBox 29"/>
          <p:cNvSpPr txBox="1"/>
          <p:nvPr/>
        </p:nvSpPr>
        <p:spPr>
          <a:xfrm>
            <a:off x="276225" y="258763"/>
            <a:ext cx="481647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流程中工序的作业方式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4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HY강B"/>
              <a:ea typeface="HY강B"/>
            </a:endParaRPr>
          </a:p>
        </p:txBody>
      </p:sp>
      <p:sp>
        <p:nvSpPr>
          <p:cNvPr id="30722" name="WordArt 3"/>
          <p:cNvSpPr>
            <a:spLocks noTextEdit="1"/>
          </p:cNvSpPr>
          <p:nvPr/>
        </p:nvSpPr>
        <p:spPr>
          <a:xfrm>
            <a:off x="207963" y="342900"/>
            <a:ext cx="4635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 b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zh-CN" altLang="en-US" sz="3600" b="1"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146"/>
          <p:cNvGrpSpPr/>
          <p:nvPr/>
        </p:nvGrpSpPr>
        <p:grpSpPr>
          <a:xfrm>
            <a:off x="233363" y="1339850"/>
            <a:ext cx="488950" cy="1435100"/>
            <a:chOff x="147" y="844"/>
            <a:chExt cx="308" cy="904"/>
          </a:xfrm>
        </p:grpSpPr>
        <p:sp>
          <p:nvSpPr>
            <p:cNvPr id="30724" name="WordArt 4"/>
            <p:cNvSpPr>
              <a:spLocks noTextEdit="1"/>
            </p:cNvSpPr>
            <p:nvPr/>
          </p:nvSpPr>
          <p:spPr>
            <a:xfrm>
              <a:off x="147" y="844"/>
              <a:ext cx="29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zh-CN" altLang="en-US" sz="3600" b="1"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25" name="WordArt 5"/>
            <p:cNvSpPr>
              <a:spLocks noTextEdit="1"/>
            </p:cNvSpPr>
            <p:nvPr/>
          </p:nvSpPr>
          <p:spPr>
            <a:xfrm>
              <a:off x="163" y="1412"/>
              <a:ext cx="29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endParaRPr lang="zh-CN" altLang="en-US" sz="3600" b="1">
                <a:ln w="9525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3975" name="Rectangle 7"/>
          <p:cNvSpPr/>
          <p:nvPr/>
        </p:nvSpPr>
        <p:spPr>
          <a:xfrm>
            <a:off x="857250" y="342900"/>
            <a:ext cx="81915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1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3979" name="Rectangle 11"/>
          <p:cNvSpPr/>
          <p:nvPr/>
        </p:nvSpPr>
        <p:spPr>
          <a:xfrm>
            <a:off x="2235200" y="330200"/>
            <a:ext cx="8382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2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3980" name="Rectangle 12"/>
          <p:cNvSpPr/>
          <p:nvPr/>
        </p:nvSpPr>
        <p:spPr>
          <a:xfrm>
            <a:off x="3644900" y="349250"/>
            <a:ext cx="81915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3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3981" name="Line 13"/>
          <p:cNvSpPr/>
          <p:nvPr/>
        </p:nvSpPr>
        <p:spPr>
          <a:xfrm>
            <a:off x="1714500" y="64770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3982" name="Line 14"/>
          <p:cNvSpPr/>
          <p:nvPr/>
        </p:nvSpPr>
        <p:spPr>
          <a:xfrm>
            <a:off x="3092450" y="67310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3988" name="Line 20"/>
          <p:cNvSpPr/>
          <p:nvPr/>
        </p:nvSpPr>
        <p:spPr>
          <a:xfrm>
            <a:off x="4508500" y="66040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3989" name="Rectangle 21"/>
          <p:cNvSpPr/>
          <p:nvPr/>
        </p:nvSpPr>
        <p:spPr>
          <a:xfrm>
            <a:off x="5035550" y="349250"/>
            <a:ext cx="81915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1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3990" name="Rectangle 22"/>
          <p:cNvSpPr/>
          <p:nvPr/>
        </p:nvSpPr>
        <p:spPr>
          <a:xfrm>
            <a:off x="6413500" y="336550"/>
            <a:ext cx="8382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2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3992" name="Line 24"/>
          <p:cNvSpPr/>
          <p:nvPr/>
        </p:nvSpPr>
        <p:spPr>
          <a:xfrm>
            <a:off x="5892800" y="65405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3993" name="Line 25"/>
          <p:cNvSpPr/>
          <p:nvPr/>
        </p:nvSpPr>
        <p:spPr>
          <a:xfrm>
            <a:off x="7270750" y="67945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" name="Group 51"/>
          <p:cNvGrpSpPr/>
          <p:nvPr/>
        </p:nvGrpSpPr>
        <p:grpSpPr>
          <a:xfrm>
            <a:off x="7823200" y="355600"/>
            <a:ext cx="1225550" cy="609600"/>
            <a:chOff x="4988" y="284"/>
            <a:chExt cx="772" cy="384"/>
          </a:xfrm>
        </p:grpSpPr>
        <p:sp>
          <p:nvSpPr>
            <p:cNvPr id="30737" name="Rectangle 23"/>
            <p:cNvSpPr/>
            <p:nvPr/>
          </p:nvSpPr>
          <p:spPr>
            <a:xfrm>
              <a:off x="4988" y="284"/>
              <a:ext cx="516" cy="38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HY강B"/>
                  <a:ea typeface="HY강B"/>
                </a:rPr>
                <a:t>步骤</a:t>
              </a:r>
              <a:r>
                <a:rPr lang="en-US" altLang="zh-CN" sz="2400" b="1" dirty="0">
                  <a:latin typeface="HY강B"/>
                  <a:ea typeface="HY강B"/>
                </a:rPr>
                <a:t>3</a:t>
              </a:r>
              <a:endParaRPr lang="en-US" altLang="zh-CN" sz="2400" b="1" dirty="0">
                <a:latin typeface="HY강B"/>
                <a:ea typeface="HY강B"/>
              </a:endParaRPr>
            </a:p>
          </p:txBody>
        </p:sp>
        <p:sp>
          <p:nvSpPr>
            <p:cNvPr id="30738" name="Text Box 50"/>
            <p:cNvSpPr txBox="1"/>
            <p:nvPr/>
          </p:nvSpPr>
          <p:spPr>
            <a:xfrm>
              <a:off x="5388" y="391"/>
              <a:ext cx="3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HY강B"/>
                  <a:ea typeface="HY강B"/>
                </a:rPr>
                <a:t>……</a:t>
              </a:r>
              <a:endParaRPr lang="en-US" altLang="zh-CN" dirty="0">
                <a:latin typeface="HY강B"/>
                <a:ea typeface="HY강B"/>
              </a:endParaRPr>
            </a:p>
          </p:txBody>
        </p:sp>
      </p:grpSp>
      <p:sp>
        <p:nvSpPr>
          <p:cNvPr id="84020" name="Rectangle 52"/>
          <p:cNvSpPr/>
          <p:nvPr/>
        </p:nvSpPr>
        <p:spPr>
          <a:xfrm>
            <a:off x="876300" y="1320800"/>
            <a:ext cx="81915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1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021" name="Rectangle 53"/>
          <p:cNvSpPr/>
          <p:nvPr/>
        </p:nvSpPr>
        <p:spPr>
          <a:xfrm>
            <a:off x="2254250" y="1308100"/>
            <a:ext cx="83820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022" name="Rectangle 54"/>
          <p:cNvSpPr/>
          <p:nvPr/>
        </p:nvSpPr>
        <p:spPr>
          <a:xfrm>
            <a:off x="3663950" y="13271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3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023" name="Line 55"/>
          <p:cNvSpPr/>
          <p:nvPr/>
        </p:nvSpPr>
        <p:spPr>
          <a:xfrm>
            <a:off x="1733550" y="1625600"/>
            <a:ext cx="5143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24" name="Line 56"/>
          <p:cNvSpPr/>
          <p:nvPr/>
        </p:nvSpPr>
        <p:spPr>
          <a:xfrm>
            <a:off x="3111500" y="1651000"/>
            <a:ext cx="5143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25" name="Line 57"/>
          <p:cNvSpPr/>
          <p:nvPr/>
        </p:nvSpPr>
        <p:spPr>
          <a:xfrm>
            <a:off x="4527550" y="1638300"/>
            <a:ext cx="5143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26" name="Rectangle 58"/>
          <p:cNvSpPr/>
          <p:nvPr/>
        </p:nvSpPr>
        <p:spPr>
          <a:xfrm>
            <a:off x="5054600" y="13271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1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027" name="Rectangle 59"/>
          <p:cNvSpPr/>
          <p:nvPr/>
        </p:nvSpPr>
        <p:spPr>
          <a:xfrm>
            <a:off x="6432550" y="1314450"/>
            <a:ext cx="83820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028" name="Line 60"/>
          <p:cNvSpPr/>
          <p:nvPr/>
        </p:nvSpPr>
        <p:spPr>
          <a:xfrm>
            <a:off x="5911850" y="1631950"/>
            <a:ext cx="5143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29" name="Line 61"/>
          <p:cNvSpPr/>
          <p:nvPr/>
        </p:nvSpPr>
        <p:spPr>
          <a:xfrm>
            <a:off x="7289800" y="1657350"/>
            <a:ext cx="5143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4" name="Group 62"/>
          <p:cNvGrpSpPr/>
          <p:nvPr/>
        </p:nvGrpSpPr>
        <p:grpSpPr>
          <a:xfrm>
            <a:off x="7842250" y="1333500"/>
            <a:ext cx="1225550" cy="609600"/>
            <a:chOff x="4988" y="284"/>
            <a:chExt cx="772" cy="384"/>
          </a:xfrm>
        </p:grpSpPr>
        <p:sp>
          <p:nvSpPr>
            <p:cNvPr id="30750" name="Rectangle 63"/>
            <p:cNvSpPr/>
            <p:nvPr/>
          </p:nvSpPr>
          <p:spPr>
            <a:xfrm>
              <a:off x="4988" y="284"/>
              <a:ext cx="516" cy="38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0066CC"/>
                  </a:solidFill>
                  <a:latin typeface="HY강B"/>
                  <a:ea typeface="HY강B"/>
                </a:rPr>
                <a:t>步骤</a:t>
              </a:r>
              <a:r>
                <a:rPr lang="en-US" altLang="zh-CN" sz="2400" b="1" dirty="0">
                  <a:solidFill>
                    <a:srgbClr val="0066CC"/>
                  </a:solidFill>
                  <a:latin typeface="HY강B"/>
                  <a:ea typeface="HY강B"/>
                </a:rPr>
                <a:t>3</a:t>
              </a:r>
              <a:endParaRPr lang="en-US" altLang="zh-CN" sz="2400" b="1" dirty="0">
                <a:solidFill>
                  <a:srgbClr val="0066CC"/>
                </a:solidFill>
                <a:latin typeface="HY강B"/>
                <a:ea typeface="HY강B"/>
              </a:endParaRPr>
            </a:p>
          </p:txBody>
        </p:sp>
        <p:sp>
          <p:nvSpPr>
            <p:cNvPr id="30751" name="Text Box 64"/>
            <p:cNvSpPr txBox="1"/>
            <p:nvPr/>
          </p:nvSpPr>
          <p:spPr>
            <a:xfrm>
              <a:off x="5388" y="391"/>
              <a:ext cx="3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0066CC"/>
                  </a:solidFill>
                  <a:latin typeface="HY강B"/>
                  <a:ea typeface="HY강B"/>
                </a:rPr>
                <a:t>……</a:t>
              </a:r>
              <a:endParaRPr lang="en-US" altLang="zh-CN" dirty="0">
                <a:solidFill>
                  <a:srgbClr val="0066CC"/>
                </a:solidFill>
                <a:latin typeface="HY강B"/>
                <a:ea typeface="HY강B"/>
              </a:endParaRPr>
            </a:p>
          </p:txBody>
        </p:sp>
      </p:grpSp>
      <p:sp>
        <p:nvSpPr>
          <p:cNvPr id="84033" name="Rectangle 65"/>
          <p:cNvSpPr/>
          <p:nvPr/>
        </p:nvSpPr>
        <p:spPr>
          <a:xfrm>
            <a:off x="876300" y="2222500"/>
            <a:ext cx="81915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1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sp>
        <p:nvSpPr>
          <p:cNvPr id="84034" name="Rectangle 66"/>
          <p:cNvSpPr/>
          <p:nvPr/>
        </p:nvSpPr>
        <p:spPr>
          <a:xfrm>
            <a:off x="2254250" y="2209800"/>
            <a:ext cx="83820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sp>
        <p:nvSpPr>
          <p:cNvPr id="84035" name="Rectangle 67"/>
          <p:cNvSpPr/>
          <p:nvPr/>
        </p:nvSpPr>
        <p:spPr>
          <a:xfrm>
            <a:off x="3663950" y="22288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3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sp>
        <p:nvSpPr>
          <p:cNvPr id="84036" name="Line 68"/>
          <p:cNvSpPr/>
          <p:nvPr/>
        </p:nvSpPr>
        <p:spPr>
          <a:xfrm>
            <a:off x="1733550" y="2527300"/>
            <a:ext cx="51435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37" name="Line 69"/>
          <p:cNvSpPr/>
          <p:nvPr/>
        </p:nvSpPr>
        <p:spPr>
          <a:xfrm>
            <a:off x="3111500" y="2552700"/>
            <a:ext cx="51435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38" name="Line 70"/>
          <p:cNvSpPr/>
          <p:nvPr/>
        </p:nvSpPr>
        <p:spPr>
          <a:xfrm>
            <a:off x="4527550" y="2540000"/>
            <a:ext cx="51435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39" name="Rectangle 71"/>
          <p:cNvSpPr/>
          <p:nvPr/>
        </p:nvSpPr>
        <p:spPr>
          <a:xfrm>
            <a:off x="5054600" y="22288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1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sp>
        <p:nvSpPr>
          <p:cNvPr id="84040" name="Rectangle 72"/>
          <p:cNvSpPr/>
          <p:nvPr/>
        </p:nvSpPr>
        <p:spPr>
          <a:xfrm>
            <a:off x="6432550" y="2216150"/>
            <a:ext cx="83820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sp>
        <p:nvSpPr>
          <p:cNvPr id="84041" name="Line 73"/>
          <p:cNvSpPr/>
          <p:nvPr/>
        </p:nvSpPr>
        <p:spPr>
          <a:xfrm>
            <a:off x="5911850" y="2533650"/>
            <a:ext cx="51435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42" name="Line 74"/>
          <p:cNvSpPr/>
          <p:nvPr/>
        </p:nvSpPr>
        <p:spPr>
          <a:xfrm>
            <a:off x="7289800" y="2559050"/>
            <a:ext cx="514350" cy="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5" name="Group 75"/>
          <p:cNvGrpSpPr/>
          <p:nvPr/>
        </p:nvGrpSpPr>
        <p:grpSpPr>
          <a:xfrm>
            <a:off x="7842250" y="2235200"/>
            <a:ext cx="1225550" cy="609600"/>
            <a:chOff x="4988" y="284"/>
            <a:chExt cx="772" cy="384"/>
          </a:xfrm>
        </p:grpSpPr>
        <p:sp>
          <p:nvSpPr>
            <p:cNvPr id="30763" name="Rectangle 76"/>
            <p:cNvSpPr/>
            <p:nvPr/>
          </p:nvSpPr>
          <p:spPr>
            <a:xfrm>
              <a:off x="4988" y="284"/>
              <a:ext cx="516" cy="384"/>
            </a:xfrm>
            <a:prstGeom prst="rect">
              <a:avLst/>
            </a:prstGeom>
            <a:noFill/>
            <a:ln w="381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FF3300"/>
                  </a:solidFill>
                  <a:latin typeface="HY강B"/>
                  <a:ea typeface="HY강B"/>
                </a:rPr>
                <a:t>步骤</a:t>
              </a:r>
              <a:r>
                <a:rPr lang="en-US" altLang="zh-CN" sz="2400" b="1" dirty="0">
                  <a:solidFill>
                    <a:srgbClr val="FF3300"/>
                  </a:solidFill>
                  <a:latin typeface="HY강B"/>
                  <a:ea typeface="HY강B"/>
                </a:rPr>
                <a:t>3</a:t>
              </a:r>
              <a:endParaRPr lang="en-US" altLang="zh-CN" sz="2400" b="1" dirty="0">
                <a:solidFill>
                  <a:srgbClr val="FF3300"/>
                </a:solidFill>
                <a:latin typeface="HY강B"/>
                <a:ea typeface="HY강B"/>
              </a:endParaRPr>
            </a:p>
          </p:txBody>
        </p:sp>
        <p:sp>
          <p:nvSpPr>
            <p:cNvPr id="30764" name="Text Box 77"/>
            <p:cNvSpPr txBox="1"/>
            <p:nvPr/>
          </p:nvSpPr>
          <p:spPr>
            <a:xfrm>
              <a:off x="5388" y="391"/>
              <a:ext cx="3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FF3300"/>
                  </a:solidFill>
                  <a:latin typeface="HY강B"/>
                  <a:ea typeface="HY강B"/>
                </a:rPr>
                <a:t>……</a:t>
              </a:r>
              <a:endParaRPr lang="en-US" altLang="zh-CN" dirty="0">
                <a:solidFill>
                  <a:srgbClr val="FF3300"/>
                </a:solidFill>
                <a:latin typeface="HY강B"/>
                <a:ea typeface="HY강B"/>
              </a:endParaRPr>
            </a:p>
          </p:txBody>
        </p:sp>
      </p:grpSp>
      <p:grpSp>
        <p:nvGrpSpPr>
          <p:cNvPr id="6" name="Group 140"/>
          <p:cNvGrpSpPr/>
          <p:nvPr/>
        </p:nvGrpSpPr>
        <p:grpSpPr>
          <a:xfrm>
            <a:off x="233363" y="3397250"/>
            <a:ext cx="514350" cy="3098800"/>
            <a:chOff x="147" y="2140"/>
            <a:chExt cx="324" cy="1952"/>
          </a:xfrm>
        </p:grpSpPr>
        <p:sp>
          <p:nvSpPr>
            <p:cNvPr id="30766" name="WordArt 81"/>
            <p:cNvSpPr>
              <a:spLocks noTextEdit="1"/>
            </p:cNvSpPr>
            <p:nvPr/>
          </p:nvSpPr>
          <p:spPr>
            <a:xfrm>
              <a:off x="147" y="2140"/>
              <a:ext cx="29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zh-CN" altLang="en-US" sz="3600" b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67" name="WordArt 82"/>
            <p:cNvSpPr>
              <a:spLocks noTextEdit="1"/>
            </p:cNvSpPr>
            <p:nvPr/>
          </p:nvSpPr>
          <p:spPr>
            <a:xfrm>
              <a:off x="163" y="2972"/>
              <a:ext cx="29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zh-CN" altLang="en-US" sz="3600" b="1"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68" name="WordArt 83"/>
            <p:cNvSpPr>
              <a:spLocks noTextEdit="1"/>
            </p:cNvSpPr>
            <p:nvPr/>
          </p:nvSpPr>
          <p:spPr>
            <a:xfrm>
              <a:off x="179" y="3756"/>
              <a:ext cx="29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endParaRPr lang="zh-CN" altLang="en-US" sz="3600" b="1">
                <a:ln w="9525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4052" name="Rectangle 84"/>
          <p:cNvSpPr/>
          <p:nvPr/>
        </p:nvSpPr>
        <p:spPr>
          <a:xfrm>
            <a:off x="876300" y="3378200"/>
            <a:ext cx="81915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1</a:t>
            </a:r>
            <a:endParaRPr lang="en-US" altLang="zh-CN" sz="2400" b="1" dirty="0">
              <a:latin typeface="HY강B"/>
              <a:ea typeface="HY강B"/>
            </a:endParaRPr>
          </a:p>
        </p:txBody>
      </p:sp>
      <p:grpSp>
        <p:nvGrpSpPr>
          <p:cNvPr id="7" name="Group 94"/>
          <p:cNvGrpSpPr/>
          <p:nvPr/>
        </p:nvGrpSpPr>
        <p:grpSpPr>
          <a:xfrm>
            <a:off x="5080000" y="3397250"/>
            <a:ext cx="1225550" cy="609600"/>
            <a:chOff x="4988" y="284"/>
            <a:chExt cx="772" cy="384"/>
          </a:xfrm>
        </p:grpSpPr>
        <p:sp>
          <p:nvSpPr>
            <p:cNvPr id="30771" name="Rectangle 95"/>
            <p:cNvSpPr/>
            <p:nvPr/>
          </p:nvSpPr>
          <p:spPr>
            <a:xfrm>
              <a:off x="4988" y="284"/>
              <a:ext cx="516" cy="38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HY강B"/>
                  <a:ea typeface="HY강B"/>
                </a:rPr>
                <a:t>步骤</a:t>
              </a:r>
              <a:r>
                <a:rPr lang="en-US" altLang="zh-CN" sz="2400" b="1" dirty="0">
                  <a:latin typeface="HY강B"/>
                  <a:ea typeface="HY강B"/>
                </a:rPr>
                <a:t>1</a:t>
              </a:r>
              <a:endParaRPr lang="en-US" altLang="zh-CN" sz="2400" b="1" dirty="0">
                <a:latin typeface="HY강B"/>
                <a:ea typeface="HY강B"/>
              </a:endParaRPr>
            </a:p>
          </p:txBody>
        </p:sp>
        <p:sp>
          <p:nvSpPr>
            <p:cNvPr id="30772" name="Text Box 96"/>
            <p:cNvSpPr txBox="1"/>
            <p:nvPr/>
          </p:nvSpPr>
          <p:spPr>
            <a:xfrm>
              <a:off x="5388" y="391"/>
              <a:ext cx="3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HY강B"/>
                  <a:ea typeface="HY강B"/>
                </a:rPr>
                <a:t>……</a:t>
              </a:r>
              <a:endParaRPr lang="en-US" altLang="zh-CN" dirty="0">
                <a:latin typeface="HY강B"/>
                <a:ea typeface="HY강B"/>
              </a:endParaRPr>
            </a:p>
          </p:txBody>
        </p:sp>
      </p:grpSp>
      <p:sp>
        <p:nvSpPr>
          <p:cNvPr id="84080" name="Rectangle 112"/>
          <p:cNvSpPr/>
          <p:nvPr/>
        </p:nvSpPr>
        <p:spPr>
          <a:xfrm>
            <a:off x="838200" y="4660900"/>
            <a:ext cx="81915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grpSp>
        <p:nvGrpSpPr>
          <p:cNvPr id="8" name="Group 122"/>
          <p:cNvGrpSpPr/>
          <p:nvPr/>
        </p:nvGrpSpPr>
        <p:grpSpPr>
          <a:xfrm>
            <a:off x="5041900" y="4679950"/>
            <a:ext cx="1225550" cy="609600"/>
            <a:chOff x="4988" y="284"/>
            <a:chExt cx="772" cy="384"/>
          </a:xfrm>
        </p:grpSpPr>
        <p:sp>
          <p:nvSpPr>
            <p:cNvPr id="30775" name="Rectangle 123"/>
            <p:cNvSpPr/>
            <p:nvPr/>
          </p:nvSpPr>
          <p:spPr>
            <a:xfrm>
              <a:off x="4988" y="284"/>
              <a:ext cx="516" cy="38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0066CC"/>
                  </a:solidFill>
                  <a:latin typeface="HY강B"/>
                  <a:ea typeface="HY강B"/>
                </a:rPr>
                <a:t>步骤</a:t>
              </a:r>
              <a:r>
                <a:rPr lang="en-US" altLang="zh-CN" sz="2400" b="1" dirty="0">
                  <a:solidFill>
                    <a:srgbClr val="0066CC"/>
                  </a:solidFill>
                  <a:latin typeface="HY강B"/>
                  <a:ea typeface="HY강B"/>
                </a:rPr>
                <a:t>2</a:t>
              </a:r>
              <a:endParaRPr lang="en-US" altLang="zh-CN" sz="2400" b="1" dirty="0">
                <a:solidFill>
                  <a:srgbClr val="0066CC"/>
                </a:solidFill>
                <a:latin typeface="HY강B"/>
                <a:ea typeface="HY강B"/>
              </a:endParaRPr>
            </a:p>
          </p:txBody>
        </p:sp>
        <p:sp>
          <p:nvSpPr>
            <p:cNvPr id="30776" name="Text Box 124"/>
            <p:cNvSpPr txBox="1"/>
            <p:nvPr/>
          </p:nvSpPr>
          <p:spPr>
            <a:xfrm>
              <a:off x="5388" y="391"/>
              <a:ext cx="3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0066CC"/>
                  </a:solidFill>
                  <a:latin typeface="HY강B"/>
                  <a:ea typeface="HY강B"/>
                </a:rPr>
                <a:t>……</a:t>
              </a:r>
              <a:endParaRPr lang="en-US" altLang="zh-CN" dirty="0">
                <a:solidFill>
                  <a:srgbClr val="0066CC"/>
                </a:solidFill>
                <a:latin typeface="HY강B"/>
                <a:ea typeface="HY강B"/>
              </a:endParaRPr>
            </a:p>
          </p:txBody>
        </p:sp>
      </p:grpSp>
      <p:sp>
        <p:nvSpPr>
          <p:cNvPr id="84094" name="Rectangle 126"/>
          <p:cNvSpPr/>
          <p:nvPr/>
        </p:nvSpPr>
        <p:spPr>
          <a:xfrm>
            <a:off x="857250" y="58864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3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grpSp>
        <p:nvGrpSpPr>
          <p:cNvPr id="9" name="Group 147"/>
          <p:cNvGrpSpPr/>
          <p:nvPr/>
        </p:nvGrpSpPr>
        <p:grpSpPr>
          <a:xfrm>
            <a:off x="1695450" y="3683000"/>
            <a:ext cx="552450" cy="2508250"/>
            <a:chOff x="1068" y="2320"/>
            <a:chExt cx="348" cy="1580"/>
          </a:xfrm>
        </p:grpSpPr>
        <p:sp>
          <p:nvSpPr>
            <p:cNvPr id="30779" name="Line 87"/>
            <p:cNvSpPr/>
            <p:nvPr/>
          </p:nvSpPr>
          <p:spPr>
            <a:xfrm>
              <a:off x="1092" y="2320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80" name="Line 115"/>
            <p:cNvSpPr/>
            <p:nvPr/>
          </p:nvSpPr>
          <p:spPr>
            <a:xfrm>
              <a:off x="1068" y="3128"/>
              <a:ext cx="32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81" name="Line 129"/>
            <p:cNvSpPr/>
            <p:nvPr/>
          </p:nvSpPr>
          <p:spPr>
            <a:xfrm>
              <a:off x="1080" y="3900"/>
              <a:ext cx="324" cy="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0" name="Group 136"/>
          <p:cNvGrpSpPr/>
          <p:nvPr/>
        </p:nvGrpSpPr>
        <p:grpSpPr>
          <a:xfrm>
            <a:off x="5060950" y="5905500"/>
            <a:ext cx="1225550" cy="609600"/>
            <a:chOff x="4988" y="284"/>
            <a:chExt cx="772" cy="384"/>
          </a:xfrm>
        </p:grpSpPr>
        <p:sp>
          <p:nvSpPr>
            <p:cNvPr id="30783" name="Rectangle 137"/>
            <p:cNvSpPr/>
            <p:nvPr/>
          </p:nvSpPr>
          <p:spPr>
            <a:xfrm>
              <a:off x="4988" y="284"/>
              <a:ext cx="516" cy="384"/>
            </a:xfrm>
            <a:prstGeom prst="rect">
              <a:avLst/>
            </a:prstGeom>
            <a:noFill/>
            <a:ln w="381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FF3300"/>
                  </a:solidFill>
                  <a:latin typeface="HY강B"/>
                  <a:ea typeface="HY강B"/>
                </a:rPr>
                <a:t>步骤</a:t>
              </a:r>
              <a:r>
                <a:rPr lang="en-US" altLang="zh-CN" sz="2400" b="1" dirty="0">
                  <a:solidFill>
                    <a:srgbClr val="FF3300"/>
                  </a:solidFill>
                  <a:latin typeface="HY강B"/>
                  <a:ea typeface="HY강B"/>
                </a:rPr>
                <a:t>3</a:t>
              </a:r>
              <a:endParaRPr lang="en-US" altLang="zh-CN" sz="2400" b="1" dirty="0">
                <a:solidFill>
                  <a:srgbClr val="FF3300"/>
                </a:solidFill>
                <a:latin typeface="HY강B"/>
                <a:ea typeface="HY강B"/>
              </a:endParaRPr>
            </a:p>
          </p:txBody>
        </p:sp>
        <p:sp>
          <p:nvSpPr>
            <p:cNvPr id="30784" name="Text Box 138"/>
            <p:cNvSpPr txBox="1"/>
            <p:nvPr/>
          </p:nvSpPr>
          <p:spPr>
            <a:xfrm>
              <a:off x="5388" y="391"/>
              <a:ext cx="37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FF3300"/>
                  </a:solidFill>
                  <a:latin typeface="HY강B"/>
                  <a:ea typeface="HY강B"/>
                </a:rPr>
                <a:t>……</a:t>
              </a:r>
              <a:endParaRPr lang="en-US" altLang="zh-CN" dirty="0">
                <a:solidFill>
                  <a:srgbClr val="FF3300"/>
                </a:solidFill>
                <a:latin typeface="HY강B"/>
                <a:ea typeface="HY강B"/>
              </a:endParaRPr>
            </a:p>
          </p:txBody>
        </p:sp>
      </p:grpSp>
      <p:sp>
        <p:nvSpPr>
          <p:cNvPr id="84112" name="Line 144"/>
          <p:cNvSpPr/>
          <p:nvPr/>
        </p:nvSpPr>
        <p:spPr>
          <a:xfrm>
            <a:off x="1276350" y="4000500"/>
            <a:ext cx="0" cy="666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13" name="Line 145"/>
          <p:cNvSpPr/>
          <p:nvPr/>
        </p:nvSpPr>
        <p:spPr>
          <a:xfrm>
            <a:off x="1282700" y="5245100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16" name="Rectangle 148"/>
          <p:cNvSpPr/>
          <p:nvPr/>
        </p:nvSpPr>
        <p:spPr>
          <a:xfrm>
            <a:off x="2273300" y="3365500"/>
            <a:ext cx="81915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1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4117" name="Rectangle 149"/>
          <p:cNvSpPr/>
          <p:nvPr/>
        </p:nvSpPr>
        <p:spPr>
          <a:xfrm>
            <a:off x="2235200" y="4648200"/>
            <a:ext cx="81915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118" name="Rectangle 150"/>
          <p:cNvSpPr/>
          <p:nvPr/>
        </p:nvSpPr>
        <p:spPr>
          <a:xfrm>
            <a:off x="2254250" y="58737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3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grpSp>
        <p:nvGrpSpPr>
          <p:cNvPr id="11" name="Group 151"/>
          <p:cNvGrpSpPr/>
          <p:nvPr/>
        </p:nvGrpSpPr>
        <p:grpSpPr>
          <a:xfrm>
            <a:off x="3092450" y="3670300"/>
            <a:ext cx="552450" cy="2508250"/>
            <a:chOff x="1068" y="2320"/>
            <a:chExt cx="348" cy="1580"/>
          </a:xfrm>
        </p:grpSpPr>
        <p:sp>
          <p:nvSpPr>
            <p:cNvPr id="30791" name="Line 152"/>
            <p:cNvSpPr/>
            <p:nvPr/>
          </p:nvSpPr>
          <p:spPr>
            <a:xfrm>
              <a:off x="1092" y="2320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92" name="Line 153"/>
            <p:cNvSpPr/>
            <p:nvPr/>
          </p:nvSpPr>
          <p:spPr>
            <a:xfrm>
              <a:off x="1068" y="3128"/>
              <a:ext cx="32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793" name="Line 154"/>
            <p:cNvSpPr/>
            <p:nvPr/>
          </p:nvSpPr>
          <p:spPr>
            <a:xfrm>
              <a:off x="1080" y="3900"/>
              <a:ext cx="324" cy="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84123" name="Line 155"/>
          <p:cNvSpPr/>
          <p:nvPr/>
        </p:nvSpPr>
        <p:spPr>
          <a:xfrm>
            <a:off x="2673350" y="3987800"/>
            <a:ext cx="0" cy="666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24" name="Line 156"/>
          <p:cNvSpPr/>
          <p:nvPr/>
        </p:nvSpPr>
        <p:spPr>
          <a:xfrm>
            <a:off x="2679700" y="5232400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25" name="Rectangle 157"/>
          <p:cNvSpPr/>
          <p:nvPr/>
        </p:nvSpPr>
        <p:spPr>
          <a:xfrm>
            <a:off x="3670300" y="3371850"/>
            <a:ext cx="81915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latin typeface="HY강B"/>
                <a:ea typeface="HY강B"/>
              </a:rPr>
              <a:t>步骤</a:t>
            </a:r>
            <a:r>
              <a:rPr lang="en-US" altLang="zh-CN" sz="2400" b="1" dirty="0">
                <a:latin typeface="HY강B"/>
                <a:ea typeface="HY강B"/>
              </a:rPr>
              <a:t>1</a:t>
            </a:r>
            <a:endParaRPr lang="en-US" altLang="zh-CN" sz="2400" b="1" dirty="0">
              <a:latin typeface="HY강B"/>
              <a:ea typeface="HY강B"/>
            </a:endParaRPr>
          </a:p>
        </p:txBody>
      </p:sp>
      <p:sp>
        <p:nvSpPr>
          <p:cNvPr id="84126" name="Rectangle 158"/>
          <p:cNvSpPr/>
          <p:nvPr/>
        </p:nvSpPr>
        <p:spPr>
          <a:xfrm>
            <a:off x="3632200" y="4654550"/>
            <a:ext cx="819150" cy="609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0066CC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0066CC"/>
                </a:solidFill>
                <a:latin typeface="HY강B"/>
                <a:ea typeface="HY강B"/>
              </a:rPr>
              <a:t>2</a:t>
            </a:r>
            <a:endParaRPr lang="en-US" altLang="zh-CN" sz="2400" b="1" dirty="0">
              <a:solidFill>
                <a:srgbClr val="0066CC"/>
              </a:solidFill>
              <a:latin typeface="HY강B"/>
              <a:ea typeface="HY강B"/>
            </a:endParaRPr>
          </a:p>
        </p:txBody>
      </p:sp>
      <p:sp>
        <p:nvSpPr>
          <p:cNvPr id="84127" name="Rectangle 159"/>
          <p:cNvSpPr/>
          <p:nvPr/>
        </p:nvSpPr>
        <p:spPr>
          <a:xfrm>
            <a:off x="3651250" y="5880100"/>
            <a:ext cx="819150" cy="609600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HY강B"/>
                <a:ea typeface="HY강B"/>
              </a:rPr>
              <a:t>步骤</a:t>
            </a:r>
            <a:r>
              <a:rPr lang="en-US" altLang="zh-CN" sz="2400" b="1" dirty="0">
                <a:solidFill>
                  <a:srgbClr val="FF3300"/>
                </a:solidFill>
                <a:latin typeface="HY강B"/>
                <a:ea typeface="HY강B"/>
              </a:rPr>
              <a:t>3</a:t>
            </a:r>
            <a:endParaRPr lang="en-US" altLang="zh-CN" sz="2400" b="1" dirty="0">
              <a:solidFill>
                <a:srgbClr val="FF3300"/>
              </a:solidFill>
              <a:latin typeface="HY강B"/>
              <a:ea typeface="HY강B"/>
            </a:endParaRPr>
          </a:p>
        </p:txBody>
      </p:sp>
      <p:grpSp>
        <p:nvGrpSpPr>
          <p:cNvPr id="12" name="Group 160"/>
          <p:cNvGrpSpPr/>
          <p:nvPr/>
        </p:nvGrpSpPr>
        <p:grpSpPr>
          <a:xfrm>
            <a:off x="4489450" y="3676650"/>
            <a:ext cx="552450" cy="2508250"/>
            <a:chOff x="1068" y="2320"/>
            <a:chExt cx="348" cy="1580"/>
          </a:xfrm>
        </p:grpSpPr>
        <p:sp>
          <p:nvSpPr>
            <p:cNvPr id="30800" name="Line 161"/>
            <p:cNvSpPr/>
            <p:nvPr/>
          </p:nvSpPr>
          <p:spPr>
            <a:xfrm>
              <a:off x="1092" y="2320"/>
              <a:ext cx="3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801" name="Line 162"/>
            <p:cNvSpPr/>
            <p:nvPr/>
          </p:nvSpPr>
          <p:spPr>
            <a:xfrm>
              <a:off x="1068" y="3128"/>
              <a:ext cx="32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0802" name="Line 163"/>
            <p:cNvSpPr/>
            <p:nvPr/>
          </p:nvSpPr>
          <p:spPr>
            <a:xfrm>
              <a:off x="1080" y="3900"/>
              <a:ext cx="324" cy="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84132" name="Line 164"/>
          <p:cNvSpPr/>
          <p:nvPr/>
        </p:nvSpPr>
        <p:spPr>
          <a:xfrm>
            <a:off x="4070350" y="3994150"/>
            <a:ext cx="0" cy="666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33" name="Line 165"/>
          <p:cNvSpPr/>
          <p:nvPr/>
        </p:nvSpPr>
        <p:spPr>
          <a:xfrm>
            <a:off x="4076700" y="5238750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34" name="Line 166"/>
          <p:cNvSpPr/>
          <p:nvPr/>
        </p:nvSpPr>
        <p:spPr>
          <a:xfrm>
            <a:off x="5505450" y="4019550"/>
            <a:ext cx="0" cy="6667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135" name="Line 167"/>
          <p:cNvSpPr/>
          <p:nvPr/>
        </p:nvSpPr>
        <p:spPr>
          <a:xfrm>
            <a:off x="5492750" y="5302250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8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8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8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8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8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8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8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8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1" dur="500"/>
                                        <p:tgtEl>
                                          <p:spTgt spid="8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4" dur="500"/>
                                        <p:tgtEl>
                                          <p:spTgt spid="8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8" dur="500"/>
                                        <p:tgtEl>
                                          <p:spTgt spid="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8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8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8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8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5" dur="500"/>
                                        <p:tgtEl>
                                          <p:spTgt spid="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2" dur="500"/>
                                        <p:tgtEl>
                                          <p:spTgt spid="8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6" dur="500"/>
                                        <p:tgtEl>
                                          <p:spTgt spid="8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0" dur="500"/>
                                        <p:tgtEl>
                                          <p:spTgt spid="8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4" dur="500"/>
                                        <p:tgtEl>
                                          <p:spTgt spid="8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8" dur="500"/>
                                        <p:tgtEl>
                                          <p:spTgt spid="8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7" dur="500"/>
                                        <p:tgtEl>
                                          <p:spTgt spid="8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1" dur="500"/>
                                        <p:tgtEl>
                                          <p:spTgt spid="8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5" dur="500"/>
                                        <p:tgtEl>
                                          <p:spTgt spid="8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9" dur="500"/>
                                        <p:tgtEl>
                                          <p:spTgt spid="8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500"/>
                            </p:stCondLst>
                            <p:childTnLst>
                              <p:par>
                                <p:cTn id="1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3" dur="500"/>
                                        <p:tgtEl>
                                          <p:spTgt spid="8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2" dur="500"/>
                                        <p:tgtEl>
                                          <p:spTgt spid="8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6" dur="500"/>
                                        <p:tgtEl>
                                          <p:spTgt spid="8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500"/>
                            </p:stCondLst>
                            <p:childTnLst>
                              <p:par>
                                <p:cTn id="19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0" dur="500"/>
                                        <p:tgtEl>
                                          <p:spTgt spid="8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000"/>
                            </p:stCondLst>
                            <p:childTnLst>
                              <p:par>
                                <p:cTn id="20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4" dur="500"/>
                                        <p:tgtEl>
                                          <p:spTgt spid="8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500"/>
                            </p:stCondLst>
                            <p:childTnLst>
                              <p:par>
                                <p:cTn id="2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8" dur="500"/>
                                        <p:tgtEl>
                                          <p:spTgt spid="8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1" dur="500"/>
                                        <p:tgtEl>
                                          <p:spTgt spid="8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9" dur="500"/>
                                        <p:tgtEl>
                                          <p:spTgt spid="8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500"/>
                            </p:stCondLst>
                            <p:childTnLst>
                              <p:par>
                                <p:cTn id="23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5" grpId="0" animBg="1"/>
      <p:bldP spid="83979" grpId="0" animBg="1"/>
      <p:bldP spid="83980" grpId="0" animBg="1"/>
      <p:bldP spid="83989" grpId="0" animBg="1"/>
      <p:bldP spid="83990" grpId="0" animBg="1"/>
      <p:bldP spid="84020" grpId="0" animBg="1"/>
      <p:bldP spid="84021" grpId="0" animBg="1"/>
      <p:bldP spid="84022" grpId="0" animBg="1"/>
      <p:bldP spid="84026" grpId="0" animBg="1"/>
      <p:bldP spid="84027" grpId="0" animBg="1"/>
      <p:bldP spid="84033" grpId="0" animBg="1"/>
      <p:bldP spid="84034" grpId="0" animBg="1"/>
      <p:bldP spid="84035" grpId="0" animBg="1"/>
      <p:bldP spid="84039" grpId="0" animBg="1"/>
      <p:bldP spid="84040" grpId="0" animBg="1"/>
      <p:bldP spid="84052" grpId="0" animBg="1"/>
      <p:bldP spid="84080" grpId="0" animBg="1"/>
      <p:bldP spid="84094" grpId="0" animBg="1"/>
      <p:bldP spid="84116" grpId="0" animBg="1"/>
      <p:bldP spid="84117" grpId="0" animBg="1"/>
      <p:bldP spid="84118" grpId="0" animBg="1"/>
      <p:bldP spid="84125" grpId="0" animBg="1"/>
      <p:bldP spid="84126" grpId="0" animBg="1"/>
      <p:bldP spid="841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kumimoji="1" lang="zh-CN" altLang="en-US" dirty="0">
                <a:latin typeface="+mj-lt"/>
                <a:ea typeface="+mj-ea"/>
                <a:cs typeface="HY강B"/>
              </a:rPr>
              <a:t>流水线</a:t>
            </a:r>
            <a:endParaRPr kumimoji="1" lang="zh-CN" altLang="en-US" dirty="0">
              <a:latin typeface="+mj-lt"/>
              <a:ea typeface="+mj-ea"/>
              <a:cs typeface="HY강B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457200" y="1368425"/>
            <a:ext cx="8229600" cy="4757738"/>
          </a:xfrm>
          <a:ln/>
        </p:spPr>
        <p:txBody>
          <a:bodyPr vert="horz" wrap="square" lIns="91440" tIns="45720" rIns="91440" bIns="45720" anchor="t" anchorCtr="0"/>
          <a:p>
            <a:pPr/>
            <a:endParaRPr kumimoji="1" lang="zh-CN" altLang="en-US" dirty="0">
              <a:latin typeface="+mn-lt"/>
              <a:ea typeface="+mn-ea"/>
              <a:cs typeface="HY강B"/>
            </a:endParaRPr>
          </a:p>
        </p:txBody>
      </p:sp>
      <p:pic>
        <p:nvPicPr>
          <p:cNvPr id="31747" name="Picture 7" descr="xin_553050818153568721337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8763" y="3454400"/>
            <a:ext cx="4975225" cy="3317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Picture 11" descr="timg?image&amp;quality=80&amp;size=b10000_10000&amp;sec=1475601727584&amp;di=5d0fd43e51a415771f80a4278e040a1f&amp;imgtype=jpg&amp;src=http%3A%2F%2Fwww"/>
          <p:cNvPicPr>
            <a:picLocks noChangeAspect="1"/>
          </p:cNvPicPr>
          <p:nvPr/>
        </p:nvPicPr>
        <p:blipFill>
          <a:blip r:embed="rId2"/>
          <a:srcRect b="12437"/>
          <a:stretch>
            <a:fillRect/>
          </a:stretch>
        </p:blipFill>
        <p:spPr>
          <a:xfrm>
            <a:off x="100013" y="1200150"/>
            <a:ext cx="4887912" cy="3209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5" name="Text Box 7"/>
          <p:cNvSpPr txBox="1"/>
          <p:nvPr/>
        </p:nvSpPr>
        <p:spPr>
          <a:xfrm>
            <a:off x="857250" y="4992688"/>
            <a:ext cx="2732088" cy="1311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4000" b="1" dirty="0">
                <a:latin typeface="HY강B"/>
                <a:ea typeface="HY강B"/>
              </a:rPr>
              <a:t>提高熟练度</a:t>
            </a:r>
            <a:endParaRPr lang="zh-CN" altLang="en-US" sz="4000" b="1" dirty="0">
              <a:latin typeface="HY강B"/>
              <a:ea typeface="HY강B"/>
            </a:endParaRPr>
          </a:p>
          <a:p>
            <a:pPr algn="ctr"/>
            <a:r>
              <a:rPr lang="zh-CN" altLang="en-US" sz="4000" b="1" dirty="0">
                <a:latin typeface="HY강B"/>
                <a:ea typeface="HY강B"/>
              </a:rPr>
              <a:t>提高效率 </a:t>
            </a:r>
            <a:endParaRPr lang="zh-CN" altLang="en-US" sz="4000" b="1" dirty="0">
              <a:latin typeface="HY강B"/>
              <a:ea typeface="HY강B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5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kumimoji="1" lang="zh-CN" altLang="en-US" dirty="0">
                <a:latin typeface="+mj-lt"/>
                <a:ea typeface="+mj-ea"/>
                <a:cs typeface="HY강B"/>
              </a:rPr>
              <a:t>雪糕生产自动化流水线</a:t>
            </a:r>
            <a:endParaRPr kumimoji="1" lang="zh-CN" altLang="en-US" dirty="0">
              <a:latin typeface="+mj-lt"/>
              <a:ea typeface="+mj-ea"/>
              <a:cs typeface="HY강B"/>
            </a:endParaRPr>
          </a:p>
        </p:txBody>
      </p:sp>
      <p:pic>
        <p:nvPicPr>
          <p:cNvPr id="84996" name="雪糕如何生产的.wmv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95350" y="1190625"/>
            <a:ext cx="7353300" cy="5514975"/>
          </a:xfrm>
          <a:ln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835" fill="hold"/>
                                        <p:tgtEl>
                                          <p:spTgt spid="849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499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4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49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99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3988"/>
            <a:ext cx="8229600" cy="742950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创业发展流程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HY강B"/>
            </a:endParaRPr>
          </a:p>
        </p:txBody>
      </p:sp>
      <p:sp>
        <p:nvSpPr>
          <p:cNvPr id="11" name="Rectangle 8"/>
          <p:cNvSpPr/>
          <p:nvPr/>
        </p:nvSpPr>
        <p:spPr>
          <a:xfrm>
            <a:off x="342900" y="3257550"/>
            <a:ext cx="10287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个人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2139950" y="3263900"/>
            <a:ext cx="14224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小作坊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4311650" y="3244850"/>
            <a:ext cx="19431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人工流水线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1485900" y="356235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" name="Line 15"/>
          <p:cNvSpPr/>
          <p:nvPr/>
        </p:nvSpPr>
        <p:spPr>
          <a:xfrm>
            <a:off x="3721100" y="358775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7" name="Rectangle 13"/>
          <p:cNvSpPr/>
          <p:nvPr/>
        </p:nvSpPr>
        <p:spPr>
          <a:xfrm>
            <a:off x="6921500" y="3244850"/>
            <a:ext cx="1943100" cy="609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HY강B"/>
                <a:ea typeface="HY강B"/>
              </a:rPr>
              <a:t>机器流水线</a:t>
            </a:r>
            <a:endParaRPr lang="zh-CN" altLang="en-US" sz="2800" b="1" dirty="0">
              <a:latin typeface="HY강B"/>
              <a:ea typeface="HY강B"/>
            </a:endParaRPr>
          </a:p>
        </p:txBody>
      </p:sp>
      <p:sp>
        <p:nvSpPr>
          <p:cNvPr id="18" name="Line 15"/>
          <p:cNvSpPr/>
          <p:nvPr/>
        </p:nvSpPr>
        <p:spPr>
          <a:xfrm>
            <a:off x="6330950" y="3587750"/>
            <a:ext cx="514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  <p:bldP spid="13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31"/>
          <p:cNvGrpSpPr/>
          <p:nvPr/>
        </p:nvGrpSpPr>
        <p:grpSpPr>
          <a:xfrm>
            <a:off x="3584575" y="1147763"/>
            <a:ext cx="5170488" cy="5016500"/>
            <a:chOff x="3584575" y="1148440"/>
            <a:chExt cx="5170488" cy="5015820"/>
          </a:xfrm>
        </p:grpSpPr>
        <p:sp>
          <p:nvSpPr>
            <p:cNvPr id="35842" name="Rectangle 4"/>
            <p:cNvSpPr/>
            <p:nvPr/>
          </p:nvSpPr>
          <p:spPr>
            <a:xfrm>
              <a:off x="4176713" y="1992311"/>
              <a:ext cx="1730375" cy="64135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5843" name="AutoShape 5"/>
            <p:cNvSpPr/>
            <p:nvPr/>
          </p:nvSpPr>
          <p:spPr>
            <a:xfrm>
              <a:off x="3584575" y="3167061"/>
              <a:ext cx="2828925" cy="914400"/>
            </a:xfrm>
            <a:prstGeom prst="flowChartDecisi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sz="24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44" name="Text Box 6"/>
            <p:cNvSpPr txBox="1"/>
            <p:nvPr/>
          </p:nvSpPr>
          <p:spPr>
            <a:xfrm>
              <a:off x="3956050" y="3375023"/>
              <a:ext cx="22098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检验是否合格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45" name="Rectangle 8"/>
            <p:cNvSpPr/>
            <p:nvPr/>
          </p:nvSpPr>
          <p:spPr>
            <a:xfrm>
              <a:off x="6935788" y="3319461"/>
              <a:ext cx="1819275" cy="60960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5846" name="AutoShape 9"/>
            <p:cNvSpPr/>
            <p:nvPr/>
          </p:nvSpPr>
          <p:spPr>
            <a:xfrm>
              <a:off x="4356554" y="5737222"/>
              <a:ext cx="1428750" cy="427038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5847" name="AutoShape 10"/>
            <p:cNvSpPr/>
            <p:nvPr/>
          </p:nvSpPr>
          <p:spPr>
            <a:xfrm>
              <a:off x="4421188" y="1183365"/>
              <a:ext cx="1143000" cy="427038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5848" name="Text Box 11"/>
            <p:cNvSpPr txBox="1"/>
            <p:nvPr/>
          </p:nvSpPr>
          <p:spPr>
            <a:xfrm>
              <a:off x="4573588" y="1148440"/>
              <a:ext cx="10668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49" name="Rectangle 12"/>
            <p:cNvSpPr/>
            <p:nvPr/>
          </p:nvSpPr>
          <p:spPr>
            <a:xfrm>
              <a:off x="4406674" y="4676546"/>
              <a:ext cx="1219200" cy="64135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5850" name="Text Box 13"/>
            <p:cNvSpPr txBox="1"/>
            <p:nvPr/>
          </p:nvSpPr>
          <p:spPr>
            <a:xfrm>
              <a:off x="4625749" y="4774971"/>
              <a:ext cx="13716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包装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51" name="Text Box 14"/>
            <p:cNvSpPr txBox="1"/>
            <p:nvPr/>
          </p:nvSpPr>
          <p:spPr>
            <a:xfrm>
              <a:off x="4689475" y="5690732"/>
              <a:ext cx="9906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结束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52" name="Line 15"/>
            <p:cNvSpPr/>
            <p:nvPr/>
          </p:nvSpPr>
          <p:spPr>
            <a:xfrm>
              <a:off x="5030788" y="1610403"/>
              <a:ext cx="0" cy="3365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3" name="Line 16"/>
            <p:cNvSpPr/>
            <p:nvPr/>
          </p:nvSpPr>
          <p:spPr>
            <a:xfrm>
              <a:off x="5030788" y="2589211"/>
              <a:ext cx="0" cy="5778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4" name="Line 17"/>
            <p:cNvSpPr/>
            <p:nvPr/>
          </p:nvSpPr>
          <p:spPr>
            <a:xfrm>
              <a:off x="5001760" y="4113210"/>
              <a:ext cx="0" cy="609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5" name="Line 18"/>
            <p:cNvSpPr/>
            <p:nvPr/>
          </p:nvSpPr>
          <p:spPr>
            <a:xfrm flipV="1">
              <a:off x="7835900" y="2278740"/>
              <a:ext cx="0" cy="101804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6" name="Line 19"/>
            <p:cNvSpPr/>
            <p:nvPr/>
          </p:nvSpPr>
          <p:spPr>
            <a:xfrm flipH="1">
              <a:off x="5901645" y="2295296"/>
              <a:ext cx="19505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7" name="Line 20"/>
            <p:cNvSpPr/>
            <p:nvPr/>
          </p:nvSpPr>
          <p:spPr>
            <a:xfrm>
              <a:off x="6321425" y="3624261"/>
              <a:ext cx="60960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58" name="Text Box 21"/>
            <p:cNvSpPr txBox="1"/>
            <p:nvPr/>
          </p:nvSpPr>
          <p:spPr>
            <a:xfrm>
              <a:off x="6330950" y="3136898"/>
              <a:ext cx="609600" cy="45720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59" name="Text Box 22"/>
            <p:cNvSpPr txBox="1"/>
            <p:nvPr/>
          </p:nvSpPr>
          <p:spPr>
            <a:xfrm rot="-10800000" flipV="1">
              <a:off x="4537075" y="4105273"/>
              <a:ext cx="6096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60" name="Line 23"/>
            <p:cNvSpPr/>
            <p:nvPr/>
          </p:nvSpPr>
          <p:spPr>
            <a:xfrm>
              <a:off x="5030787" y="5375954"/>
              <a:ext cx="0" cy="3365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61" name="Text Box 24"/>
            <p:cNvSpPr txBox="1"/>
            <p:nvPr/>
          </p:nvSpPr>
          <p:spPr>
            <a:xfrm>
              <a:off x="4248150" y="2079623"/>
              <a:ext cx="160110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加工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62" name="Text Box 25"/>
            <p:cNvSpPr txBox="1"/>
            <p:nvPr/>
          </p:nvSpPr>
          <p:spPr>
            <a:xfrm>
              <a:off x="6978650" y="3359148"/>
              <a:ext cx="173037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r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重新加工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5863" name="Group 26"/>
          <p:cNvGrpSpPr/>
          <p:nvPr/>
        </p:nvGrpSpPr>
        <p:grpSpPr>
          <a:xfrm>
            <a:off x="727075" y="1539875"/>
            <a:ext cx="2076450" cy="3892550"/>
            <a:chOff x="385" y="1162"/>
            <a:chExt cx="1445" cy="2708"/>
          </a:xfrm>
        </p:grpSpPr>
        <p:sp>
          <p:nvSpPr>
            <p:cNvPr id="35864" name="AutoShape 27"/>
            <p:cNvSpPr/>
            <p:nvPr/>
          </p:nvSpPr>
          <p:spPr>
            <a:xfrm>
              <a:off x="385" y="2750"/>
              <a:ext cx="1445" cy="576"/>
            </a:xfrm>
            <a:prstGeom prst="flowChartDecisi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判断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65" name="AutoShape 28"/>
            <p:cNvSpPr/>
            <p:nvPr/>
          </p:nvSpPr>
          <p:spPr>
            <a:xfrm>
              <a:off x="567" y="1162"/>
              <a:ext cx="1110" cy="499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  <a:r>
                <a:rPr lang="en-US" altLang="zh-CN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结束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66" name="Rectangle 29"/>
            <p:cNvSpPr/>
            <p:nvPr/>
          </p:nvSpPr>
          <p:spPr>
            <a:xfrm>
              <a:off x="601" y="2010"/>
              <a:ext cx="1109" cy="49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环节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867" name="Line 30"/>
            <p:cNvSpPr/>
            <p:nvPr/>
          </p:nvSpPr>
          <p:spPr>
            <a:xfrm>
              <a:off x="601" y="3870"/>
              <a:ext cx="9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68" name="Text Box 31"/>
            <p:cNvSpPr txBox="1"/>
            <p:nvPr/>
          </p:nvSpPr>
          <p:spPr>
            <a:xfrm>
              <a:off x="858" y="3552"/>
              <a:ext cx="63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时序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5869" name="Text Box 32"/>
          <p:cNvSpPr txBox="1"/>
          <p:nvPr/>
        </p:nvSpPr>
        <p:spPr>
          <a:xfrm>
            <a:off x="250825" y="201613"/>
            <a:ext cx="5327650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程序流程图</a:t>
            </a:r>
            <a:endParaRPr lang="zh-CN" altLang="en-US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30"/>
          <p:cNvGrpSpPr/>
          <p:nvPr/>
        </p:nvGrpSpPr>
        <p:grpSpPr>
          <a:xfrm>
            <a:off x="3584575" y="1147763"/>
            <a:ext cx="5170488" cy="5016500"/>
            <a:chOff x="3584575" y="1148440"/>
            <a:chExt cx="5170488" cy="5015820"/>
          </a:xfrm>
        </p:grpSpPr>
        <p:sp>
          <p:nvSpPr>
            <p:cNvPr id="36866" name="Rectangle 4"/>
            <p:cNvSpPr/>
            <p:nvPr/>
          </p:nvSpPr>
          <p:spPr>
            <a:xfrm>
              <a:off x="4176713" y="1992311"/>
              <a:ext cx="1730375" cy="64135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6867" name="AutoShape 5"/>
            <p:cNvSpPr/>
            <p:nvPr/>
          </p:nvSpPr>
          <p:spPr>
            <a:xfrm>
              <a:off x="3584575" y="3167061"/>
              <a:ext cx="2828925" cy="914400"/>
            </a:xfrm>
            <a:prstGeom prst="flowChartDecisi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sz="24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68" name="Text Box 6"/>
            <p:cNvSpPr txBox="1"/>
            <p:nvPr/>
          </p:nvSpPr>
          <p:spPr>
            <a:xfrm>
              <a:off x="3956050" y="3375023"/>
              <a:ext cx="22098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检验是否合格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69" name="Rectangle 8"/>
            <p:cNvSpPr/>
            <p:nvPr/>
          </p:nvSpPr>
          <p:spPr>
            <a:xfrm>
              <a:off x="6935788" y="3319461"/>
              <a:ext cx="1819275" cy="60960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6870" name="AutoShape 9"/>
            <p:cNvSpPr/>
            <p:nvPr/>
          </p:nvSpPr>
          <p:spPr>
            <a:xfrm>
              <a:off x="4356554" y="5737222"/>
              <a:ext cx="1428750" cy="427038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6871" name="AutoShape 10"/>
            <p:cNvSpPr/>
            <p:nvPr/>
          </p:nvSpPr>
          <p:spPr>
            <a:xfrm>
              <a:off x="4421188" y="1183365"/>
              <a:ext cx="1143000" cy="427038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6872" name="Text Box 11"/>
            <p:cNvSpPr txBox="1"/>
            <p:nvPr/>
          </p:nvSpPr>
          <p:spPr>
            <a:xfrm>
              <a:off x="4573588" y="1148440"/>
              <a:ext cx="10668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73" name="Rectangle 12"/>
            <p:cNvSpPr/>
            <p:nvPr/>
          </p:nvSpPr>
          <p:spPr>
            <a:xfrm>
              <a:off x="4406674" y="4676546"/>
              <a:ext cx="1219200" cy="64135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6874" name="Text Box 13"/>
            <p:cNvSpPr txBox="1"/>
            <p:nvPr/>
          </p:nvSpPr>
          <p:spPr>
            <a:xfrm>
              <a:off x="4625749" y="4774971"/>
              <a:ext cx="13716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包装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75" name="Text Box 14"/>
            <p:cNvSpPr txBox="1"/>
            <p:nvPr/>
          </p:nvSpPr>
          <p:spPr>
            <a:xfrm>
              <a:off x="4689475" y="5690732"/>
              <a:ext cx="9906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结束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76" name="Line 15"/>
            <p:cNvSpPr/>
            <p:nvPr/>
          </p:nvSpPr>
          <p:spPr>
            <a:xfrm>
              <a:off x="5030788" y="1610403"/>
              <a:ext cx="0" cy="3365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7" name="Line 16"/>
            <p:cNvSpPr/>
            <p:nvPr/>
          </p:nvSpPr>
          <p:spPr>
            <a:xfrm>
              <a:off x="5030788" y="2589211"/>
              <a:ext cx="0" cy="5778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8" name="Line 17"/>
            <p:cNvSpPr/>
            <p:nvPr/>
          </p:nvSpPr>
          <p:spPr>
            <a:xfrm>
              <a:off x="5001760" y="4113210"/>
              <a:ext cx="0" cy="609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9" name="Line 18"/>
            <p:cNvSpPr/>
            <p:nvPr/>
          </p:nvSpPr>
          <p:spPr>
            <a:xfrm flipV="1">
              <a:off x="7850414" y="3933367"/>
              <a:ext cx="0" cy="15820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0" name="Line 19"/>
            <p:cNvSpPr/>
            <p:nvPr/>
          </p:nvSpPr>
          <p:spPr>
            <a:xfrm flipH="1">
              <a:off x="5059815" y="5502954"/>
              <a:ext cx="280692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81" name="Line 20"/>
            <p:cNvSpPr/>
            <p:nvPr/>
          </p:nvSpPr>
          <p:spPr>
            <a:xfrm>
              <a:off x="6321425" y="3624261"/>
              <a:ext cx="60960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82" name="Text Box 21"/>
            <p:cNvSpPr txBox="1"/>
            <p:nvPr/>
          </p:nvSpPr>
          <p:spPr>
            <a:xfrm>
              <a:off x="6330950" y="3136898"/>
              <a:ext cx="609600" cy="45720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83" name="Text Box 22"/>
            <p:cNvSpPr txBox="1"/>
            <p:nvPr/>
          </p:nvSpPr>
          <p:spPr>
            <a:xfrm rot="-10800000" flipV="1">
              <a:off x="4537075" y="4105273"/>
              <a:ext cx="6096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84" name="Line 23"/>
            <p:cNvSpPr/>
            <p:nvPr/>
          </p:nvSpPr>
          <p:spPr>
            <a:xfrm>
              <a:off x="5030787" y="5375954"/>
              <a:ext cx="0" cy="3365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85" name="Text Box 24"/>
            <p:cNvSpPr txBox="1"/>
            <p:nvPr/>
          </p:nvSpPr>
          <p:spPr>
            <a:xfrm>
              <a:off x="4248150" y="2079623"/>
              <a:ext cx="160110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加工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86" name="Text Box 25"/>
            <p:cNvSpPr txBox="1"/>
            <p:nvPr/>
          </p:nvSpPr>
          <p:spPr>
            <a:xfrm>
              <a:off x="6978650" y="3359148"/>
              <a:ext cx="173037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r"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处理销毁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6887" name="Group 26"/>
          <p:cNvGrpSpPr/>
          <p:nvPr/>
        </p:nvGrpSpPr>
        <p:grpSpPr>
          <a:xfrm>
            <a:off x="727075" y="1539875"/>
            <a:ext cx="2076450" cy="3892550"/>
            <a:chOff x="385" y="1162"/>
            <a:chExt cx="1445" cy="2708"/>
          </a:xfrm>
        </p:grpSpPr>
        <p:sp>
          <p:nvSpPr>
            <p:cNvPr id="36888" name="AutoShape 27"/>
            <p:cNvSpPr/>
            <p:nvPr/>
          </p:nvSpPr>
          <p:spPr>
            <a:xfrm>
              <a:off x="385" y="2750"/>
              <a:ext cx="1445" cy="576"/>
            </a:xfrm>
            <a:prstGeom prst="flowChartDecisi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判断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89" name="AutoShape 28"/>
            <p:cNvSpPr/>
            <p:nvPr/>
          </p:nvSpPr>
          <p:spPr>
            <a:xfrm>
              <a:off x="567" y="1162"/>
              <a:ext cx="1110" cy="499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  <a:r>
                <a:rPr lang="en-US" altLang="zh-CN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结束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90" name="Rectangle 29"/>
            <p:cNvSpPr/>
            <p:nvPr/>
          </p:nvSpPr>
          <p:spPr>
            <a:xfrm>
              <a:off x="601" y="2010"/>
              <a:ext cx="1109" cy="49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环节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891" name="Line 30"/>
            <p:cNvSpPr/>
            <p:nvPr/>
          </p:nvSpPr>
          <p:spPr>
            <a:xfrm>
              <a:off x="601" y="3870"/>
              <a:ext cx="9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92" name="Text Box 31"/>
            <p:cNvSpPr txBox="1"/>
            <p:nvPr/>
          </p:nvSpPr>
          <p:spPr>
            <a:xfrm>
              <a:off x="858" y="3552"/>
              <a:ext cx="63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时序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6893" name="Text Box 32"/>
          <p:cNvSpPr txBox="1"/>
          <p:nvPr/>
        </p:nvSpPr>
        <p:spPr>
          <a:xfrm>
            <a:off x="250825" y="201613"/>
            <a:ext cx="5327650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程序流程图</a:t>
            </a:r>
            <a:endParaRPr lang="zh-CN" altLang="en-US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3"/>
          <p:cNvGrpSpPr/>
          <p:nvPr/>
        </p:nvGrpSpPr>
        <p:grpSpPr>
          <a:xfrm>
            <a:off x="3584575" y="1003300"/>
            <a:ext cx="5170488" cy="4970463"/>
            <a:chOff x="2096" y="877"/>
            <a:chExt cx="3257" cy="3131"/>
          </a:xfrm>
        </p:grpSpPr>
        <p:sp>
          <p:nvSpPr>
            <p:cNvPr id="37890" name="Rectangle 4"/>
            <p:cNvSpPr/>
            <p:nvPr/>
          </p:nvSpPr>
          <p:spPr>
            <a:xfrm>
              <a:off x="2469" y="2012"/>
              <a:ext cx="1090" cy="4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7891" name="AutoShape 5"/>
            <p:cNvSpPr/>
            <p:nvPr/>
          </p:nvSpPr>
          <p:spPr>
            <a:xfrm>
              <a:off x="2096" y="2752"/>
              <a:ext cx="1782" cy="576"/>
            </a:xfrm>
            <a:prstGeom prst="flowChartDecisi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sz="2400" b="1" dirty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892" name="Text Box 6"/>
            <p:cNvSpPr txBox="1"/>
            <p:nvPr/>
          </p:nvSpPr>
          <p:spPr>
            <a:xfrm>
              <a:off x="2330" y="2883"/>
              <a:ext cx="13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观察是否过敏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893" name="Rectangle 8"/>
            <p:cNvSpPr/>
            <p:nvPr/>
          </p:nvSpPr>
          <p:spPr>
            <a:xfrm>
              <a:off x="4207" y="2848"/>
              <a:ext cx="1146" cy="38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7894" name="AutoShape 9"/>
            <p:cNvSpPr/>
            <p:nvPr/>
          </p:nvSpPr>
          <p:spPr>
            <a:xfrm>
              <a:off x="2564" y="3731"/>
              <a:ext cx="900" cy="269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7895" name="AutoShape 10"/>
            <p:cNvSpPr/>
            <p:nvPr/>
          </p:nvSpPr>
          <p:spPr>
            <a:xfrm>
              <a:off x="2623" y="899"/>
              <a:ext cx="720" cy="269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7896" name="Text Box 11"/>
            <p:cNvSpPr txBox="1"/>
            <p:nvPr/>
          </p:nvSpPr>
          <p:spPr>
            <a:xfrm>
              <a:off x="2719" y="877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897" name="Rectangle 12"/>
            <p:cNvSpPr/>
            <p:nvPr/>
          </p:nvSpPr>
          <p:spPr>
            <a:xfrm>
              <a:off x="2623" y="1408"/>
              <a:ext cx="768" cy="4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HY강B"/>
                <a:ea typeface="HY강B"/>
              </a:endParaRPr>
            </a:p>
          </p:txBody>
        </p:sp>
        <p:sp>
          <p:nvSpPr>
            <p:cNvPr id="37898" name="Text Box 13"/>
            <p:cNvSpPr txBox="1"/>
            <p:nvPr/>
          </p:nvSpPr>
          <p:spPr>
            <a:xfrm>
              <a:off x="2761" y="1470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皮试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899" name="Text Box 14"/>
            <p:cNvSpPr txBox="1"/>
            <p:nvPr/>
          </p:nvSpPr>
          <p:spPr>
            <a:xfrm>
              <a:off x="2728" y="3720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结束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00" name="Line 15"/>
            <p:cNvSpPr/>
            <p:nvPr/>
          </p:nvSpPr>
          <p:spPr>
            <a:xfrm>
              <a:off x="3007" y="1168"/>
              <a:ext cx="0" cy="2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01" name="Line 16"/>
            <p:cNvSpPr/>
            <p:nvPr/>
          </p:nvSpPr>
          <p:spPr>
            <a:xfrm>
              <a:off x="3007" y="2388"/>
              <a:ext cx="0" cy="3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02" name="Line 17"/>
            <p:cNvSpPr/>
            <p:nvPr/>
          </p:nvSpPr>
          <p:spPr>
            <a:xfrm>
              <a:off x="3007" y="3348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03" name="Line 18"/>
            <p:cNvSpPr/>
            <p:nvPr/>
          </p:nvSpPr>
          <p:spPr>
            <a:xfrm flipV="1">
              <a:off x="4774" y="325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4" name="Line 19"/>
            <p:cNvSpPr/>
            <p:nvPr/>
          </p:nvSpPr>
          <p:spPr>
            <a:xfrm flipH="1">
              <a:off x="3007" y="3492"/>
              <a:ext cx="17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05" name="Line 20"/>
            <p:cNvSpPr/>
            <p:nvPr/>
          </p:nvSpPr>
          <p:spPr>
            <a:xfrm>
              <a:off x="3820" y="3040"/>
              <a:ext cx="38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06" name="Text Box 21"/>
            <p:cNvSpPr txBox="1"/>
            <p:nvPr/>
          </p:nvSpPr>
          <p:spPr>
            <a:xfrm>
              <a:off x="3826" y="2733"/>
              <a:ext cx="38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07" name="Text Box 22"/>
            <p:cNvSpPr txBox="1"/>
            <p:nvPr/>
          </p:nvSpPr>
          <p:spPr>
            <a:xfrm rot="-10800000" flipV="1">
              <a:off x="2696" y="3343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08" name="Line 23"/>
            <p:cNvSpPr/>
            <p:nvPr/>
          </p:nvSpPr>
          <p:spPr>
            <a:xfrm>
              <a:off x="3007" y="1812"/>
              <a:ext cx="0" cy="2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09" name="Text Box 24"/>
            <p:cNvSpPr txBox="1"/>
            <p:nvPr/>
          </p:nvSpPr>
          <p:spPr>
            <a:xfrm>
              <a:off x="2514" y="2067"/>
              <a:ext cx="15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等待</a:t>
              </a: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20min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10" name="Text Box 25"/>
            <p:cNvSpPr txBox="1"/>
            <p:nvPr/>
          </p:nvSpPr>
          <p:spPr>
            <a:xfrm>
              <a:off x="4234" y="2873"/>
              <a:ext cx="10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注射青霉素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7911" name="Group 26"/>
          <p:cNvGrpSpPr/>
          <p:nvPr/>
        </p:nvGrpSpPr>
        <p:grpSpPr>
          <a:xfrm>
            <a:off x="727075" y="1539875"/>
            <a:ext cx="2076450" cy="3892550"/>
            <a:chOff x="385" y="1162"/>
            <a:chExt cx="1445" cy="2708"/>
          </a:xfrm>
        </p:grpSpPr>
        <p:sp>
          <p:nvSpPr>
            <p:cNvPr id="37912" name="AutoShape 27"/>
            <p:cNvSpPr/>
            <p:nvPr/>
          </p:nvSpPr>
          <p:spPr>
            <a:xfrm>
              <a:off x="385" y="2750"/>
              <a:ext cx="1445" cy="576"/>
            </a:xfrm>
            <a:prstGeom prst="flowChartDecisi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判断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13" name="AutoShape 28"/>
            <p:cNvSpPr/>
            <p:nvPr/>
          </p:nvSpPr>
          <p:spPr>
            <a:xfrm>
              <a:off x="567" y="1162"/>
              <a:ext cx="1110" cy="499"/>
            </a:xfrm>
            <a:prstGeom prst="roundRect">
              <a:avLst>
                <a:gd name="adj" fmla="val 3030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开始</a:t>
              </a:r>
              <a:r>
                <a:rPr lang="en-US" altLang="zh-CN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结束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14" name="Rectangle 29"/>
            <p:cNvSpPr/>
            <p:nvPr/>
          </p:nvSpPr>
          <p:spPr>
            <a:xfrm>
              <a:off x="601" y="2010"/>
              <a:ext cx="1109" cy="49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环节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915" name="Line 30"/>
            <p:cNvSpPr/>
            <p:nvPr/>
          </p:nvSpPr>
          <p:spPr>
            <a:xfrm>
              <a:off x="601" y="3870"/>
              <a:ext cx="9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916" name="Text Box 31"/>
            <p:cNvSpPr txBox="1"/>
            <p:nvPr/>
          </p:nvSpPr>
          <p:spPr>
            <a:xfrm>
              <a:off x="858" y="3552"/>
              <a:ext cx="639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时序</a:t>
              </a:r>
              <a:endPara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7917" name="Text Box 32"/>
          <p:cNvSpPr txBox="1"/>
          <p:nvPr/>
        </p:nvSpPr>
        <p:spPr>
          <a:xfrm>
            <a:off x="250825" y="201613"/>
            <a:ext cx="5327650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程序流程图</a:t>
            </a:r>
            <a:endParaRPr lang="zh-CN" altLang="en-US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33" name="AutoShape 25"/>
          <p:cNvSpPr/>
          <p:nvPr/>
        </p:nvSpPr>
        <p:spPr>
          <a:xfrm>
            <a:off x="465138" y="6088063"/>
            <a:ext cx="8213725" cy="712787"/>
          </a:xfrm>
          <a:prstGeom prst="roundRect">
            <a:avLst>
              <a:gd name="adj" fmla="val 10347"/>
            </a:avLst>
          </a:prstGeom>
          <a:solidFill>
            <a:schemeClr val="bg1"/>
          </a:solidFill>
          <a:ln w="508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  <p:txBody>
          <a:bodyPr wrap="none" anchor="ctr" anchorCtr="0"/>
          <a:p>
            <a:pPr algn="ctr" latinLnBrk="1"/>
            <a:r>
              <a:rPr lang="zh-CN" altLang="en-US" sz="2800" b="1" dirty="0">
                <a:latin typeface="HY강B"/>
                <a:ea typeface="HY강B"/>
              </a:rPr>
              <a:t>科学合理的流程可以</a:t>
            </a:r>
            <a:r>
              <a:rPr lang="zh-CN" altLang="en-US" sz="2800" b="1" dirty="0">
                <a:solidFill>
                  <a:srgbClr val="CC0000"/>
                </a:solidFill>
                <a:latin typeface="HY강B"/>
                <a:ea typeface="HY강B"/>
              </a:rPr>
              <a:t>保障产品质量和我们的安全</a:t>
            </a:r>
            <a:r>
              <a:rPr lang="zh-CN" altLang="en-US" sz="2800" b="1" dirty="0">
                <a:latin typeface="HY강B"/>
                <a:ea typeface="HY강B"/>
              </a:rPr>
              <a:t>！</a:t>
            </a:r>
            <a:endParaRPr lang="zh-CN" altLang="en-US" sz="2800" b="1" dirty="0">
              <a:latin typeface="HY강B"/>
              <a:ea typeface="HY강B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关于时序的小结</a:t>
            </a:r>
            <a:endParaRPr lang="zh-CN" altLang="en-US" dirty="0"/>
          </a:p>
        </p:txBody>
      </p:sp>
      <p:sp>
        <p:nvSpPr>
          <p:cNvPr id="38914" name="Rectangle 3"/>
          <p:cNvSpPr>
            <a:spLocks noGrp="1"/>
          </p:cNvSpPr>
          <p:nvPr>
            <p:ph type="body" idx="4294967295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是指时间上的先后顺序。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时序分为：</a:t>
            </a:r>
            <a:endParaRPr lang="zh-CN" altLang="en-US" dirty="0"/>
          </a:p>
          <a:p>
            <a:r>
              <a:rPr lang="zh-CN" altLang="en-US" dirty="0"/>
              <a:t>可颠倒时序</a:t>
            </a:r>
            <a:endParaRPr lang="zh-CN" altLang="en-US" dirty="0"/>
          </a:p>
          <a:p>
            <a:r>
              <a:rPr lang="zh-CN" altLang="en-US" dirty="0"/>
              <a:t>不可颠倒时序</a:t>
            </a:r>
            <a:endParaRPr lang="zh-CN" altLang="en-US" dirty="0"/>
          </a:p>
          <a:p>
            <a:r>
              <a:rPr lang="zh-CN" altLang="en-US" dirty="0"/>
              <a:t>串行工序、并行工序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xfrm>
            <a:off x="398463" y="188913"/>
            <a:ext cx="8229600" cy="765175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kumimoji="1" lang="zh-CN" altLang="en-US" dirty="0">
                <a:solidFill>
                  <a:schemeClr val="tx1"/>
                </a:solidFill>
                <a:latin typeface="+mj-lt"/>
                <a:ea typeface="+mj-ea"/>
                <a:cs typeface="HY강B"/>
              </a:rPr>
              <a:t>回顾总结：什么是流程？</a:t>
            </a:r>
            <a:endParaRPr kumimoji="1" lang="zh-CN" altLang="en-US" dirty="0">
              <a:solidFill>
                <a:schemeClr val="tx1"/>
              </a:solidFill>
              <a:latin typeface="+mj-lt"/>
              <a:ea typeface="+mj-ea"/>
              <a:cs typeface="HY강B"/>
            </a:endParaRPr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457200" y="1368425"/>
            <a:ext cx="8229600" cy="4757738"/>
          </a:xfrm>
          <a:ln/>
        </p:spPr>
        <p:txBody>
          <a:bodyPr vert="horz" wrap="square" lIns="91440" tIns="45720" rIns="91440" bIns="45720" anchor="t" anchorCtr="0"/>
          <a:p>
            <a:pPr/>
            <a:endParaRPr kumimoji="1" lang="zh-CN" altLang="en-US" dirty="0">
              <a:latin typeface="+mn-lt"/>
              <a:ea typeface="+mn-ea"/>
              <a:cs typeface="HY강B"/>
            </a:endParaRPr>
          </a:p>
        </p:txBody>
      </p:sp>
      <p:sp>
        <p:nvSpPr>
          <p:cNvPr id="13319" name="Text Box 7"/>
          <p:cNvSpPr txBox="1"/>
          <p:nvPr/>
        </p:nvSpPr>
        <p:spPr>
          <a:xfrm>
            <a:off x="595313" y="2646363"/>
            <a:ext cx="7983537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HY강B"/>
              </a:rPr>
              <a:t>流程：为了一定的</a:t>
            </a:r>
            <a:r>
              <a:rPr lang="zh-CN" altLang="en-US" sz="3600" b="1" u="sng" dirty="0">
                <a:latin typeface="宋体" panose="02010600030101010101" pitchFamily="2" charset="-122"/>
                <a:ea typeface="HY강B"/>
              </a:rPr>
              <a:t>目的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HY강B"/>
              </a:rPr>
              <a:t>做事情</a:t>
            </a:r>
            <a:r>
              <a:rPr lang="zh-CN" altLang="en-US" sz="3600" b="1" dirty="0">
                <a:latin typeface="宋体" panose="02010600030101010101" pitchFamily="2" charset="-122"/>
                <a:ea typeface="HY강B"/>
              </a:rPr>
              <a:t>的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  <a:ea typeface="HY강B"/>
              </a:rPr>
              <a:t>顺序</a:t>
            </a:r>
            <a:r>
              <a:rPr lang="zh-CN" altLang="en-US" sz="3600" b="1" dirty="0">
                <a:latin typeface="宋体" panose="02010600030101010101" pitchFamily="2" charset="-122"/>
                <a:ea typeface="HY강B"/>
              </a:rPr>
              <a:t>。</a:t>
            </a:r>
            <a:endParaRPr lang="zh-CN" altLang="en-US" sz="3600" b="1" dirty="0">
              <a:latin typeface="宋体" panose="02010600030101010101" pitchFamily="2" charset="-122"/>
              <a:ea typeface="HY강B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5408613" y="3249613"/>
            <a:ext cx="1111250" cy="1031875"/>
            <a:chOff x="3375" y="3000"/>
            <a:chExt cx="700" cy="650"/>
          </a:xfrm>
        </p:grpSpPr>
        <p:sp>
          <p:nvSpPr>
            <p:cNvPr id="40965" name="Text Box 9"/>
            <p:cNvSpPr txBox="1"/>
            <p:nvPr/>
          </p:nvSpPr>
          <p:spPr>
            <a:xfrm>
              <a:off x="3375" y="3240"/>
              <a:ext cx="700" cy="41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3600" b="1" dirty="0">
                  <a:latin typeface="HY강B"/>
                  <a:ea typeface="HY강B"/>
                </a:rPr>
                <a:t>环节</a:t>
              </a:r>
              <a:endParaRPr lang="zh-CN" altLang="en-US" sz="3600" b="1" dirty="0">
                <a:latin typeface="HY강B"/>
                <a:ea typeface="HY강B"/>
              </a:endParaRPr>
            </a:p>
          </p:txBody>
        </p:sp>
        <p:sp>
          <p:nvSpPr>
            <p:cNvPr id="40966" name="Line 10"/>
            <p:cNvSpPr/>
            <p:nvPr/>
          </p:nvSpPr>
          <p:spPr>
            <a:xfrm>
              <a:off x="3728" y="3000"/>
              <a:ext cx="0" cy="2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Group 13"/>
          <p:cNvGrpSpPr/>
          <p:nvPr/>
        </p:nvGrpSpPr>
        <p:grpSpPr>
          <a:xfrm>
            <a:off x="7053263" y="3224213"/>
            <a:ext cx="1111250" cy="1046162"/>
            <a:chOff x="4411" y="2984"/>
            <a:chExt cx="700" cy="659"/>
          </a:xfrm>
        </p:grpSpPr>
        <p:sp>
          <p:nvSpPr>
            <p:cNvPr id="40968" name="Rectangle 8"/>
            <p:cNvSpPr/>
            <p:nvPr/>
          </p:nvSpPr>
          <p:spPr>
            <a:xfrm>
              <a:off x="4411" y="3233"/>
              <a:ext cx="700" cy="41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zh-CN" altLang="en-US" sz="3600" b="1" dirty="0">
                  <a:latin typeface="HY강B"/>
                  <a:ea typeface="HY강B"/>
                </a:rPr>
                <a:t>时序</a:t>
              </a:r>
              <a:endParaRPr lang="zh-CN" altLang="en-US" sz="3600" b="1" dirty="0">
                <a:latin typeface="HY강B"/>
                <a:ea typeface="HY강B"/>
              </a:endParaRPr>
            </a:p>
          </p:txBody>
        </p:sp>
        <p:sp>
          <p:nvSpPr>
            <p:cNvPr id="40969" name="Line 11"/>
            <p:cNvSpPr/>
            <p:nvPr/>
          </p:nvSpPr>
          <p:spPr>
            <a:xfrm>
              <a:off x="4745" y="2984"/>
              <a:ext cx="0" cy="2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文本框 1"/>
          <p:cNvSpPr txBox="1"/>
          <p:nvPr/>
        </p:nvSpPr>
        <p:spPr>
          <a:xfrm>
            <a:off x="184150" y="134938"/>
            <a:ext cx="8959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(2020.1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浙江选考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7.下列选项中不属于流程的是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1986" name="图片 -2147482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779463"/>
            <a:ext cx="8464550" cy="5484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4284663" y="620713"/>
            <a:ext cx="4679950" cy="2632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文本框 1"/>
          <p:cNvSpPr txBox="1"/>
          <p:nvPr/>
        </p:nvSpPr>
        <p:spPr>
          <a:xfrm>
            <a:off x="211138" y="176213"/>
            <a:ext cx="8761412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2020.1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浙江学考）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8．如图所示是辊式泡罩自动包装机的工艺流程图。下列对该流程的分析中正确的是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3010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5913" y="1006475"/>
            <a:ext cx="8512175" cy="1866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文本框 3"/>
          <p:cNvSpPr txBox="1"/>
          <p:nvPr/>
        </p:nvSpPr>
        <p:spPr>
          <a:xfrm>
            <a:off x="211138" y="3330575"/>
            <a:ext cx="8618537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A．充填与热封合的时序可以颠倒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B．成形、充填、热封合、压印不属于串行工序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C．计量、充填、热封合、覆盖属于串行工序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D．成品与废料不属于并行工序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388" y="4508500"/>
            <a:ext cx="4392613" cy="360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4034" name="文本框 1"/>
          <p:cNvSpPr txBox="1"/>
          <p:nvPr/>
        </p:nvSpPr>
        <p:spPr>
          <a:xfrm>
            <a:off x="104775" y="517525"/>
            <a:ext cx="8734425" cy="3046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2019.6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浙江学考）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11．如图所示是某个夹具中的一个压紧摆杆，其中各孔均为通孔。小明在通用技术实践课上用大小合适的钢板加工该压紧摆杆。在加工过程中需要以下环节：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A．冲眼；B．钻孔；C．锯割；D．划线；E．攻丝；F．锉削。 请分析该压紧摆杆的加工环节，回答以下问题：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（1）合理的加工流程为： ▲ → A→ ▲ → ▲ →C→ ▲ （在“ ▲ ”处填写加工环节的 序号）；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403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850" y="3563938"/>
            <a:ext cx="4432300" cy="3122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775075" y="2601913"/>
            <a:ext cx="44910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         B     E        F</a:t>
            </a:r>
            <a:endParaRPr lang="en-US" altLang="zh-CN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Text Box 11"/>
          <p:cNvSpPr txBox="1"/>
          <p:nvPr/>
        </p:nvSpPr>
        <p:spPr>
          <a:xfrm>
            <a:off x="320675" y="206375"/>
            <a:ext cx="5230813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环节的特点和时序的分类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Group 48"/>
          <p:cNvGrpSpPr/>
          <p:nvPr/>
        </p:nvGrpSpPr>
        <p:grpSpPr>
          <a:xfrm>
            <a:off x="2022475" y="4430713"/>
            <a:ext cx="2160588" cy="1584325"/>
            <a:chOff x="1338" y="2069"/>
            <a:chExt cx="1361" cy="998"/>
          </a:xfrm>
        </p:grpSpPr>
        <p:sp>
          <p:nvSpPr>
            <p:cNvPr id="45059" name="矩形 24"/>
            <p:cNvSpPr/>
            <p:nvPr/>
          </p:nvSpPr>
          <p:spPr>
            <a:xfrm>
              <a:off x="1338" y="2205"/>
              <a:ext cx="771" cy="631"/>
            </a:xfrm>
            <a:prstGeom prst="rect">
              <a:avLst/>
            </a:prstGeom>
            <a:solidFill>
              <a:srgbClr val="CCFF33"/>
            </a:solidFill>
            <a:ln w="12700">
              <a:noFill/>
            </a:ln>
            <a:effectLst>
              <a:outerShdw dist="114300" dir="5400000" algn="t" rotWithShape="0">
                <a:srgbClr val="000000">
                  <a:alpha val="39998"/>
                </a:srgbClr>
              </a:outerShdw>
            </a:effectLst>
          </p:spPr>
          <p:txBody>
            <a:bodyPr anchor="ctr" anchorCtr="0"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060" name="等腰三角形 25"/>
            <p:cNvSpPr/>
            <p:nvPr/>
          </p:nvSpPr>
          <p:spPr>
            <a:xfrm rot="5400000">
              <a:off x="2120" y="2243"/>
              <a:ext cx="467" cy="602"/>
            </a:xfrm>
            <a:prstGeom prst="triangle">
              <a:avLst>
                <a:gd name="adj" fmla="val 50000"/>
              </a:avLst>
            </a:prstGeom>
            <a:solidFill>
              <a:srgbClr val="C7EDCC"/>
            </a:solidFill>
            <a:ln w="12700">
              <a:noFill/>
            </a:ln>
          </p:spPr>
          <p:txBody>
            <a:bodyPr rot="10800000" vert="eaVert" anchor="ctr" anchorCtr="0"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Freeform 5"/>
            <p:cNvSpPr>
              <a:spLocks noEditPoints="1"/>
            </p:cNvSpPr>
            <p:nvPr/>
          </p:nvSpPr>
          <p:spPr bwMode="auto">
            <a:xfrm>
              <a:off x="2016" y="2119"/>
              <a:ext cx="573" cy="808"/>
            </a:xfrm>
            <a:custGeom>
              <a:avLst/>
              <a:gdLst>
                <a:gd name="T0" fmla="*/ 42 w 511"/>
                <a:gd name="T1" fmla="*/ 586 h 586"/>
                <a:gd name="T2" fmla="*/ 57 w 511"/>
                <a:gd name="T3" fmla="*/ 582 h 586"/>
                <a:gd name="T4" fmla="*/ 500 w 511"/>
                <a:gd name="T5" fmla="*/ 326 h 586"/>
                <a:gd name="T6" fmla="*/ 511 w 511"/>
                <a:gd name="T7" fmla="*/ 315 h 586"/>
                <a:gd name="T8" fmla="*/ 511 w 511"/>
                <a:gd name="T9" fmla="*/ 271 h 586"/>
                <a:gd name="T10" fmla="*/ 500 w 511"/>
                <a:gd name="T11" fmla="*/ 260 h 586"/>
                <a:gd name="T12" fmla="*/ 57 w 511"/>
                <a:gd name="T13" fmla="*/ 4 h 586"/>
                <a:gd name="T14" fmla="*/ 42 w 511"/>
                <a:gd name="T15" fmla="*/ 0 h 586"/>
                <a:gd name="T16" fmla="*/ 3 w 511"/>
                <a:gd name="T17" fmla="*/ 22 h 586"/>
                <a:gd name="T18" fmla="*/ 0 w 511"/>
                <a:gd name="T19" fmla="*/ 37 h 586"/>
                <a:gd name="T20" fmla="*/ 0 w 511"/>
                <a:gd name="T21" fmla="*/ 549 h 586"/>
                <a:gd name="T22" fmla="*/ 3 w 511"/>
                <a:gd name="T23" fmla="*/ 564 h 586"/>
                <a:gd name="T24" fmla="*/ 42 w 511"/>
                <a:gd name="T25" fmla="*/ 586 h 586"/>
                <a:gd name="T26" fmla="*/ 87 w 511"/>
                <a:gd name="T27" fmla="*/ 442 h 586"/>
                <a:gd name="T28" fmla="*/ 84 w 511"/>
                <a:gd name="T29" fmla="*/ 427 h 586"/>
                <a:gd name="T30" fmla="*/ 84 w 511"/>
                <a:gd name="T31" fmla="*/ 159 h 586"/>
                <a:gd name="T32" fmla="*/ 87 w 511"/>
                <a:gd name="T33" fmla="*/ 144 h 586"/>
                <a:gd name="T34" fmla="*/ 103 w 511"/>
                <a:gd name="T35" fmla="*/ 135 h 586"/>
                <a:gd name="T36" fmla="*/ 118 w 511"/>
                <a:gd name="T37" fmla="*/ 140 h 586"/>
                <a:gd name="T38" fmla="*/ 349 w 511"/>
                <a:gd name="T39" fmla="*/ 273 h 586"/>
                <a:gd name="T40" fmla="*/ 361 w 511"/>
                <a:gd name="T41" fmla="*/ 284 h 586"/>
                <a:gd name="T42" fmla="*/ 361 w 511"/>
                <a:gd name="T43" fmla="*/ 302 h 586"/>
                <a:gd name="T44" fmla="*/ 349 w 511"/>
                <a:gd name="T45" fmla="*/ 313 h 586"/>
                <a:gd name="T46" fmla="*/ 118 w 511"/>
                <a:gd name="T47" fmla="*/ 446 h 586"/>
                <a:gd name="T48" fmla="*/ 103 w 511"/>
                <a:gd name="T49" fmla="*/ 451 h 586"/>
                <a:gd name="T50" fmla="*/ 87 w 511"/>
                <a:gd name="T51" fmla="*/ 442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11" h="586">
                  <a:moveTo>
                    <a:pt x="42" y="586"/>
                  </a:moveTo>
                  <a:cubicBezTo>
                    <a:pt x="47" y="586"/>
                    <a:pt x="53" y="584"/>
                    <a:pt x="57" y="582"/>
                  </a:cubicBezTo>
                  <a:cubicBezTo>
                    <a:pt x="500" y="326"/>
                    <a:pt x="500" y="326"/>
                    <a:pt x="500" y="326"/>
                  </a:cubicBezTo>
                  <a:cubicBezTo>
                    <a:pt x="503" y="324"/>
                    <a:pt x="509" y="319"/>
                    <a:pt x="511" y="315"/>
                  </a:cubicBezTo>
                  <a:cubicBezTo>
                    <a:pt x="511" y="271"/>
                    <a:pt x="511" y="271"/>
                    <a:pt x="511" y="271"/>
                  </a:cubicBezTo>
                  <a:cubicBezTo>
                    <a:pt x="509" y="267"/>
                    <a:pt x="503" y="262"/>
                    <a:pt x="500" y="260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3" y="2"/>
                    <a:pt x="47" y="0"/>
                    <a:pt x="42" y="0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1" y="26"/>
                    <a:pt x="0" y="33"/>
                    <a:pt x="0" y="37"/>
                  </a:cubicBezTo>
                  <a:cubicBezTo>
                    <a:pt x="0" y="549"/>
                    <a:pt x="0" y="549"/>
                    <a:pt x="0" y="549"/>
                  </a:cubicBezTo>
                  <a:cubicBezTo>
                    <a:pt x="0" y="553"/>
                    <a:pt x="1" y="560"/>
                    <a:pt x="3" y="564"/>
                  </a:cubicBezTo>
                  <a:cubicBezTo>
                    <a:pt x="42" y="586"/>
                    <a:pt x="42" y="586"/>
                    <a:pt x="42" y="586"/>
                  </a:cubicBezTo>
                  <a:moveTo>
                    <a:pt x="87" y="442"/>
                  </a:moveTo>
                  <a:cubicBezTo>
                    <a:pt x="85" y="438"/>
                    <a:pt x="84" y="431"/>
                    <a:pt x="84" y="427"/>
                  </a:cubicBezTo>
                  <a:cubicBezTo>
                    <a:pt x="84" y="159"/>
                    <a:pt x="84" y="159"/>
                    <a:pt x="84" y="159"/>
                  </a:cubicBezTo>
                  <a:cubicBezTo>
                    <a:pt x="84" y="155"/>
                    <a:pt x="85" y="148"/>
                    <a:pt x="87" y="144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7" y="135"/>
                    <a:pt x="114" y="137"/>
                    <a:pt x="118" y="140"/>
                  </a:cubicBezTo>
                  <a:cubicBezTo>
                    <a:pt x="349" y="273"/>
                    <a:pt x="349" y="273"/>
                    <a:pt x="349" y="273"/>
                  </a:cubicBezTo>
                  <a:cubicBezTo>
                    <a:pt x="353" y="276"/>
                    <a:pt x="358" y="280"/>
                    <a:pt x="361" y="284"/>
                  </a:cubicBezTo>
                  <a:cubicBezTo>
                    <a:pt x="361" y="302"/>
                    <a:pt x="361" y="302"/>
                    <a:pt x="361" y="302"/>
                  </a:cubicBezTo>
                  <a:cubicBezTo>
                    <a:pt x="358" y="306"/>
                    <a:pt x="353" y="310"/>
                    <a:pt x="349" y="313"/>
                  </a:cubicBezTo>
                  <a:cubicBezTo>
                    <a:pt x="118" y="446"/>
                    <a:pt x="118" y="446"/>
                    <a:pt x="118" y="446"/>
                  </a:cubicBezTo>
                  <a:cubicBezTo>
                    <a:pt x="114" y="449"/>
                    <a:pt x="107" y="451"/>
                    <a:pt x="103" y="451"/>
                  </a:cubicBezTo>
                  <a:cubicBezTo>
                    <a:pt x="87" y="442"/>
                    <a:pt x="87" y="442"/>
                    <a:pt x="87" y="442"/>
                  </a:cubicBezTo>
                </a:path>
              </a:pathLst>
            </a:custGeom>
            <a:gradFill flip="none" rotWithShape="1">
              <a:gsLst>
                <a:gs pos="0">
                  <a:srgbClr val="29ABE2">
                    <a:lumMod val="5000"/>
                    <a:lumOff val="95000"/>
                  </a:srgbClr>
                </a:gs>
                <a:gs pos="100000">
                  <a:sysClr val="window" lastClr="FFFFFF">
                    <a:lumMod val="75000"/>
                  </a:sysClr>
                </a:gs>
              </a:gsLst>
              <a:lin ang="13500000" scaled="1"/>
              <a:tileRect/>
            </a:gradFill>
            <a:ln w="34925" cap="flat" cmpd="sng" algn="ctr">
              <a:gradFill flip="none" rotWithShape="1">
                <a:gsLst>
                  <a:gs pos="0">
                    <a:srgbClr val="BE309C">
                      <a:lumMod val="5000"/>
                      <a:lumOff val="95000"/>
                    </a:srgb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Y강B"/>
              </a:endParaRPr>
            </a:p>
          </p:txBody>
        </p:sp>
        <p:sp>
          <p:nvSpPr>
            <p:cNvPr id="45062" name="文本框 45"/>
            <p:cNvSpPr txBox="1"/>
            <p:nvPr/>
          </p:nvSpPr>
          <p:spPr>
            <a:xfrm>
              <a:off x="1345" y="2339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时序</a:t>
              </a:r>
              <a:endParaRPr lang="zh-CN" altLang="en-US" sz="3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" name="Group 55"/>
          <p:cNvGrpSpPr/>
          <p:nvPr/>
        </p:nvGrpSpPr>
        <p:grpSpPr>
          <a:xfrm>
            <a:off x="1993900" y="1495425"/>
            <a:ext cx="2160588" cy="1584325"/>
            <a:chOff x="1338" y="981"/>
            <a:chExt cx="1361" cy="998"/>
          </a:xfrm>
        </p:grpSpPr>
        <p:sp>
          <p:nvSpPr>
            <p:cNvPr id="45064" name="等腰三角形 25"/>
            <p:cNvSpPr/>
            <p:nvPr/>
          </p:nvSpPr>
          <p:spPr>
            <a:xfrm rot="5400000">
              <a:off x="2120" y="1155"/>
              <a:ext cx="467" cy="602"/>
            </a:xfrm>
            <a:prstGeom prst="triangle">
              <a:avLst>
                <a:gd name="adj" fmla="val 50000"/>
              </a:avLst>
            </a:prstGeom>
            <a:solidFill>
              <a:srgbClr val="C7EDCC"/>
            </a:solidFill>
            <a:ln w="12700">
              <a:noFill/>
            </a:ln>
          </p:spPr>
          <p:txBody>
            <a:bodyPr rot="10800000" vert="eaVert" anchor="ctr" anchorCtr="0"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065" name="Text Box 57"/>
            <p:cNvSpPr txBox="1"/>
            <p:nvPr/>
          </p:nvSpPr>
          <p:spPr>
            <a:xfrm>
              <a:off x="2015" y="1031"/>
              <a:ext cx="574" cy="8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066" name="矩形 24"/>
            <p:cNvSpPr/>
            <p:nvPr/>
          </p:nvSpPr>
          <p:spPr>
            <a:xfrm>
              <a:off x="1338" y="1117"/>
              <a:ext cx="771" cy="631"/>
            </a:xfrm>
            <a:prstGeom prst="rect">
              <a:avLst/>
            </a:prstGeom>
            <a:solidFill>
              <a:srgbClr val="99CCFF"/>
            </a:solidFill>
            <a:ln w="12700">
              <a:noFill/>
            </a:ln>
            <a:effectLst>
              <a:outerShdw dist="114300" dir="5400000" algn="t" rotWithShape="0">
                <a:srgbClr val="000000">
                  <a:alpha val="39998"/>
                </a:srgbClr>
              </a:outerShdw>
            </a:effectLst>
          </p:spPr>
          <p:txBody>
            <a:bodyPr anchor="ctr" anchorCtr="0"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067" name="文本框 45"/>
            <p:cNvSpPr txBox="1"/>
            <p:nvPr/>
          </p:nvSpPr>
          <p:spPr>
            <a:xfrm>
              <a:off x="1345" y="1253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环节</a:t>
              </a:r>
              <a:endParaRPr lang="zh-CN" altLang="en-US" sz="3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5068" name="Freeform 5"/>
            <p:cNvPicPr>
              <a:picLocks noEditPoints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73" y="981"/>
              <a:ext cx="726" cy="99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" name="Group 61"/>
          <p:cNvGrpSpPr/>
          <p:nvPr/>
        </p:nvGrpSpPr>
        <p:grpSpPr>
          <a:xfrm>
            <a:off x="4748213" y="4659313"/>
            <a:ext cx="2540000" cy="1079500"/>
            <a:chOff x="2608" y="3090"/>
            <a:chExt cx="1600" cy="680"/>
          </a:xfrm>
        </p:grpSpPr>
        <p:grpSp>
          <p:nvGrpSpPr>
            <p:cNvPr id="45070" name="组合 37"/>
            <p:cNvGrpSpPr/>
            <p:nvPr/>
          </p:nvGrpSpPr>
          <p:grpSpPr>
            <a:xfrm>
              <a:off x="2736" y="3225"/>
              <a:ext cx="1472" cy="410"/>
              <a:chOff x="3589704" y="5356768"/>
              <a:chExt cx="5398100" cy="651600"/>
            </a:xfrm>
          </p:grpSpPr>
          <p:sp>
            <p:nvSpPr>
              <p:cNvPr id="39" name="Freeform 7"/>
              <p:cNvSpPr/>
              <p:nvPr/>
            </p:nvSpPr>
            <p:spPr bwMode="auto">
              <a:xfrm>
                <a:off x="3593370" y="5358357"/>
                <a:ext cx="5394434" cy="648421"/>
              </a:xfrm>
              <a:custGeom>
                <a:avLst/>
                <a:gdLst>
                  <a:gd name="T0" fmla="*/ 956 w 1017"/>
                  <a:gd name="T1" fmla="*/ 121 h 121"/>
                  <a:gd name="T2" fmla="*/ 60 w 1017"/>
                  <a:gd name="T3" fmla="*/ 121 h 121"/>
                  <a:gd name="T4" fmla="*/ 0 w 1017"/>
                  <a:gd name="T5" fmla="*/ 60 h 121"/>
                  <a:gd name="T6" fmla="*/ 18 w 1017"/>
                  <a:gd name="T7" fmla="*/ 18 h 121"/>
                  <a:gd name="T8" fmla="*/ 60 w 1017"/>
                  <a:gd name="T9" fmla="*/ 0 h 121"/>
                  <a:gd name="T10" fmla="*/ 956 w 1017"/>
                  <a:gd name="T11" fmla="*/ 0 h 121"/>
                  <a:gd name="T12" fmla="*/ 999 w 1017"/>
                  <a:gd name="T13" fmla="*/ 18 h 121"/>
                  <a:gd name="T14" fmla="*/ 1017 w 1017"/>
                  <a:gd name="T15" fmla="*/ 60 h 121"/>
                  <a:gd name="T16" fmla="*/ 956 w 1017"/>
                  <a:gd name="T17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7" h="121">
                    <a:moveTo>
                      <a:pt x="956" y="121"/>
                    </a:moveTo>
                    <a:cubicBezTo>
                      <a:pt x="60" y="121"/>
                      <a:pt x="60" y="121"/>
                      <a:pt x="60" y="121"/>
                    </a:cubicBezTo>
                    <a:cubicBezTo>
                      <a:pt x="27" y="121"/>
                      <a:pt x="0" y="94"/>
                      <a:pt x="0" y="60"/>
                    </a:cubicBezTo>
                    <a:cubicBezTo>
                      <a:pt x="0" y="44"/>
                      <a:pt x="6" y="29"/>
                      <a:pt x="18" y="18"/>
                    </a:cubicBezTo>
                    <a:cubicBezTo>
                      <a:pt x="29" y="6"/>
                      <a:pt x="44" y="0"/>
                      <a:pt x="60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2" y="0"/>
                      <a:pt x="988" y="6"/>
                      <a:pt x="999" y="18"/>
                    </a:cubicBezTo>
                    <a:cubicBezTo>
                      <a:pt x="1010" y="29"/>
                      <a:pt x="1017" y="44"/>
                      <a:pt x="1017" y="60"/>
                    </a:cubicBezTo>
                    <a:cubicBezTo>
                      <a:pt x="1017" y="94"/>
                      <a:pt x="990" y="121"/>
                      <a:pt x="956" y="121"/>
                    </a:cubicBezTo>
                    <a:close/>
                  </a:path>
                </a:pathLst>
              </a:custGeom>
              <a:solidFill>
                <a:srgbClr val="29ABE2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Freeform 8"/>
              <p:cNvSpPr/>
              <p:nvPr/>
            </p:nvSpPr>
            <p:spPr bwMode="auto">
              <a:xfrm>
                <a:off x="7751961" y="5358357"/>
                <a:ext cx="1235843" cy="648421"/>
              </a:xfrm>
              <a:custGeom>
                <a:avLst/>
                <a:gdLst>
                  <a:gd name="T0" fmla="*/ 233 w 233"/>
                  <a:gd name="T1" fmla="*/ 60 h 121"/>
                  <a:gd name="T2" fmla="*/ 215 w 233"/>
                  <a:gd name="T3" fmla="*/ 18 h 121"/>
                  <a:gd name="T4" fmla="*/ 172 w 233"/>
                  <a:gd name="T5" fmla="*/ 0 h 121"/>
                  <a:gd name="T6" fmla="*/ 0 w 233"/>
                  <a:gd name="T7" fmla="*/ 0 h 121"/>
                  <a:gd name="T8" fmla="*/ 0 w 233"/>
                  <a:gd name="T9" fmla="*/ 121 h 121"/>
                  <a:gd name="T10" fmla="*/ 172 w 233"/>
                  <a:gd name="T11" fmla="*/ 121 h 121"/>
                  <a:gd name="T12" fmla="*/ 233 w 233"/>
                  <a:gd name="T13" fmla="*/ 6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121">
                    <a:moveTo>
                      <a:pt x="233" y="60"/>
                    </a:moveTo>
                    <a:cubicBezTo>
                      <a:pt x="233" y="44"/>
                      <a:pt x="226" y="29"/>
                      <a:pt x="215" y="18"/>
                    </a:cubicBezTo>
                    <a:cubicBezTo>
                      <a:pt x="204" y="6"/>
                      <a:pt x="188" y="0"/>
                      <a:pt x="17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72" y="121"/>
                      <a:pt x="172" y="121"/>
                      <a:pt x="172" y="121"/>
                    </a:cubicBezTo>
                    <a:cubicBezTo>
                      <a:pt x="206" y="121"/>
                      <a:pt x="233" y="94"/>
                      <a:pt x="233" y="60"/>
                    </a:cubicBezTo>
                    <a:close/>
                  </a:path>
                </a:pathLst>
              </a:custGeom>
              <a:solidFill>
                <a:srgbClr val="29ABE2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Freeform 12"/>
              <p:cNvSpPr/>
              <p:nvPr/>
            </p:nvSpPr>
            <p:spPr bwMode="auto">
              <a:xfrm>
                <a:off x="3589704" y="5356767"/>
                <a:ext cx="605085" cy="651600"/>
              </a:xfrm>
              <a:custGeom>
                <a:avLst/>
                <a:gdLst>
                  <a:gd name="T0" fmla="*/ 0 w 115"/>
                  <a:gd name="T1" fmla="*/ 60 h 120"/>
                  <a:gd name="T2" fmla="*/ 18 w 115"/>
                  <a:gd name="T3" fmla="*/ 17 h 120"/>
                  <a:gd name="T4" fmla="*/ 61 w 115"/>
                  <a:gd name="T5" fmla="*/ 0 h 120"/>
                  <a:gd name="T6" fmla="*/ 115 w 115"/>
                  <a:gd name="T7" fmla="*/ 0 h 120"/>
                  <a:gd name="T8" fmla="*/ 115 w 115"/>
                  <a:gd name="T9" fmla="*/ 120 h 120"/>
                  <a:gd name="T10" fmla="*/ 61 w 115"/>
                  <a:gd name="T11" fmla="*/ 120 h 120"/>
                  <a:gd name="T12" fmla="*/ 0 w 115"/>
                  <a:gd name="T13" fmla="*/ 6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120">
                    <a:moveTo>
                      <a:pt x="0" y="60"/>
                    </a:moveTo>
                    <a:cubicBezTo>
                      <a:pt x="0" y="44"/>
                      <a:pt x="7" y="29"/>
                      <a:pt x="18" y="17"/>
                    </a:cubicBezTo>
                    <a:cubicBezTo>
                      <a:pt x="29" y="6"/>
                      <a:pt x="44" y="0"/>
                      <a:pt x="61" y="0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61" y="120"/>
                      <a:pt x="61" y="120"/>
                      <a:pt x="61" y="120"/>
                    </a:cubicBezTo>
                    <a:cubicBezTo>
                      <a:pt x="27" y="120"/>
                      <a:pt x="0" y="93"/>
                      <a:pt x="0" y="60"/>
                    </a:cubicBezTo>
                    <a:close/>
                  </a:path>
                </a:pathLst>
              </a:custGeom>
              <a:solidFill>
                <a:srgbClr val="29ABE2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54" name="Freeform 5"/>
            <p:cNvSpPr>
              <a:spLocks noEditPoints="1"/>
            </p:cNvSpPr>
            <p:nvPr/>
          </p:nvSpPr>
          <p:spPr bwMode="auto">
            <a:xfrm>
              <a:off x="2608" y="3090"/>
              <a:ext cx="1587" cy="680"/>
            </a:xfrm>
            <a:custGeom>
              <a:avLst/>
              <a:gdLst>
                <a:gd name="T0" fmla="*/ 996 w 1097"/>
                <a:gd name="T1" fmla="*/ 0 h 201"/>
                <a:gd name="T2" fmla="*/ 100 w 1097"/>
                <a:gd name="T3" fmla="*/ 0 h 201"/>
                <a:gd name="T4" fmla="*/ 29 w 1097"/>
                <a:gd name="T5" fmla="*/ 29 h 201"/>
                <a:gd name="T6" fmla="*/ 0 w 1097"/>
                <a:gd name="T7" fmla="*/ 100 h 201"/>
                <a:gd name="T8" fmla="*/ 100 w 1097"/>
                <a:gd name="T9" fmla="*/ 201 h 201"/>
                <a:gd name="T10" fmla="*/ 996 w 1097"/>
                <a:gd name="T11" fmla="*/ 201 h 201"/>
                <a:gd name="T12" fmla="*/ 1097 w 1097"/>
                <a:gd name="T13" fmla="*/ 100 h 201"/>
                <a:gd name="T14" fmla="*/ 1067 w 1097"/>
                <a:gd name="T15" fmla="*/ 29 h 201"/>
                <a:gd name="T16" fmla="*/ 996 w 1097"/>
                <a:gd name="T17" fmla="*/ 0 h 201"/>
                <a:gd name="T18" fmla="*/ 1057 w 1097"/>
                <a:gd name="T19" fmla="*/ 100 h 201"/>
                <a:gd name="T20" fmla="*/ 996 w 1097"/>
                <a:gd name="T21" fmla="*/ 161 h 201"/>
                <a:gd name="T22" fmla="*/ 100 w 1097"/>
                <a:gd name="T23" fmla="*/ 161 h 201"/>
                <a:gd name="T24" fmla="*/ 40 w 1097"/>
                <a:gd name="T25" fmla="*/ 100 h 201"/>
                <a:gd name="T26" fmla="*/ 58 w 1097"/>
                <a:gd name="T27" fmla="*/ 58 h 201"/>
                <a:gd name="T28" fmla="*/ 100 w 1097"/>
                <a:gd name="T29" fmla="*/ 40 h 201"/>
                <a:gd name="T30" fmla="*/ 996 w 1097"/>
                <a:gd name="T31" fmla="*/ 40 h 201"/>
                <a:gd name="T32" fmla="*/ 1039 w 1097"/>
                <a:gd name="T33" fmla="*/ 58 h 201"/>
                <a:gd name="T34" fmla="*/ 1057 w 1097"/>
                <a:gd name="T35" fmla="*/ 10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97" h="201">
                  <a:moveTo>
                    <a:pt x="99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74" y="0"/>
                    <a:pt x="48" y="11"/>
                    <a:pt x="29" y="29"/>
                  </a:cubicBezTo>
                  <a:cubicBezTo>
                    <a:pt x="11" y="48"/>
                    <a:pt x="0" y="74"/>
                    <a:pt x="0" y="100"/>
                  </a:cubicBezTo>
                  <a:cubicBezTo>
                    <a:pt x="0" y="156"/>
                    <a:pt x="45" y="201"/>
                    <a:pt x="100" y="201"/>
                  </a:cubicBezTo>
                  <a:cubicBezTo>
                    <a:pt x="996" y="201"/>
                    <a:pt x="996" y="201"/>
                    <a:pt x="996" y="201"/>
                  </a:cubicBezTo>
                  <a:cubicBezTo>
                    <a:pt x="1052" y="201"/>
                    <a:pt x="1097" y="156"/>
                    <a:pt x="1097" y="100"/>
                  </a:cubicBezTo>
                  <a:cubicBezTo>
                    <a:pt x="1097" y="74"/>
                    <a:pt x="1086" y="48"/>
                    <a:pt x="1067" y="29"/>
                  </a:cubicBezTo>
                  <a:cubicBezTo>
                    <a:pt x="1048" y="11"/>
                    <a:pt x="1023" y="0"/>
                    <a:pt x="996" y="0"/>
                  </a:cubicBezTo>
                  <a:close/>
                  <a:moveTo>
                    <a:pt x="1057" y="100"/>
                  </a:moveTo>
                  <a:cubicBezTo>
                    <a:pt x="1057" y="134"/>
                    <a:pt x="1030" y="161"/>
                    <a:pt x="996" y="161"/>
                  </a:cubicBezTo>
                  <a:cubicBezTo>
                    <a:pt x="100" y="161"/>
                    <a:pt x="100" y="161"/>
                    <a:pt x="100" y="161"/>
                  </a:cubicBezTo>
                  <a:cubicBezTo>
                    <a:pt x="67" y="161"/>
                    <a:pt x="40" y="134"/>
                    <a:pt x="40" y="100"/>
                  </a:cubicBezTo>
                  <a:cubicBezTo>
                    <a:pt x="40" y="84"/>
                    <a:pt x="46" y="69"/>
                    <a:pt x="58" y="58"/>
                  </a:cubicBezTo>
                  <a:cubicBezTo>
                    <a:pt x="69" y="46"/>
                    <a:pt x="84" y="40"/>
                    <a:pt x="100" y="40"/>
                  </a:cubicBezTo>
                  <a:cubicBezTo>
                    <a:pt x="996" y="40"/>
                    <a:pt x="996" y="40"/>
                    <a:pt x="996" y="40"/>
                  </a:cubicBezTo>
                  <a:cubicBezTo>
                    <a:pt x="1012" y="40"/>
                    <a:pt x="1028" y="46"/>
                    <a:pt x="1039" y="58"/>
                  </a:cubicBezTo>
                  <a:cubicBezTo>
                    <a:pt x="1050" y="69"/>
                    <a:pt x="1057" y="84"/>
                    <a:pt x="1057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778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5" name="Freeform 6"/>
            <p:cNvSpPr>
              <a:spLocks noEditPoints="1"/>
            </p:cNvSpPr>
            <p:nvPr/>
          </p:nvSpPr>
          <p:spPr bwMode="auto">
            <a:xfrm>
              <a:off x="2673" y="3158"/>
              <a:ext cx="1529" cy="544"/>
            </a:xfrm>
            <a:custGeom>
              <a:avLst/>
              <a:gdLst>
                <a:gd name="T0" fmla="*/ 976 w 1057"/>
                <a:gd name="T1" fmla="*/ 0 h 161"/>
                <a:gd name="T2" fmla="*/ 80 w 1057"/>
                <a:gd name="T3" fmla="*/ 0 h 161"/>
                <a:gd name="T4" fmla="*/ 0 w 1057"/>
                <a:gd name="T5" fmla="*/ 80 h 161"/>
                <a:gd name="T6" fmla="*/ 80 w 1057"/>
                <a:gd name="T7" fmla="*/ 161 h 161"/>
                <a:gd name="T8" fmla="*/ 976 w 1057"/>
                <a:gd name="T9" fmla="*/ 161 h 161"/>
                <a:gd name="T10" fmla="*/ 1057 w 1057"/>
                <a:gd name="T11" fmla="*/ 80 h 161"/>
                <a:gd name="T12" fmla="*/ 976 w 1057"/>
                <a:gd name="T13" fmla="*/ 0 h 161"/>
                <a:gd name="T14" fmla="*/ 976 w 1057"/>
                <a:gd name="T15" fmla="*/ 141 h 161"/>
                <a:gd name="T16" fmla="*/ 80 w 1057"/>
                <a:gd name="T17" fmla="*/ 141 h 161"/>
                <a:gd name="T18" fmla="*/ 20 w 1057"/>
                <a:gd name="T19" fmla="*/ 80 h 161"/>
                <a:gd name="T20" fmla="*/ 38 w 1057"/>
                <a:gd name="T21" fmla="*/ 38 h 161"/>
                <a:gd name="T22" fmla="*/ 80 w 1057"/>
                <a:gd name="T23" fmla="*/ 20 h 161"/>
                <a:gd name="T24" fmla="*/ 976 w 1057"/>
                <a:gd name="T25" fmla="*/ 20 h 161"/>
                <a:gd name="T26" fmla="*/ 1019 w 1057"/>
                <a:gd name="T27" fmla="*/ 38 h 161"/>
                <a:gd name="T28" fmla="*/ 1037 w 1057"/>
                <a:gd name="T29" fmla="*/ 80 h 161"/>
                <a:gd name="T30" fmla="*/ 976 w 1057"/>
                <a:gd name="T31" fmla="*/ 14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7" h="161">
                  <a:moveTo>
                    <a:pt x="976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125"/>
                    <a:pt x="36" y="161"/>
                    <a:pt x="80" y="161"/>
                  </a:cubicBezTo>
                  <a:cubicBezTo>
                    <a:pt x="976" y="161"/>
                    <a:pt x="976" y="161"/>
                    <a:pt x="976" y="161"/>
                  </a:cubicBezTo>
                  <a:cubicBezTo>
                    <a:pt x="1021" y="161"/>
                    <a:pt x="1057" y="125"/>
                    <a:pt x="1057" y="80"/>
                  </a:cubicBezTo>
                  <a:cubicBezTo>
                    <a:pt x="1057" y="36"/>
                    <a:pt x="1021" y="0"/>
                    <a:pt x="976" y="0"/>
                  </a:cubicBezTo>
                  <a:close/>
                  <a:moveTo>
                    <a:pt x="976" y="141"/>
                  </a:moveTo>
                  <a:cubicBezTo>
                    <a:pt x="80" y="141"/>
                    <a:pt x="80" y="141"/>
                    <a:pt x="80" y="141"/>
                  </a:cubicBezTo>
                  <a:cubicBezTo>
                    <a:pt x="47" y="141"/>
                    <a:pt x="20" y="114"/>
                    <a:pt x="20" y="80"/>
                  </a:cubicBezTo>
                  <a:cubicBezTo>
                    <a:pt x="20" y="64"/>
                    <a:pt x="26" y="49"/>
                    <a:pt x="38" y="38"/>
                  </a:cubicBezTo>
                  <a:cubicBezTo>
                    <a:pt x="49" y="26"/>
                    <a:pt x="64" y="20"/>
                    <a:pt x="80" y="20"/>
                  </a:cubicBezTo>
                  <a:cubicBezTo>
                    <a:pt x="976" y="20"/>
                    <a:pt x="976" y="20"/>
                    <a:pt x="976" y="20"/>
                  </a:cubicBezTo>
                  <a:cubicBezTo>
                    <a:pt x="992" y="20"/>
                    <a:pt x="1008" y="26"/>
                    <a:pt x="1019" y="38"/>
                  </a:cubicBezTo>
                  <a:cubicBezTo>
                    <a:pt x="1030" y="49"/>
                    <a:pt x="1037" y="64"/>
                    <a:pt x="1037" y="80"/>
                  </a:cubicBezTo>
                  <a:cubicBezTo>
                    <a:pt x="1037" y="114"/>
                    <a:pt x="1010" y="141"/>
                    <a:pt x="976" y="141"/>
                  </a:cubicBezTo>
                  <a:close/>
                </a:path>
              </a:pathLst>
            </a:custGeom>
            <a:solidFill>
              <a:srgbClr val="E5E9EA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076" name="文本框 39"/>
            <p:cNvSpPr txBox="1"/>
            <p:nvPr/>
          </p:nvSpPr>
          <p:spPr>
            <a:xfrm>
              <a:off x="2829" y="3249"/>
              <a:ext cx="11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不可颠倒</a:t>
              </a:r>
              <a:endParaRPr lang="zh-CN" altLang="en-US" sz="3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Group 69"/>
          <p:cNvGrpSpPr/>
          <p:nvPr/>
        </p:nvGrpSpPr>
        <p:grpSpPr>
          <a:xfrm>
            <a:off x="4697413" y="3522663"/>
            <a:ext cx="2520950" cy="1081087"/>
            <a:chOff x="2562" y="2250"/>
            <a:chExt cx="1588" cy="681"/>
          </a:xfrm>
        </p:grpSpPr>
        <p:grpSp>
          <p:nvGrpSpPr>
            <p:cNvPr id="45078" name="Group 70"/>
            <p:cNvGrpSpPr/>
            <p:nvPr/>
          </p:nvGrpSpPr>
          <p:grpSpPr>
            <a:xfrm>
              <a:off x="2613" y="2318"/>
              <a:ext cx="1537" cy="545"/>
              <a:chOff x="2629" y="2400"/>
              <a:chExt cx="1537" cy="545"/>
            </a:xfrm>
          </p:grpSpPr>
          <p:grpSp>
            <p:nvGrpSpPr>
              <p:cNvPr id="45079" name="组合 41"/>
              <p:cNvGrpSpPr/>
              <p:nvPr/>
            </p:nvGrpSpPr>
            <p:grpSpPr>
              <a:xfrm>
                <a:off x="2693" y="2467"/>
                <a:ext cx="1473" cy="411"/>
                <a:chOff x="3589704" y="4154301"/>
                <a:chExt cx="5398100" cy="651600"/>
              </a:xfrm>
            </p:grpSpPr>
            <p:sp>
              <p:nvSpPr>
                <p:cNvPr id="43" name="Freeform 7"/>
                <p:cNvSpPr/>
                <p:nvPr/>
              </p:nvSpPr>
              <p:spPr bwMode="auto">
                <a:xfrm>
                  <a:off x="3593368" y="4155887"/>
                  <a:ext cx="5394434" cy="648429"/>
                </a:xfrm>
                <a:custGeom>
                  <a:avLst/>
                  <a:gdLst>
                    <a:gd name="T0" fmla="*/ 956 w 1017"/>
                    <a:gd name="T1" fmla="*/ 121 h 121"/>
                    <a:gd name="T2" fmla="*/ 60 w 1017"/>
                    <a:gd name="T3" fmla="*/ 121 h 121"/>
                    <a:gd name="T4" fmla="*/ 0 w 1017"/>
                    <a:gd name="T5" fmla="*/ 60 h 121"/>
                    <a:gd name="T6" fmla="*/ 18 w 1017"/>
                    <a:gd name="T7" fmla="*/ 18 h 121"/>
                    <a:gd name="T8" fmla="*/ 60 w 1017"/>
                    <a:gd name="T9" fmla="*/ 0 h 121"/>
                    <a:gd name="T10" fmla="*/ 956 w 1017"/>
                    <a:gd name="T11" fmla="*/ 0 h 121"/>
                    <a:gd name="T12" fmla="*/ 999 w 1017"/>
                    <a:gd name="T13" fmla="*/ 18 h 121"/>
                    <a:gd name="T14" fmla="*/ 1017 w 1017"/>
                    <a:gd name="T15" fmla="*/ 60 h 121"/>
                    <a:gd name="T16" fmla="*/ 956 w 1017"/>
                    <a:gd name="T17" fmla="*/ 12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17" h="121">
                      <a:moveTo>
                        <a:pt x="956" y="121"/>
                      </a:moveTo>
                      <a:cubicBezTo>
                        <a:pt x="60" y="121"/>
                        <a:pt x="60" y="121"/>
                        <a:pt x="60" y="121"/>
                      </a:cubicBezTo>
                      <a:cubicBezTo>
                        <a:pt x="27" y="121"/>
                        <a:pt x="0" y="94"/>
                        <a:pt x="0" y="60"/>
                      </a:cubicBezTo>
                      <a:cubicBezTo>
                        <a:pt x="0" y="44"/>
                        <a:pt x="6" y="29"/>
                        <a:pt x="18" y="18"/>
                      </a:cubicBezTo>
                      <a:cubicBezTo>
                        <a:pt x="29" y="6"/>
                        <a:pt x="44" y="0"/>
                        <a:pt x="60" y="0"/>
                      </a:cubicBezTo>
                      <a:cubicBezTo>
                        <a:pt x="956" y="0"/>
                        <a:pt x="956" y="0"/>
                        <a:pt x="956" y="0"/>
                      </a:cubicBezTo>
                      <a:cubicBezTo>
                        <a:pt x="972" y="0"/>
                        <a:pt x="988" y="6"/>
                        <a:pt x="999" y="18"/>
                      </a:cubicBezTo>
                      <a:cubicBezTo>
                        <a:pt x="1010" y="29"/>
                        <a:pt x="1017" y="44"/>
                        <a:pt x="1017" y="60"/>
                      </a:cubicBezTo>
                      <a:cubicBezTo>
                        <a:pt x="1017" y="94"/>
                        <a:pt x="990" y="121"/>
                        <a:pt x="956" y="121"/>
                      </a:cubicBezTo>
                      <a:close/>
                    </a:path>
                  </a:pathLst>
                </a:custGeom>
                <a:solidFill>
                  <a:srgbClr val="A3D800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44" name="Freeform 8"/>
                <p:cNvSpPr/>
                <p:nvPr/>
              </p:nvSpPr>
              <p:spPr bwMode="auto">
                <a:xfrm>
                  <a:off x="7749134" y="4155887"/>
                  <a:ext cx="1238668" cy="648429"/>
                </a:xfrm>
                <a:custGeom>
                  <a:avLst/>
                  <a:gdLst>
                    <a:gd name="T0" fmla="*/ 233 w 233"/>
                    <a:gd name="T1" fmla="*/ 60 h 121"/>
                    <a:gd name="T2" fmla="*/ 215 w 233"/>
                    <a:gd name="T3" fmla="*/ 18 h 121"/>
                    <a:gd name="T4" fmla="*/ 172 w 233"/>
                    <a:gd name="T5" fmla="*/ 0 h 121"/>
                    <a:gd name="T6" fmla="*/ 0 w 233"/>
                    <a:gd name="T7" fmla="*/ 0 h 121"/>
                    <a:gd name="T8" fmla="*/ 0 w 233"/>
                    <a:gd name="T9" fmla="*/ 121 h 121"/>
                    <a:gd name="T10" fmla="*/ 172 w 233"/>
                    <a:gd name="T11" fmla="*/ 121 h 121"/>
                    <a:gd name="T12" fmla="*/ 233 w 233"/>
                    <a:gd name="T13" fmla="*/ 6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3" h="121">
                      <a:moveTo>
                        <a:pt x="233" y="60"/>
                      </a:moveTo>
                      <a:cubicBezTo>
                        <a:pt x="233" y="44"/>
                        <a:pt x="226" y="29"/>
                        <a:pt x="215" y="18"/>
                      </a:cubicBezTo>
                      <a:cubicBezTo>
                        <a:pt x="204" y="6"/>
                        <a:pt x="188" y="0"/>
                        <a:pt x="17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172" y="121"/>
                        <a:pt x="172" y="121"/>
                        <a:pt x="172" y="121"/>
                      </a:cubicBezTo>
                      <a:cubicBezTo>
                        <a:pt x="206" y="121"/>
                        <a:pt x="233" y="94"/>
                        <a:pt x="233" y="60"/>
                      </a:cubicBezTo>
                      <a:close/>
                    </a:path>
                  </a:pathLst>
                </a:custGeom>
                <a:solidFill>
                  <a:srgbClr val="A3D800">
                    <a:lumMod val="60000"/>
                    <a:lumOff val="4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45" name="Freeform 12"/>
                <p:cNvSpPr/>
                <p:nvPr/>
              </p:nvSpPr>
              <p:spPr bwMode="auto">
                <a:xfrm>
                  <a:off x="3589702" y="4154301"/>
                  <a:ext cx="604676" cy="651601"/>
                </a:xfrm>
                <a:custGeom>
                  <a:avLst/>
                  <a:gdLst>
                    <a:gd name="T0" fmla="*/ 0 w 115"/>
                    <a:gd name="T1" fmla="*/ 60 h 120"/>
                    <a:gd name="T2" fmla="*/ 18 w 115"/>
                    <a:gd name="T3" fmla="*/ 17 h 120"/>
                    <a:gd name="T4" fmla="*/ 61 w 115"/>
                    <a:gd name="T5" fmla="*/ 0 h 120"/>
                    <a:gd name="T6" fmla="*/ 115 w 115"/>
                    <a:gd name="T7" fmla="*/ 0 h 120"/>
                    <a:gd name="T8" fmla="*/ 115 w 115"/>
                    <a:gd name="T9" fmla="*/ 120 h 120"/>
                    <a:gd name="T10" fmla="*/ 61 w 115"/>
                    <a:gd name="T11" fmla="*/ 120 h 120"/>
                    <a:gd name="T12" fmla="*/ 0 w 115"/>
                    <a:gd name="T13" fmla="*/ 6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5" h="120">
                      <a:moveTo>
                        <a:pt x="0" y="60"/>
                      </a:moveTo>
                      <a:cubicBezTo>
                        <a:pt x="0" y="44"/>
                        <a:pt x="7" y="29"/>
                        <a:pt x="18" y="17"/>
                      </a:cubicBezTo>
                      <a:cubicBezTo>
                        <a:pt x="29" y="6"/>
                        <a:pt x="44" y="0"/>
                        <a:pt x="61" y="0"/>
                      </a:cubicBezTo>
                      <a:cubicBezTo>
                        <a:pt x="115" y="0"/>
                        <a:pt x="115" y="0"/>
                        <a:pt x="115" y="0"/>
                      </a:cubicBezTo>
                      <a:cubicBezTo>
                        <a:pt x="115" y="120"/>
                        <a:pt x="115" y="120"/>
                        <a:pt x="115" y="120"/>
                      </a:cubicBezTo>
                      <a:cubicBezTo>
                        <a:pt x="61" y="120"/>
                        <a:pt x="61" y="120"/>
                        <a:pt x="61" y="120"/>
                      </a:cubicBezTo>
                      <a:cubicBezTo>
                        <a:pt x="27" y="120"/>
                        <a:pt x="0" y="93"/>
                        <a:pt x="0" y="60"/>
                      </a:cubicBezTo>
                      <a:close/>
                    </a:path>
                  </a:pathLst>
                </a:custGeom>
                <a:solidFill>
                  <a:srgbClr val="A3D800">
                    <a:lumMod val="60000"/>
                    <a:lumOff val="4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sp>
            <p:nvSpPr>
              <p:cNvPr id="60" name="Freeform 6"/>
              <p:cNvSpPr>
                <a:spLocks noEditPoints="1"/>
              </p:cNvSpPr>
              <p:nvPr/>
            </p:nvSpPr>
            <p:spPr bwMode="auto">
              <a:xfrm>
                <a:off x="2629" y="2400"/>
                <a:ext cx="1530" cy="545"/>
              </a:xfrm>
              <a:custGeom>
                <a:avLst/>
                <a:gdLst>
                  <a:gd name="T0" fmla="*/ 976 w 1057"/>
                  <a:gd name="T1" fmla="*/ 0 h 161"/>
                  <a:gd name="T2" fmla="*/ 80 w 1057"/>
                  <a:gd name="T3" fmla="*/ 0 h 161"/>
                  <a:gd name="T4" fmla="*/ 0 w 1057"/>
                  <a:gd name="T5" fmla="*/ 80 h 161"/>
                  <a:gd name="T6" fmla="*/ 80 w 1057"/>
                  <a:gd name="T7" fmla="*/ 161 h 161"/>
                  <a:gd name="T8" fmla="*/ 976 w 1057"/>
                  <a:gd name="T9" fmla="*/ 161 h 161"/>
                  <a:gd name="T10" fmla="*/ 1057 w 1057"/>
                  <a:gd name="T11" fmla="*/ 80 h 161"/>
                  <a:gd name="T12" fmla="*/ 976 w 1057"/>
                  <a:gd name="T13" fmla="*/ 0 h 161"/>
                  <a:gd name="T14" fmla="*/ 976 w 1057"/>
                  <a:gd name="T15" fmla="*/ 141 h 161"/>
                  <a:gd name="T16" fmla="*/ 80 w 1057"/>
                  <a:gd name="T17" fmla="*/ 141 h 161"/>
                  <a:gd name="T18" fmla="*/ 20 w 1057"/>
                  <a:gd name="T19" fmla="*/ 80 h 161"/>
                  <a:gd name="T20" fmla="*/ 38 w 1057"/>
                  <a:gd name="T21" fmla="*/ 38 h 161"/>
                  <a:gd name="T22" fmla="*/ 80 w 1057"/>
                  <a:gd name="T23" fmla="*/ 20 h 161"/>
                  <a:gd name="T24" fmla="*/ 976 w 1057"/>
                  <a:gd name="T25" fmla="*/ 20 h 161"/>
                  <a:gd name="T26" fmla="*/ 1019 w 1057"/>
                  <a:gd name="T27" fmla="*/ 38 h 161"/>
                  <a:gd name="T28" fmla="*/ 1037 w 1057"/>
                  <a:gd name="T29" fmla="*/ 80 h 161"/>
                  <a:gd name="T30" fmla="*/ 976 w 1057"/>
                  <a:gd name="T31" fmla="*/ 14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57" h="161">
                    <a:moveTo>
                      <a:pt x="976" y="0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5"/>
                      <a:pt x="36" y="161"/>
                      <a:pt x="80" y="161"/>
                    </a:cubicBezTo>
                    <a:cubicBezTo>
                      <a:pt x="976" y="161"/>
                      <a:pt x="976" y="161"/>
                      <a:pt x="976" y="161"/>
                    </a:cubicBezTo>
                    <a:cubicBezTo>
                      <a:pt x="1021" y="161"/>
                      <a:pt x="1057" y="125"/>
                      <a:pt x="1057" y="80"/>
                    </a:cubicBezTo>
                    <a:cubicBezTo>
                      <a:pt x="1057" y="36"/>
                      <a:pt x="1021" y="0"/>
                      <a:pt x="976" y="0"/>
                    </a:cubicBezTo>
                    <a:close/>
                    <a:moveTo>
                      <a:pt x="976" y="141"/>
                    </a:moveTo>
                    <a:cubicBezTo>
                      <a:pt x="80" y="141"/>
                      <a:pt x="80" y="141"/>
                      <a:pt x="80" y="141"/>
                    </a:cubicBezTo>
                    <a:cubicBezTo>
                      <a:pt x="47" y="141"/>
                      <a:pt x="20" y="114"/>
                      <a:pt x="20" y="80"/>
                    </a:cubicBezTo>
                    <a:cubicBezTo>
                      <a:pt x="20" y="64"/>
                      <a:pt x="26" y="49"/>
                      <a:pt x="38" y="38"/>
                    </a:cubicBezTo>
                    <a:cubicBezTo>
                      <a:pt x="49" y="26"/>
                      <a:pt x="64" y="20"/>
                      <a:pt x="80" y="20"/>
                    </a:cubicBezTo>
                    <a:cubicBezTo>
                      <a:pt x="976" y="20"/>
                      <a:pt x="976" y="20"/>
                      <a:pt x="976" y="20"/>
                    </a:cubicBezTo>
                    <a:cubicBezTo>
                      <a:pt x="992" y="20"/>
                      <a:pt x="1008" y="26"/>
                      <a:pt x="1019" y="38"/>
                    </a:cubicBezTo>
                    <a:cubicBezTo>
                      <a:pt x="1030" y="49"/>
                      <a:pt x="1037" y="64"/>
                      <a:pt x="1037" y="80"/>
                    </a:cubicBezTo>
                    <a:cubicBezTo>
                      <a:pt x="1037" y="114"/>
                      <a:pt x="1010" y="141"/>
                      <a:pt x="976" y="141"/>
                    </a:cubicBezTo>
                    <a:close/>
                  </a:path>
                </a:pathLst>
              </a:custGeom>
              <a:solidFill>
                <a:srgbClr val="E5E9EA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5084" name="文本框 38"/>
              <p:cNvSpPr txBox="1"/>
              <p:nvPr/>
            </p:nvSpPr>
            <p:spPr>
              <a:xfrm>
                <a:off x="2925" y="2521"/>
                <a:ext cx="88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3200" b="1" dirty="0">
                    <a:latin typeface="微软雅黑" panose="020B0503020204020204" charset="-122"/>
                    <a:ea typeface="微软雅黑" panose="020B0503020204020204" charset="-122"/>
                  </a:rPr>
                  <a:t>可颠倒</a:t>
                </a:r>
                <a:endParaRPr lang="zh-CN" altLang="en-US" sz="32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59" name="Freeform 5"/>
            <p:cNvSpPr>
              <a:spLocks noEditPoints="1"/>
            </p:cNvSpPr>
            <p:nvPr/>
          </p:nvSpPr>
          <p:spPr bwMode="auto">
            <a:xfrm>
              <a:off x="2562" y="2250"/>
              <a:ext cx="1588" cy="681"/>
            </a:xfrm>
            <a:custGeom>
              <a:avLst/>
              <a:gdLst>
                <a:gd name="T0" fmla="*/ 996 w 1097"/>
                <a:gd name="T1" fmla="*/ 0 h 201"/>
                <a:gd name="T2" fmla="*/ 100 w 1097"/>
                <a:gd name="T3" fmla="*/ 0 h 201"/>
                <a:gd name="T4" fmla="*/ 29 w 1097"/>
                <a:gd name="T5" fmla="*/ 29 h 201"/>
                <a:gd name="T6" fmla="*/ 0 w 1097"/>
                <a:gd name="T7" fmla="*/ 100 h 201"/>
                <a:gd name="T8" fmla="*/ 100 w 1097"/>
                <a:gd name="T9" fmla="*/ 201 h 201"/>
                <a:gd name="T10" fmla="*/ 996 w 1097"/>
                <a:gd name="T11" fmla="*/ 201 h 201"/>
                <a:gd name="T12" fmla="*/ 1097 w 1097"/>
                <a:gd name="T13" fmla="*/ 100 h 201"/>
                <a:gd name="T14" fmla="*/ 1067 w 1097"/>
                <a:gd name="T15" fmla="*/ 29 h 201"/>
                <a:gd name="T16" fmla="*/ 996 w 1097"/>
                <a:gd name="T17" fmla="*/ 0 h 201"/>
                <a:gd name="T18" fmla="*/ 1057 w 1097"/>
                <a:gd name="T19" fmla="*/ 100 h 201"/>
                <a:gd name="T20" fmla="*/ 996 w 1097"/>
                <a:gd name="T21" fmla="*/ 161 h 201"/>
                <a:gd name="T22" fmla="*/ 100 w 1097"/>
                <a:gd name="T23" fmla="*/ 161 h 201"/>
                <a:gd name="T24" fmla="*/ 40 w 1097"/>
                <a:gd name="T25" fmla="*/ 100 h 201"/>
                <a:gd name="T26" fmla="*/ 58 w 1097"/>
                <a:gd name="T27" fmla="*/ 58 h 201"/>
                <a:gd name="T28" fmla="*/ 100 w 1097"/>
                <a:gd name="T29" fmla="*/ 40 h 201"/>
                <a:gd name="T30" fmla="*/ 996 w 1097"/>
                <a:gd name="T31" fmla="*/ 40 h 201"/>
                <a:gd name="T32" fmla="*/ 1039 w 1097"/>
                <a:gd name="T33" fmla="*/ 58 h 201"/>
                <a:gd name="T34" fmla="*/ 1057 w 1097"/>
                <a:gd name="T35" fmla="*/ 10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97" h="201">
                  <a:moveTo>
                    <a:pt x="99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74" y="0"/>
                    <a:pt x="48" y="11"/>
                    <a:pt x="29" y="29"/>
                  </a:cubicBezTo>
                  <a:cubicBezTo>
                    <a:pt x="11" y="48"/>
                    <a:pt x="0" y="74"/>
                    <a:pt x="0" y="100"/>
                  </a:cubicBezTo>
                  <a:cubicBezTo>
                    <a:pt x="0" y="156"/>
                    <a:pt x="45" y="201"/>
                    <a:pt x="100" y="201"/>
                  </a:cubicBezTo>
                  <a:cubicBezTo>
                    <a:pt x="996" y="201"/>
                    <a:pt x="996" y="201"/>
                    <a:pt x="996" y="201"/>
                  </a:cubicBezTo>
                  <a:cubicBezTo>
                    <a:pt x="1052" y="201"/>
                    <a:pt x="1097" y="156"/>
                    <a:pt x="1097" y="100"/>
                  </a:cubicBezTo>
                  <a:cubicBezTo>
                    <a:pt x="1097" y="74"/>
                    <a:pt x="1086" y="48"/>
                    <a:pt x="1067" y="29"/>
                  </a:cubicBezTo>
                  <a:cubicBezTo>
                    <a:pt x="1048" y="11"/>
                    <a:pt x="1023" y="0"/>
                    <a:pt x="996" y="0"/>
                  </a:cubicBezTo>
                  <a:close/>
                  <a:moveTo>
                    <a:pt x="1057" y="100"/>
                  </a:moveTo>
                  <a:cubicBezTo>
                    <a:pt x="1057" y="134"/>
                    <a:pt x="1030" y="161"/>
                    <a:pt x="996" y="161"/>
                  </a:cubicBezTo>
                  <a:cubicBezTo>
                    <a:pt x="100" y="161"/>
                    <a:pt x="100" y="161"/>
                    <a:pt x="100" y="161"/>
                  </a:cubicBezTo>
                  <a:cubicBezTo>
                    <a:pt x="67" y="161"/>
                    <a:pt x="40" y="134"/>
                    <a:pt x="40" y="100"/>
                  </a:cubicBezTo>
                  <a:cubicBezTo>
                    <a:pt x="40" y="84"/>
                    <a:pt x="46" y="69"/>
                    <a:pt x="58" y="58"/>
                  </a:cubicBezTo>
                  <a:cubicBezTo>
                    <a:pt x="69" y="46"/>
                    <a:pt x="84" y="40"/>
                    <a:pt x="100" y="40"/>
                  </a:cubicBezTo>
                  <a:cubicBezTo>
                    <a:pt x="996" y="40"/>
                    <a:pt x="996" y="40"/>
                    <a:pt x="996" y="40"/>
                  </a:cubicBezTo>
                  <a:cubicBezTo>
                    <a:pt x="1012" y="40"/>
                    <a:pt x="1028" y="46"/>
                    <a:pt x="1039" y="58"/>
                  </a:cubicBezTo>
                  <a:cubicBezTo>
                    <a:pt x="1050" y="69"/>
                    <a:pt x="1057" y="84"/>
                    <a:pt x="1057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778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5" name="Group 78"/>
          <p:cNvGrpSpPr/>
          <p:nvPr/>
        </p:nvGrpSpPr>
        <p:grpSpPr>
          <a:xfrm>
            <a:off x="4581525" y="2230438"/>
            <a:ext cx="2592388" cy="1079500"/>
            <a:chOff x="2517" y="1575"/>
            <a:chExt cx="1633" cy="680"/>
          </a:xfrm>
        </p:grpSpPr>
        <p:grpSp>
          <p:nvGrpSpPr>
            <p:cNvPr id="45087" name="组合 45"/>
            <p:cNvGrpSpPr/>
            <p:nvPr/>
          </p:nvGrpSpPr>
          <p:grpSpPr>
            <a:xfrm>
              <a:off x="2647" y="1710"/>
              <a:ext cx="1503" cy="410"/>
              <a:chOff x="3589704" y="2951835"/>
              <a:chExt cx="5398100" cy="651600"/>
            </a:xfrm>
          </p:grpSpPr>
          <p:sp>
            <p:nvSpPr>
              <p:cNvPr id="47" name="Freeform 7"/>
              <p:cNvSpPr/>
              <p:nvPr/>
            </p:nvSpPr>
            <p:spPr bwMode="auto">
              <a:xfrm>
                <a:off x="3593297" y="2953424"/>
                <a:ext cx="5394507" cy="648421"/>
              </a:xfrm>
              <a:custGeom>
                <a:avLst/>
                <a:gdLst>
                  <a:gd name="T0" fmla="*/ 956 w 1017"/>
                  <a:gd name="T1" fmla="*/ 121 h 121"/>
                  <a:gd name="T2" fmla="*/ 60 w 1017"/>
                  <a:gd name="T3" fmla="*/ 121 h 121"/>
                  <a:gd name="T4" fmla="*/ 0 w 1017"/>
                  <a:gd name="T5" fmla="*/ 60 h 121"/>
                  <a:gd name="T6" fmla="*/ 18 w 1017"/>
                  <a:gd name="T7" fmla="*/ 18 h 121"/>
                  <a:gd name="T8" fmla="*/ 60 w 1017"/>
                  <a:gd name="T9" fmla="*/ 0 h 121"/>
                  <a:gd name="T10" fmla="*/ 956 w 1017"/>
                  <a:gd name="T11" fmla="*/ 0 h 121"/>
                  <a:gd name="T12" fmla="*/ 999 w 1017"/>
                  <a:gd name="T13" fmla="*/ 18 h 121"/>
                  <a:gd name="T14" fmla="*/ 1017 w 1017"/>
                  <a:gd name="T15" fmla="*/ 60 h 121"/>
                  <a:gd name="T16" fmla="*/ 956 w 1017"/>
                  <a:gd name="T17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7" h="121">
                    <a:moveTo>
                      <a:pt x="956" y="121"/>
                    </a:moveTo>
                    <a:cubicBezTo>
                      <a:pt x="60" y="121"/>
                      <a:pt x="60" y="121"/>
                      <a:pt x="60" y="121"/>
                    </a:cubicBezTo>
                    <a:cubicBezTo>
                      <a:pt x="27" y="121"/>
                      <a:pt x="0" y="94"/>
                      <a:pt x="0" y="60"/>
                    </a:cubicBezTo>
                    <a:cubicBezTo>
                      <a:pt x="0" y="44"/>
                      <a:pt x="6" y="29"/>
                      <a:pt x="18" y="18"/>
                    </a:cubicBezTo>
                    <a:cubicBezTo>
                      <a:pt x="29" y="6"/>
                      <a:pt x="44" y="0"/>
                      <a:pt x="60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2" y="0"/>
                      <a:pt x="988" y="6"/>
                      <a:pt x="999" y="18"/>
                    </a:cubicBezTo>
                    <a:cubicBezTo>
                      <a:pt x="1010" y="29"/>
                      <a:pt x="1017" y="44"/>
                      <a:pt x="1017" y="60"/>
                    </a:cubicBezTo>
                    <a:cubicBezTo>
                      <a:pt x="1017" y="94"/>
                      <a:pt x="990" y="121"/>
                      <a:pt x="956" y="121"/>
                    </a:cubicBezTo>
                    <a:close/>
                  </a:path>
                </a:pathLst>
              </a:custGeom>
              <a:solidFill>
                <a:srgbClr val="FB9E00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8" name="Freeform 8"/>
              <p:cNvSpPr/>
              <p:nvPr/>
            </p:nvSpPr>
            <p:spPr bwMode="auto">
              <a:xfrm>
                <a:off x="7752311" y="2953424"/>
                <a:ext cx="1235493" cy="648421"/>
              </a:xfrm>
              <a:custGeom>
                <a:avLst/>
                <a:gdLst>
                  <a:gd name="T0" fmla="*/ 233 w 233"/>
                  <a:gd name="T1" fmla="*/ 60 h 121"/>
                  <a:gd name="T2" fmla="*/ 215 w 233"/>
                  <a:gd name="T3" fmla="*/ 18 h 121"/>
                  <a:gd name="T4" fmla="*/ 172 w 233"/>
                  <a:gd name="T5" fmla="*/ 0 h 121"/>
                  <a:gd name="T6" fmla="*/ 0 w 233"/>
                  <a:gd name="T7" fmla="*/ 0 h 121"/>
                  <a:gd name="T8" fmla="*/ 0 w 233"/>
                  <a:gd name="T9" fmla="*/ 121 h 121"/>
                  <a:gd name="T10" fmla="*/ 172 w 233"/>
                  <a:gd name="T11" fmla="*/ 121 h 121"/>
                  <a:gd name="T12" fmla="*/ 233 w 233"/>
                  <a:gd name="T13" fmla="*/ 6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121">
                    <a:moveTo>
                      <a:pt x="233" y="60"/>
                    </a:moveTo>
                    <a:cubicBezTo>
                      <a:pt x="233" y="44"/>
                      <a:pt x="226" y="29"/>
                      <a:pt x="215" y="18"/>
                    </a:cubicBezTo>
                    <a:cubicBezTo>
                      <a:pt x="204" y="6"/>
                      <a:pt x="188" y="0"/>
                      <a:pt x="17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72" y="121"/>
                      <a:pt x="172" y="121"/>
                      <a:pt x="172" y="121"/>
                    </a:cubicBezTo>
                    <a:cubicBezTo>
                      <a:pt x="206" y="121"/>
                      <a:pt x="233" y="94"/>
                      <a:pt x="233" y="60"/>
                    </a:cubicBezTo>
                    <a:close/>
                  </a:path>
                </a:pathLst>
              </a:custGeom>
              <a:solidFill>
                <a:srgbClr val="FB9E00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9" name="Freeform 12"/>
              <p:cNvSpPr/>
              <p:nvPr/>
            </p:nvSpPr>
            <p:spPr bwMode="auto">
              <a:xfrm>
                <a:off x="3589704" y="2951834"/>
                <a:ext cx="603380" cy="651600"/>
              </a:xfrm>
              <a:custGeom>
                <a:avLst/>
                <a:gdLst>
                  <a:gd name="T0" fmla="*/ 0 w 115"/>
                  <a:gd name="T1" fmla="*/ 60 h 120"/>
                  <a:gd name="T2" fmla="*/ 18 w 115"/>
                  <a:gd name="T3" fmla="*/ 17 h 120"/>
                  <a:gd name="T4" fmla="*/ 61 w 115"/>
                  <a:gd name="T5" fmla="*/ 0 h 120"/>
                  <a:gd name="T6" fmla="*/ 115 w 115"/>
                  <a:gd name="T7" fmla="*/ 0 h 120"/>
                  <a:gd name="T8" fmla="*/ 115 w 115"/>
                  <a:gd name="T9" fmla="*/ 120 h 120"/>
                  <a:gd name="T10" fmla="*/ 61 w 115"/>
                  <a:gd name="T11" fmla="*/ 120 h 120"/>
                  <a:gd name="T12" fmla="*/ 0 w 115"/>
                  <a:gd name="T13" fmla="*/ 6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120">
                    <a:moveTo>
                      <a:pt x="0" y="60"/>
                    </a:moveTo>
                    <a:cubicBezTo>
                      <a:pt x="0" y="44"/>
                      <a:pt x="7" y="29"/>
                      <a:pt x="18" y="17"/>
                    </a:cubicBezTo>
                    <a:cubicBezTo>
                      <a:pt x="29" y="6"/>
                      <a:pt x="44" y="0"/>
                      <a:pt x="61" y="0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61" y="120"/>
                      <a:pt x="61" y="120"/>
                      <a:pt x="61" y="120"/>
                    </a:cubicBezTo>
                    <a:cubicBezTo>
                      <a:pt x="27" y="120"/>
                      <a:pt x="0" y="93"/>
                      <a:pt x="0" y="60"/>
                    </a:cubicBezTo>
                    <a:close/>
                  </a:path>
                </a:pathLst>
              </a:custGeom>
              <a:solidFill>
                <a:srgbClr val="FB9E00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64" name="Freeform 5"/>
            <p:cNvSpPr>
              <a:spLocks noEditPoints="1"/>
            </p:cNvSpPr>
            <p:nvPr/>
          </p:nvSpPr>
          <p:spPr bwMode="auto">
            <a:xfrm>
              <a:off x="2517" y="1575"/>
              <a:ext cx="1620" cy="680"/>
            </a:xfrm>
            <a:custGeom>
              <a:avLst/>
              <a:gdLst>
                <a:gd name="T0" fmla="*/ 996 w 1097"/>
                <a:gd name="T1" fmla="*/ 0 h 201"/>
                <a:gd name="T2" fmla="*/ 100 w 1097"/>
                <a:gd name="T3" fmla="*/ 0 h 201"/>
                <a:gd name="T4" fmla="*/ 29 w 1097"/>
                <a:gd name="T5" fmla="*/ 29 h 201"/>
                <a:gd name="T6" fmla="*/ 0 w 1097"/>
                <a:gd name="T7" fmla="*/ 100 h 201"/>
                <a:gd name="T8" fmla="*/ 100 w 1097"/>
                <a:gd name="T9" fmla="*/ 201 h 201"/>
                <a:gd name="T10" fmla="*/ 996 w 1097"/>
                <a:gd name="T11" fmla="*/ 201 h 201"/>
                <a:gd name="T12" fmla="*/ 1097 w 1097"/>
                <a:gd name="T13" fmla="*/ 100 h 201"/>
                <a:gd name="T14" fmla="*/ 1067 w 1097"/>
                <a:gd name="T15" fmla="*/ 29 h 201"/>
                <a:gd name="T16" fmla="*/ 996 w 1097"/>
                <a:gd name="T17" fmla="*/ 0 h 201"/>
                <a:gd name="T18" fmla="*/ 1057 w 1097"/>
                <a:gd name="T19" fmla="*/ 100 h 201"/>
                <a:gd name="T20" fmla="*/ 996 w 1097"/>
                <a:gd name="T21" fmla="*/ 161 h 201"/>
                <a:gd name="T22" fmla="*/ 100 w 1097"/>
                <a:gd name="T23" fmla="*/ 161 h 201"/>
                <a:gd name="T24" fmla="*/ 40 w 1097"/>
                <a:gd name="T25" fmla="*/ 100 h 201"/>
                <a:gd name="T26" fmla="*/ 58 w 1097"/>
                <a:gd name="T27" fmla="*/ 58 h 201"/>
                <a:gd name="T28" fmla="*/ 100 w 1097"/>
                <a:gd name="T29" fmla="*/ 40 h 201"/>
                <a:gd name="T30" fmla="*/ 996 w 1097"/>
                <a:gd name="T31" fmla="*/ 40 h 201"/>
                <a:gd name="T32" fmla="*/ 1039 w 1097"/>
                <a:gd name="T33" fmla="*/ 58 h 201"/>
                <a:gd name="T34" fmla="*/ 1057 w 1097"/>
                <a:gd name="T35" fmla="*/ 10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97" h="201">
                  <a:moveTo>
                    <a:pt x="99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74" y="0"/>
                    <a:pt x="48" y="11"/>
                    <a:pt x="29" y="29"/>
                  </a:cubicBezTo>
                  <a:cubicBezTo>
                    <a:pt x="11" y="48"/>
                    <a:pt x="0" y="74"/>
                    <a:pt x="0" y="100"/>
                  </a:cubicBezTo>
                  <a:cubicBezTo>
                    <a:pt x="0" y="156"/>
                    <a:pt x="45" y="201"/>
                    <a:pt x="100" y="201"/>
                  </a:cubicBezTo>
                  <a:cubicBezTo>
                    <a:pt x="996" y="201"/>
                    <a:pt x="996" y="201"/>
                    <a:pt x="996" y="201"/>
                  </a:cubicBezTo>
                  <a:cubicBezTo>
                    <a:pt x="1052" y="201"/>
                    <a:pt x="1097" y="156"/>
                    <a:pt x="1097" y="100"/>
                  </a:cubicBezTo>
                  <a:cubicBezTo>
                    <a:pt x="1097" y="74"/>
                    <a:pt x="1086" y="48"/>
                    <a:pt x="1067" y="29"/>
                  </a:cubicBezTo>
                  <a:cubicBezTo>
                    <a:pt x="1048" y="11"/>
                    <a:pt x="1023" y="0"/>
                    <a:pt x="996" y="0"/>
                  </a:cubicBezTo>
                  <a:close/>
                  <a:moveTo>
                    <a:pt x="1057" y="100"/>
                  </a:moveTo>
                  <a:cubicBezTo>
                    <a:pt x="1057" y="134"/>
                    <a:pt x="1030" y="161"/>
                    <a:pt x="996" y="161"/>
                  </a:cubicBezTo>
                  <a:cubicBezTo>
                    <a:pt x="100" y="161"/>
                    <a:pt x="100" y="161"/>
                    <a:pt x="100" y="161"/>
                  </a:cubicBezTo>
                  <a:cubicBezTo>
                    <a:pt x="67" y="161"/>
                    <a:pt x="40" y="134"/>
                    <a:pt x="40" y="100"/>
                  </a:cubicBezTo>
                  <a:cubicBezTo>
                    <a:pt x="40" y="84"/>
                    <a:pt x="46" y="69"/>
                    <a:pt x="58" y="58"/>
                  </a:cubicBezTo>
                  <a:cubicBezTo>
                    <a:pt x="69" y="46"/>
                    <a:pt x="84" y="40"/>
                    <a:pt x="100" y="40"/>
                  </a:cubicBezTo>
                  <a:cubicBezTo>
                    <a:pt x="996" y="40"/>
                    <a:pt x="996" y="40"/>
                    <a:pt x="996" y="40"/>
                  </a:cubicBezTo>
                  <a:cubicBezTo>
                    <a:pt x="1012" y="40"/>
                    <a:pt x="1028" y="46"/>
                    <a:pt x="1039" y="58"/>
                  </a:cubicBezTo>
                  <a:cubicBezTo>
                    <a:pt x="1050" y="69"/>
                    <a:pt x="1057" y="84"/>
                    <a:pt x="1057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778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5" name="Freeform 6"/>
            <p:cNvSpPr>
              <a:spLocks noEditPoints="1"/>
            </p:cNvSpPr>
            <p:nvPr/>
          </p:nvSpPr>
          <p:spPr bwMode="auto">
            <a:xfrm>
              <a:off x="2583" y="1643"/>
              <a:ext cx="1561" cy="545"/>
            </a:xfrm>
            <a:custGeom>
              <a:avLst/>
              <a:gdLst>
                <a:gd name="T0" fmla="*/ 976 w 1057"/>
                <a:gd name="T1" fmla="*/ 0 h 161"/>
                <a:gd name="T2" fmla="*/ 80 w 1057"/>
                <a:gd name="T3" fmla="*/ 0 h 161"/>
                <a:gd name="T4" fmla="*/ 0 w 1057"/>
                <a:gd name="T5" fmla="*/ 80 h 161"/>
                <a:gd name="T6" fmla="*/ 80 w 1057"/>
                <a:gd name="T7" fmla="*/ 161 h 161"/>
                <a:gd name="T8" fmla="*/ 976 w 1057"/>
                <a:gd name="T9" fmla="*/ 161 h 161"/>
                <a:gd name="T10" fmla="*/ 1057 w 1057"/>
                <a:gd name="T11" fmla="*/ 80 h 161"/>
                <a:gd name="T12" fmla="*/ 976 w 1057"/>
                <a:gd name="T13" fmla="*/ 0 h 161"/>
                <a:gd name="T14" fmla="*/ 976 w 1057"/>
                <a:gd name="T15" fmla="*/ 141 h 161"/>
                <a:gd name="T16" fmla="*/ 80 w 1057"/>
                <a:gd name="T17" fmla="*/ 141 h 161"/>
                <a:gd name="T18" fmla="*/ 20 w 1057"/>
                <a:gd name="T19" fmla="*/ 80 h 161"/>
                <a:gd name="T20" fmla="*/ 38 w 1057"/>
                <a:gd name="T21" fmla="*/ 38 h 161"/>
                <a:gd name="T22" fmla="*/ 80 w 1057"/>
                <a:gd name="T23" fmla="*/ 20 h 161"/>
                <a:gd name="T24" fmla="*/ 976 w 1057"/>
                <a:gd name="T25" fmla="*/ 20 h 161"/>
                <a:gd name="T26" fmla="*/ 1019 w 1057"/>
                <a:gd name="T27" fmla="*/ 38 h 161"/>
                <a:gd name="T28" fmla="*/ 1037 w 1057"/>
                <a:gd name="T29" fmla="*/ 80 h 161"/>
                <a:gd name="T30" fmla="*/ 976 w 1057"/>
                <a:gd name="T31" fmla="*/ 14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7" h="161">
                  <a:moveTo>
                    <a:pt x="976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125"/>
                    <a:pt x="36" y="161"/>
                    <a:pt x="80" y="161"/>
                  </a:cubicBezTo>
                  <a:cubicBezTo>
                    <a:pt x="976" y="161"/>
                    <a:pt x="976" y="161"/>
                    <a:pt x="976" y="161"/>
                  </a:cubicBezTo>
                  <a:cubicBezTo>
                    <a:pt x="1021" y="161"/>
                    <a:pt x="1057" y="125"/>
                    <a:pt x="1057" y="80"/>
                  </a:cubicBezTo>
                  <a:cubicBezTo>
                    <a:pt x="1057" y="36"/>
                    <a:pt x="1021" y="0"/>
                    <a:pt x="976" y="0"/>
                  </a:cubicBezTo>
                  <a:close/>
                  <a:moveTo>
                    <a:pt x="976" y="141"/>
                  </a:moveTo>
                  <a:cubicBezTo>
                    <a:pt x="80" y="141"/>
                    <a:pt x="80" y="141"/>
                    <a:pt x="80" y="141"/>
                  </a:cubicBezTo>
                  <a:cubicBezTo>
                    <a:pt x="47" y="141"/>
                    <a:pt x="20" y="114"/>
                    <a:pt x="20" y="80"/>
                  </a:cubicBezTo>
                  <a:cubicBezTo>
                    <a:pt x="20" y="64"/>
                    <a:pt x="26" y="49"/>
                    <a:pt x="38" y="38"/>
                  </a:cubicBezTo>
                  <a:cubicBezTo>
                    <a:pt x="49" y="26"/>
                    <a:pt x="64" y="20"/>
                    <a:pt x="80" y="20"/>
                  </a:cubicBezTo>
                  <a:cubicBezTo>
                    <a:pt x="976" y="20"/>
                    <a:pt x="976" y="20"/>
                    <a:pt x="976" y="20"/>
                  </a:cubicBezTo>
                  <a:cubicBezTo>
                    <a:pt x="992" y="20"/>
                    <a:pt x="1008" y="26"/>
                    <a:pt x="1019" y="38"/>
                  </a:cubicBezTo>
                  <a:cubicBezTo>
                    <a:pt x="1030" y="49"/>
                    <a:pt x="1037" y="64"/>
                    <a:pt x="1037" y="80"/>
                  </a:cubicBezTo>
                  <a:cubicBezTo>
                    <a:pt x="1037" y="114"/>
                    <a:pt x="1010" y="141"/>
                    <a:pt x="976" y="141"/>
                  </a:cubicBezTo>
                  <a:close/>
                </a:path>
              </a:pathLst>
            </a:custGeom>
            <a:solidFill>
              <a:srgbClr val="E5E9EA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093" name="文本框 37"/>
            <p:cNvSpPr txBox="1"/>
            <p:nvPr/>
          </p:nvSpPr>
          <p:spPr>
            <a:xfrm>
              <a:off x="2911" y="1748"/>
              <a:ext cx="8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多样性</a:t>
              </a:r>
              <a:endParaRPr lang="zh-CN" altLang="en-US" sz="3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Group 86"/>
          <p:cNvGrpSpPr/>
          <p:nvPr/>
        </p:nvGrpSpPr>
        <p:grpSpPr>
          <a:xfrm>
            <a:off x="4616450" y="1133475"/>
            <a:ext cx="2586038" cy="1079500"/>
            <a:chOff x="2441" y="818"/>
            <a:chExt cx="1629" cy="680"/>
          </a:xfrm>
        </p:grpSpPr>
        <p:grpSp>
          <p:nvGrpSpPr>
            <p:cNvPr id="45095" name="组合 49"/>
            <p:cNvGrpSpPr/>
            <p:nvPr/>
          </p:nvGrpSpPr>
          <p:grpSpPr>
            <a:xfrm>
              <a:off x="2581" y="952"/>
              <a:ext cx="1489" cy="411"/>
              <a:chOff x="3589704" y="1749369"/>
              <a:chExt cx="5398099" cy="651600"/>
            </a:xfrm>
          </p:grpSpPr>
          <p:sp>
            <p:nvSpPr>
              <p:cNvPr id="51" name="Freeform 7"/>
              <p:cNvSpPr/>
              <p:nvPr/>
            </p:nvSpPr>
            <p:spPr bwMode="auto">
              <a:xfrm>
                <a:off x="3593330" y="1750955"/>
                <a:ext cx="5394473" cy="648428"/>
              </a:xfrm>
              <a:custGeom>
                <a:avLst/>
                <a:gdLst>
                  <a:gd name="T0" fmla="*/ 956 w 1017"/>
                  <a:gd name="T1" fmla="*/ 121 h 121"/>
                  <a:gd name="T2" fmla="*/ 60 w 1017"/>
                  <a:gd name="T3" fmla="*/ 121 h 121"/>
                  <a:gd name="T4" fmla="*/ 0 w 1017"/>
                  <a:gd name="T5" fmla="*/ 60 h 121"/>
                  <a:gd name="T6" fmla="*/ 18 w 1017"/>
                  <a:gd name="T7" fmla="*/ 18 h 121"/>
                  <a:gd name="T8" fmla="*/ 60 w 1017"/>
                  <a:gd name="T9" fmla="*/ 0 h 121"/>
                  <a:gd name="T10" fmla="*/ 956 w 1017"/>
                  <a:gd name="T11" fmla="*/ 0 h 121"/>
                  <a:gd name="T12" fmla="*/ 999 w 1017"/>
                  <a:gd name="T13" fmla="*/ 18 h 121"/>
                  <a:gd name="T14" fmla="*/ 1017 w 1017"/>
                  <a:gd name="T15" fmla="*/ 60 h 121"/>
                  <a:gd name="T16" fmla="*/ 956 w 1017"/>
                  <a:gd name="T17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7" h="121">
                    <a:moveTo>
                      <a:pt x="956" y="121"/>
                    </a:moveTo>
                    <a:cubicBezTo>
                      <a:pt x="60" y="121"/>
                      <a:pt x="60" y="121"/>
                      <a:pt x="60" y="121"/>
                    </a:cubicBezTo>
                    <a:cubicBezTo>
                      <a:pt x="27" y="121"/>
                      <a:pt x="0" y="94"/>
                      <a:pt x="0" y="60"/>
                    </a:cubicBezTo>
                    <a:cubicBezTo>
                      <a:pt x="0" y="44"/>
                      <a:pt x="6" y="29"/>
                      <a:pt x="18" y="18"/>
                    </a:cubicBezTo>
                    <a:cubicBezTo>
                      <a:pt x="29" y="6"/>
                      <a:pt x="44" y="0"/>
                      <a:pt x="60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2" y="0"/>
                      <a:pt x="988" y="6"/>
                      <a:pt x="999" y="18"/>
                    </a:cubicBezTo>
                    <a:cubicBezTo>
                      <a:pt x="1010" y="29"/>
                      <a:pt x="1017" y="44"/>
                      <a:pt x="1017" y="60"/>
                    </a:cubicBezTo>
                    <a:cubicBezTo>
                      <a:pt x="1017" y="94"/>
                      <a:pt x="990" y="121"/>
                      <a:pt x="956" y="121"/>
                    </a:cubicBezTo>
                    <a:close/>
                  </a:path>
                </a:pathLst>
              </a:custGeom>
              <a:solidFill>
                <a:srgbClr val="EE0076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2" name="Freeform 8"/>
              <p:cNvSpPr/>
              <p:nvPr/>
            </p:nvSpPr>
            <p:spPr bwMode="auto">
              <a:xfrm>
                <a:off x="7751569" y="1750955"/>
                <a:ext cx="1236234" cy="648428"/>
              </a:xfrm>
              <a:custGeom>
                <a:avLst/>
                <a:gdLst>
                  <a:gd name="T0" fmla="*/ 233 w 233"/>
                  <a:gd name="T1" fmla="*/ 60 h 121"/>
                  <a:gd name="T2" fmla="*/ 215 w 233"/>
                  <a:gd name="T3" fmla="*/ 18 h 121"/>
                  <a:gd name="T4" fmla="*/ 172 w 233"/>
                  <a:gd name="T5" fmla="*/ 0 h 121"/>
                  <a:gd name="T6" fmla="*/ 0 w 233"/>
                  <a:gd name="T7" fmla="*/ 0 h 121"/>
                  <a:gd name="T8" fmla="*/ 0 w 233"/>
                  <a:gd name="T9" fmla="*/ 121 h 121"/>
                  <a:gd name="T10" fmla="*/ 172 w 233"/>
                  <a:gd name="T11" fmla="*/ 121 h 121"/>
                  <a:gd name="T12" fmla="*/ 233 w 233"/>
                  <a:gd name="T13" fmla="*/ 6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" h="121">
                    <a:moveTo>
                      <a:pt x="233" y="60"/>
                    </a:moveTo>
                    <a:cubicBezTo>
                      <a:pt x="233" y="44"/>
                      <a:pt x="226" y="29"/>
                      <a:pt x="215" y="18"/>
                    </a:cubicBezTo>
                    <a:cubicBezTo>
                      <a:pt x="204" y="6"/>
                      <a:pt x="188" y="0"/>
                      <a:pt x="17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172" y="121"/>
                      <a:pt x="172" y="121"/>
                      <a:pt x="172" y="121"/>
                    </a:cubicBezTo>
                    <a:cubicBezTo>
                      <a:pt x="206" y="121"/>
                      <a:pt x="233" y="94"/>
                      <a:pt x="233" y="60"/>
                    </a:cubicBezTo>
                    <a:close/>
                  </a:path>
                </a:pathLst>
              </a:custGeom>
              <a:solidFill>
                <a:srgbClr val="EE0076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53" name="Freeform 12"/>
              <p:cNvSpPr/>
              <p:nvPr/>
            </p:nvSpPr>
            <p:spPr bwMode="auto">
              <a:xfrm>
                <a:off x="3589704" y="1749369"/>
                <a:ext cx="605429" cy="651600"/>
              </a:xfrm>
              <a:custGeom>
                <a:avLst/>
                <a:gdLst>
                  <a:gd name="T0" fmla="*/ 0 w 115"/>
                  <a:gd name="T1" fmla="*/ 60 h 120"/>
                  <a:gd name="T2" fmla="*/ 18 w 115"/>
                  <a:gd name="T3" fmla="*/ 17 h 120"/>
                  <a:gd name="T4" fmla="*/ 61 w 115"/>
                  <a:gd name="T5" fmla="*/ 0 h 120"/>
                  <a:gd name="T6" fmla="*/ 115 w 115"/>
                  <a:gd name="T7" fmla="*/ 0 h 120"/>
                  <a:gd name="T8" fmla="*/ 115 w 115"/>
                  <a:gd name="T9" fmla="*/ 120 h 120"/>
                  <a:gd name="T10" fmla="*/ 61 w 115"/>
                  <a:gd name="T11" fmla="*/ 120 h 120"/>
                  <a:gd name="T12" fmla="*/ 0 w 115"/>
                  <a:gd name="T13" fmla="*/ 6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120">
                    <a:moveTo>
                      <a:pt x="0" y="60"/>
                    </a:moveTo>
                    <a:cubicBezTo>
                      <a:pt x="0" y="44"/>
                      <a:pt x="7" y="29"/>
                      <a:pt x="18" y="17"/>
                    </a:cubicBezTo>
                    <a:cubicBezTo>
                      <a:pt x="29" y="6"/>
                      <a:pt x="44" y="0"/>
                      <a:pt x="61" y="0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15" y="120"/>
                      <a:pt x="115" y="120"/>
                      <a:pt x="115" y="120"/>
                    </a:cubicBezTo>
                    <a:cubicBezTo>
                      <a:pt x="61" y="120"/>
                      <a:pt x="61" y="120"/>
                      <a:pt x="61" y="120"/>
                    </a:cubicBezTo>
                    <a:cubicBezTo>
                      <a:pt x="27" y="120"/>
                      <a:pt x="0" y="93"/>
                      <a:pt x="0" y="60"/>
                    </a:cubicBezTo>
                    <a:close/>
                  </a:path>
                </a:pathLst>
              </a:custGeom>
              <a:solidFill>
                <a:srgbClr val="EE0076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69" name="Freeform 5"/>
            <p:cNvSpPr>
              <a:spLocks noEditPoints="1"/>
            </p:cNvSpPr>
            <p:nvPr/>
          </p:nvSpPr>
          <p:spPr bwMode="auto">
            <a:xfrm>
              <a:off x="2441" y="818"/>
              <a:ext cx="1606" cy="680"/>
            </a:xfrm>
            <a:custGeom>
              <a:avLst/>
              <a:gdLst>
                <a:gd name="T0" fmla="*/ 996 w 1097"/>
                <a:gd name="T1" fmla="*/ 0 h 201"/>
                <a:gd name="T2" fmla="*/ 100 w 1097"/>
                <a:gd name="T3" fmla="*/ 0 h 201"/>
                <a:gd name="T4" fmla="*/ 29 w 1097"/>
                <a:gd name="T5" fmla="*/ 29 h 201"/>
                <a:gd name="T6" fmla="*/ 0 w 1097"/>
                <a:gd name="T7" fmla="*/ 100 h 201"/>
                <a:gd name="T8" fmla="*/ 100 w 1097"/>
                <a:gd name="T9" fmla="*/ 201 h 201"/>
                <a:gd name="T10" fmla="*/ 996 w 1097"/>
                <a:gd name="T11" fmla="*/ 201 h 201"/>
                <a:gd name="T12" fmla="*/ 1097 w 1097"/>
                <a:gd name="T13" fmla="*/ 100 h 201"/>
                <a:gd name="T14" fmla="*/ 1067 w 1097"/>
                <a:gd name="T15" fmla="*/ 29 h 201"/>
                <a:gd name="T16" fmla="*/ 996 w 1097"/>
                <a:gd name="T17" fmla="*/ 0 h 201"/>
                <a:gd name="T18" fmla="*/ 1057 w 1097"/>
                <a:gd name="T19" fmla="*/ 100 h 201"/>
                <a:gd name="T20" fmla="*/ 996 w 1097"/>
                <a:gd name="T21" fmla="*/ 161 h 201"/>
                <a:gd name="T22" fmla="*/ 100 w 1097"/>
                <a:gd name="T23" fmla="*/ 161 h 201"/>
                <a:gd name="T24" fmla="*/ 40 w 1097"/>
                <a:gd name="T25" fmla="*/ 100 h 201"/>
                <a:gd name="T26" fmla="*/ 58 w 1097"/>
                <a:gd name="T27" fmla="*/ 58 h 201"/>
                <a:gd name="T28" fmla="*/ 100 w 1097"/>
                <a:gd name="T29" fmla="*/ 40 h 201"/>
                <a:gd name="T30" fmla="*/ 996 w 1097"/>
                <a:gd name="T31" fmla="*/ 40 h 201"/>
                <a:gd name="T32" fmla="*/ 1039 w 1097"/>
                <a:gd name="T33" fmla="*/ 58 h 201"/>
                <a:gd name="T34" fmla="*/ 1057 w 1097"/>
                <a:gd name="T35" fmla="*/ 10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97" h="201">
                  <a:moveTo>
                    <a:pt x="99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74" y="0"/>
                    <a:pt x="48" y="11"/>
                    <a:pt x="29" y="29"/>
                  </a:cubicBezTo>
                  <a:cubicBezTo>
                    <a:pt x="11" y="48"/>
                    <a:pt x="0" y="74"/>
                    <a:pt x="0" y="100"/>
                  </a:cubicBezTo>
                  <a:cubicBezTo>
                    <a:pt x="0" y="156"/>
                    <a:pt x="45" y="201"/>
                    <a:pt x="100" y="201"/>
                  </a:cubicBezTo>
                  <a:cubicBezTo>
                    <a:pt x="996" y="201"/>
                    <a:pt x="996" y="201"/>
                    <a:pt x="996" y="201"/>
                  </a:cubicBezTo>
                  <a:cubicBezTo>
                    <a:pt x="1052" y="201"/>
                    <a:pt x="1097" y="156"/>
                    <a:pt x="1097" y="100"/>
                  </a:cubicBezTo>
                  <a:cubicBezTo>
                    <a:pt x="1097" y="74"/>
                    <a:pt x="1086" y="48"/>
                    <a:pt x="1067" y="29"/>
                  </a:cubicBezTo>
                  <a:cubicBezTo>
                    <a:pt x="1048" y="11"/>
                    <a:pt x="1023" y="0"/>
                    <a:pt x="996" y="0"/>
                  </a:cubicBezTo>
                  <a:close/>
                  <a:moveTo>
                    <a:pt x="1057" y="100"/>
                  </a:moveTo>
                  <a:cubicBezTo>
                    <a:pt x="1057" y="134"/>
                    <a:pt x="1030" y="161"/>
                    <a:pt x="996" y="161"/>
                  </a:cubicBezTo>
                  <a:cubicBezTo>
                    <a:pt x="100" y="161"/>
                    <a:pt x="100" y="161"/>
                    <a:pt x="100" y="161"/>
                  </a:cubicBezTo>
                  <a:cubicBezTo>
                    <a:pt x="67" y="161"/>
                    <a:pt x="40" y="134"/>
                    <a:pt x="40" y="100"/>
                  </a:cubicBezTo>
                  <a:cubicBezTo>
                    <a:pt x="40" y="84"/>
                    <a:pt x="46" y="69"/>
                    <a:pt x="58" y="58"/>
                  </a:cubicBezTo>
                  <a:cubicBezTo>
                    <a:pt x="69" y="46"/>
                    <a:pt x="84" y="40"/>
                    <a:pt x="100" y="40"/>
                  </a:cubicBezTo>
                  <a:cubicBezTo>
                    <a:pt x="996" y="40"/>
                    <a:pt x="996" y="40"/>
                    <a:pt x="996" y="40"/>
                  </a:cubicBezTo>
                  <a:cubicBezTo>
                    <a:pt x="1012" y="40"/>
                    <a:pt x="1028" y="46"/>
                    <a:pt x="1039" y="58"/>
                  </a:cubicBezTo>
                  <a:cubicBezTo>
                    <a:pt x="1050" y="69"/>
                    <a:pt x="1057" y="84"/>
                    <a:pt x="1057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77800" dist="1143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0" name="Freeform 6"/>
            <p:cNvSpPr>
              <a:spLocks noEditPoints="1"/>
            </p:cNvSpPr>
            <p:nvPr/>
          </p:nvSpPr>
          <p:spPr bwMode="auto">
            <a:xfrm>
              <a:off x="2512" y="885"/>
              <a:ext cx="1547" cy="545"/>
            </a:xfrm>
            <a:custGeom>
              <a:avLst/>
              <a:gdLst>
                <a:gd name="T0" fmla="*/ 976 w 1057"/>
                <a:gd name="T1" fmla="*/ 0 h 161"/>
                <a:gd name="T2" fmla="*/ 80 w 1057"/>
                <a:gd name="T3" fmla="*/ 0 h 161"/>
                <a:gd name="T4" fmla="*/ 0 w 1057"/>
                <a:gd name="T5" fmla="*/ 80 h 161"/>
                <a:gd name="T6" fmla="*/ 80 w 1057"/>
                <a:gd name="T7" fmla="*/ 161 h 161"/>
                <a:gd name="T8" fmla="*/ 976 w 1057"/>
                <a:gd name="T9" fmla="*/ 161 h 161"/>
                <a:gd name="T10" fmla="*/ 1057 w 1057"/>
                <a:gd name="T11" fmla="*/ 80 h 161"/>
                <a:gd name="T12" fmla="*/ 976 w 1057"/>
                <a:gd name="T13" fmla="*/ 0 h 161"/>
                <a:gd name="T14" fmla="*/ 976 w 1057"/>
                <a:gd name="T15" fmla="*/ 141 h 161"/>
                <a:gd name="T16" fmla="*/ 80 w 1057"/>
                <a:gd name="T17" fmla="*/ 141 h 161"/>
                <a:gd name="T18" fmla="*/ 20 w 1057"/>
                <a:gd name="T19" fmla="*/ 80 h 161"/>
                <a:gd name="T20" fmla="*/ 38 w 1057"/>
                <a:gd name="T21" fmla="*/ 38 h 161"/>
                <a:gd name="T22" fmla="*/ 80 w 1057"/>
                <a:gd name="T23" fmla="*/ 20 h 161"/>
                <a:gd name="T24" fmla="*/ 976 w 1057"/>
                <a:gd name="T25" fmla="*/ 20 h 161"/>
                <a:gd name="T26" fmla="*/ 1019 w 1057"/>
                <a:gd name="T27" fmla="*/ 38 h 161"/>
                <a:gd name="T28" fmla="*/ 1037 w 1057"/>
                <a:gd name="T29" fmla="*/ 80 h 161"/>
                <a:gd name="T30" fmla="*/ 976 w 1057"/>
                <a:gd name="T31" fmla="*/ 14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7" h="161">
                  <a:moveTo>
                    <a:pt x="976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125"/>
                    <a:pt x="36" y="161"/>
                    <a:pt x="80" y="161"/>
                  </a:cubicBezTo>
                  <a:cubicBezTo>
                    <a:pt x="976" y="161"/>
                    <a:pt x="976" y="161"/>
                    <a:pt x="976" y="161"/>
                  </a:cubicBezTo>
                  <a:cubicBezTo>
                    <a:pt x="1021" y="161"/>
                    <a:pt x="1057" y="125"/>
                    <a:pt x="1057" y="80"/>
                  </a:cubicBezTo>
                  <a:cubicBezTo>
                    <a:pt x="1057" y="36"/>
                    <a:pt x="1021" y="0"/>
                    <a:pt x="976" y="0"/>
                  </a:cubicBezTo>
                  <a:close/>
                  <a:moveTo>
                    <a:pt x="976" y="141"/>
                  </a:moveTo>
                  <a:cubicBezTo>
                    <a:pt x="80" y="141"/>
                    <a:pt x="80" y="141"/>
                    <a:pt x="80" y="141"/>
                  </a:cubicBezTo>
                  <a:cubicBezTo>
                    <a:pt x="47" y="141"/>
                    <a:pt x="20" y="114"/>
                    <a:pt x="20" y="80"/>
                  </a:cubicBezTo>
                  <a:cubicBezTo>
                    <a:pt x="20" y="64"/>
                    <a:pt x="26" y="49"/>
                    <a:pt x="38" y="38"/>
                  </a:cubicBezTo>
                  <a:cubicBezTo>
                    <a:pt x="49" y="26"/>
                    <a:pt x="64" y="20"/>
                    <a:pt x="80" y="20"/>
                  </a:cubicBezTo>
                  <a:cubicBezTo>
                    <a:pt x="976" y="20"/>
                    <a:pt x="976" y="20"/>
                    <a:pt x="976" y="20"/>
                  </a:cubicBezTo>
                  <a:cubicBezTo>
                    <a:pt x="992" y="20"/>
                    <a:pt x="1008" y="26"/>
                    <a:pt x="1019" y="38"/>
                  </a:cubicBezTo>
                  <a:cubicBezTo>
                    <a:pt x="1030" y="49"/>
                    <a:pt x="1037" y="64"/>
                    <a:pt x="1037" y="80"/>
                  </a:cubicBezTo>
                  <a:cubicBezTo>
                    <a:pt x="1037" y="114"/>
                    <a:pt x="1010" y="141"/>
                    <a:pt x="976" y="141"/>
                  </a:cubicBezTo>
                  <a:close/>
                </a:path>
              </a:pathLst>
            </a:custGeom>
            <a:solidFill>
              <a:srgbClr val="E5E9EA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101" name="文本框 28"/>
            <p:cNvSpPr txBox="1"/>
            <p:nvPr/>
          </p:nvSpPr>
          <p:spPr>
            <a:xfrm>
              <a:off x="2835" y="981"/>
              <a:ext cx="8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相对性</a:t>
              </a:r>
              <a:endParaRPr lang="zh-CN" altLang="en-US" sz="3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Group 94"/>
          <p:cNvGrpSpPr/>
          <p:nvPr/>
        </p:nvGrpSpPr>
        <p:grpSpPr>
          <a:xfrm>
            <a:off x="615950" y="2562225"/>
            <a:ext cx="2411413" cy="2403475"/>
            <a:chOff x="91" y="1372"/>
            <a:chExt cx="1519" cy="1514"/>
          </a:xfrm>
        </p:grpSpPr>
        <p:sp>
          <p:nvSpPr>
            <p:cNvPr id="30" name="椭圆 29"/>
            <p:cNvSpPr/>
            <p:nvPr/>
          </p:nvSpPr>
          <p:spPr>
            <a:xfrm>
              <a:off x="109" y="1391"/>
              <a:ext cx="1390" cy="1385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50000"/>
                  </a:sysClr>
                </a:gs>
              </a:gsLst>
              <a:lin ang="13500000" scaled="1"/>
              <a:tileRect/>
            </a:gradFill>
            <a:ln w="19050" cap="flat" cmpd="sng" algn="ctr">
              <a:gradFill flip="none" rotWithShape="1">
                <a:gsLst>
                  <a:gs pos="0">
                    <a:srgbClr val="BE309C">
                      <a:lumMod val="5000"/>
                      <a:lumOff val="95000"/>
                    </a:srgbClr>
                  </a:gs>
                  <a:gs pos="100000">
                    <a:srgbClr val="A5A5A5">
                      <a:lumMod val="75000"/>
                    </a:srgb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88900" dist="1016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Y강B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208" y="1488"/>
              <a:ext cx="1192" cy="1190"/>
            </a:xfrm>
            <a:prstGeom prst="ellipse">
              <a:avLst/>
            </a:prstGeom>
            <a:gradFill flip="none" rotWithShape="1">
              <a:gsLst>
                <a:gs pos="0">
                  <a:srgbClr val="BE309C">
                    <a:lumMod val="5000"/>
                    <a:lumOff val="95000"/>
                  </a:srgbClr>
                </a:gs>
                <a:gs pos="100000">
                  <a:sysClr val="window" lastClr="FFFFFF">
                    <a:lumMod val="65000"/>
                  </a:sysClr>
                </a:gs>
              </a:gsLst>
              <a:lin ang="2700000" scaled="1"/>
              <a:tileRect/>
            </a:gradFill>
            <a:ln w="25400" cap="flat" cmpd="sng" algn="ctr">
              <a:gradFill flip="none" rotWithShape="1">
                <a:gsLst>
                  <a:gs pos="0">
                    <a:srgbClr val="BE309C">
                      <a:lumMod val="5000"/>
                      <a:lumOff val="95000"/>
                    </a:srgb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Y강B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328" y="1609"/>
              <a:ext cx="952" cy="950"/>
            </a:xfrm>
            <a:prstGeom prst="ellipse">
              <a:avLst/>
            </a:prstGeom>
            <a:solidFill>
              <a:srgbClr val="FB9E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77800" dist="177800" dir="13500000">
                <a:prstClr val="black">
                  <a:alpha val="50000"/>
                </a:prstClr>
              </a:innerShdw>
            </a:effec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Y강B"/>
              </a:endParaRPr>
            </a:p>
          </p:txBody>
        </p:sp>
        <p:sp>
          <p:nvSpPr>
            <p:cNvPr id="45106" name="Text Box 104"/>
            <p:cNvSpPr txBox="1"/>
            <p:nvPr/>
          </p:nvSpPr>
          <p:spPr>
            <a:xfrm>
              <a:off x="462" y="1865"/>
              <a:ext cx="69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600" b="1" dirty="0">
                  <a:latin typeface="Arial" panose="020B0604020202020204" pitchFamily="34" charset="0"/>
                  <a:ea typeface="宋体" panose="02010600030101010101" pitchFamily="2" charset="-122"/>
                </a:rPr>
                <a:t>流程</a:t>
              </a:r>
              <a:endPara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105"/>
          <p:cNvGrpSpPr/>
          <p:nvPr/>
        </p:nvGrpSpPr>
        <p:grpSpPr>
          <a:xfrm>
            <a:off x="4741863" y="5884863"/>
            <a:ext cx="1920875" cy="782637"/>
            <a:chOff x="912" y="3415"/>
            <a:chExt cx="1210" cy="493"/>
          </a:xfrm>
        </p:grpSpPr>
        <p:sp>
          <p:nvSpPr>
            <p:cNvPr id="5" name="任意多边形 794"/>
            <p:cNvSpPr/>
            <p:nvPr/>
          </p:nvSpPr>
          <p:spPr>
            <a:xfrm>
              <a:off x="1122" y="3486"/>
              <a:ext cx="956" cy="377"/>
            </a:xfrm>
            <a:custGeom>
              <a:avLst/>
              <a:gdLst>
                <a:gd name="connsiteX0" fmla="*/ 0 w 2527652"/>
                <a:gd name="connsiteY0" fmla="*/ 0 h 1008000"/>
                <a:gd name="connsiteX1" fmla="*/ 2023652 w 2527652"/>
                <a:gd name="connsiteY1" fmla="*/ 0 h 1008000"/>
                <a:gd name="connsiteX2" fmla="*/ 2527652 w 2527652"/>
                <a:gd name="connsiteY2" fmla="*/ 504000 h 1008000"/>
                <a:gd name="connsiteX3" fmla="*/ 2023652 w 2527652"/>
                <a:gd name="connsiteY3" fmla="*/ 1008000 h 1008000"/>
                <a:gd name="connsiteX4" fmla="*/ 0 w 2527652"/>
                <a:gd name="connsiteY4" fmla="*/ 1008000 h 10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7652" h="1008000">
                  <a:moveTo>
                    <a:pt x="0" y="0"/>
                  </a:moveTo>
                  <a:lnTo>
                    <a:pt x="2023652" y="0"/>
                  </a:lnTo>
                  <a:cubicBezTo>
                    <a:pt x="2302004" y="0"/>
                    <a:pt x="2527652" y="225648"/>
                    <a:pt x="2527652" y="504000"/>
                  </a:cubicBezTo>
                  <a:cubicBezTo>
                    <a:pt x="2527652" y="782352"/>
                    <a:pt x="2302004" y="1008000"/>
                    <a:pt x="2023652" y="1008000"/>
                  </a:cubicBezTo>
                  <a:lnTo>
                    <a:pt x="0" y="100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9ABE2">
                    <a:lumMod val="5000"/>
                    <a:lumOff val="95000"/>
                  </a:srgbClr>
                </a:gs>
                <a:gs pos="100000">
                  <a:sysClr val="window" lastClr="FFFFFF">
                    <a:lumMod val="65000"/>
                  </a:sysClr>
                </a:gs>
              </a:gsLst>
              <a:lin ang="13500000" scaled="1"/>
              <a:tileRect/>
            </a:gradFill>
            <a:ln w="25400" cap="flat" cmpd="sng" algn="ctr">
              <a:gradFill flip="none" rotWithShape="1">
                <a:gsLst>
                  <a:gs pos="0">
                    <a:srgbClr val="BE309C">
                      <a:lumMod val="5000"/>
                      <a:lumOff val="95000"/>
                    </a:srgb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Y강B"/>
              </a:endParaRPr>
            </a:p>
          </p:txBody>
        </p:sp>
        <p:sp>
          <p:nvSpPr>
            <p:cNvPr id="45109" name="文本框 44"/>
            <p:cNvSpPr txBox="1"/>
            <p:nvPr/>
          </p:nvSpPr>
          <p:spPr>
            <a:xfrm>
              <a:off x="1409" y="3475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串行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5110" name="Group 110"/>
            <p:cNvGrpSpPr/>
            <p:nvPr/>
          </p:nvGrpSpPr>
          <p:grpSpPr>
            <a:xfrm>
              <a:off x="912" y="3415"/>
              <a:ext cx="471" cy="469"/>
              <a:chOff x="725" y="3326"/>
              <a:chExt cx="471" cy="469"/>
            </a:xfrm>
          </p:grpSpPr>
          <p:sp>
            <p:nvSpPr>
              <p:cNvPr id="7" name="椭圆 791"/>
              <p:cNvSpPr>
                <a:spLocks noChangeAspect="1"/>
              </p:cNvSpPr>
              <p:nvPr/>
            </p:nvSpPr>
            <p:spPr>
              <a:xfrm>
                <a:off x="725" y="3326"/>
                <a:ext cx="466" cy="467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  <p:sp>
            <p:nvSpPr>
              <p:cNvPr id="8" name="椭圆 792"/>
              <p:cNvSpPr>
                <a:spLocks noChangeAspect="1"/>
              </p:cNvSpPr>
              <p:nvPr/>
            </p:nvSpPr>
            <p:spPr>
              <a:xfrm>
                <a:off x="727" y="3327"/>
                <a:ext cx="467" cy="467"/>
              </a:xfrm>
              <a:prstGeom prst="ellipse">
                <a:avLst/>
              </a:prstGeom>
              <a:solidFill>
                <a:srgbClr val="EE0076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 dist="114300" dir="13500000">
                  <a:prstClr val="black">
                    <a:alpha val="50000"/>
                  </a:prstClr>
                </a:innerShdw>
              </a:effec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  <p:sp>
            <p:nvSpPr>
              <p:cNvPr id="9" name="椭圆 793"/>
              <p:cNvSpPr>
                <a:spLocks noChangeAspect="1"/>
              </p:cNvSpPr>
              <p:nvPr/>
            </p:nvSpPr>
            <p:spPr>
              <a:xfrm>
                <a:off x="750" y="3352"/>
                <a:ext cx="362" cy="363"/>
              </a:xfrm>
              <a:prstGeom prst="ellipse">
                <a:avLst/>
              </a:prstGeom>
              <a:gradFill flip="none" rotWithShape="1">
                <a:gsLst>
                  <a:gs pos="0">
                    <a:srgbClr val="29ABE2">
                      <a:lumMod val="5000"/>
                      <a:lumOff val="95000"/>
                    </a:srgb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rgbClr val="BE309C">
                        <a:lumMod val="5000"/>
                        <a:lumOff val="95000"/>
                      </a:srgbClr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135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  <p:sp>
            <p:nvSpPr>
              <p:cNvPr id="10" name="椭圆 795"/>
              <p:cNvSpPr>
                <a:spLocks noChangeAspect="1"/>
              </p:cNvSpPr>
              <p:nvPr/>
            </p:nvSpPr>
            <p:spPr>
              <a:xfrm>
                <a:off x="767" y="3367"/>
                <a:ext cx="291" cy="291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135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</p:grpSp>
      </p:grpSp>
      <p:grpSp>
        <p:nvGrpSpPr>
          <p:cNvPr id="22" name="Group 121"/>
          <p:cNvGrpSpPr/>
          <p:nvPr/>
        </p:nvGrpSpPr>
        <p:grpSpPr>
          <a:xfrm>
            <a:off x="6705600" y="5899150"/>
            <a:ext cx="1920875" cy="782638"/>
            <a:chOff x="912" y="3415"/>
            <a:chExt cx="1210" cy="493"/>
          </a:xfrm>
        </p:grpSpPr>
        <p:sp>
          <p:nvSpPr>
            <p:cNvPr id="795" name="任意多边形 794"/>
            <p:cNvSpPr/>
            <p:nvPr/>
          </p:nvSpPr>
          <p:spPr>
            <a:xfrm>
              <a:off x="1122" y="3486"/>
              <a:ext cx="956" cy="377"/>
            </a:xfrm>
            <a:custGeom>
              <a:avLst/>
              <a:gdLst>
                <a:gd name="connsiteX0" fmla="*/ 0 w 2527652"/>
                <a:gd name="connsiteY0" fmla="*/ 0 h 1008000"/>
                <a:gd name="connsiteX1" fmla="*/ 2023652 w 2527652"/>
                <a:gd name="connsiteY1" fmla="*/ 0 h 1008000"/>
                <a:gd name="connsiteX2" fmla="*/ 2527652 w 2527652"/>
                <a:gd name="connsiteY2" fmla="*/ 504000 h 1008000"/>
                <a:gd name="connsiteX3" fmla="*/ 2023652 w 2527652"/>
                <a:gd name="connsiteY3" fmla="*/ 1008000 h 1008000"/>
                <a:gd name="connsiteX4" fmla="*/ 0 w 2527652"/>
                <a:gd name="connsiteY4" fmla="*/ 1008000 h 10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7652" h="1008000">
                  <a:moveTo>
                    <a:pt x="0" y="0"/>
                  </a:moveTo>
                  <a:lnTo>
                    <a:pt x="2023652" y="0"/>
                  </a:lnTo>
                  <a:cubicBezTo>
                    <a:pt x="2302004" y="0"/>
                    <a:pt x="2527652" y="225648"/>
                    <a:pt x="2527652" y="504000"/>
                  </a:cubicBezTo>
                  <a:cubicBezTo>
                    <a:pt x="2527652" y="782352"/>
                    <a:pt x="2302004" y="1008000"/>
                    <a:pt x="2023652" y="1008000"/>
                  </a:cubicBezTo>
                  <a:lnTo>
                    <a:pt x="0" y="100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9ABE2">
                    <a:lumMod val="5000"/>
                    <a:lumOff val="95000"/>
                  </a:srgbClr>
                </a:gs>
                <a:gs pos="100000">
                  <a:sysClr val="window" lastClr="FFFFFF">
                    <a:lumMod val="65000"/>
                  </a:sysClr>
                </a:gs>
              </a:gsLst>
              <a:lin ang="13500000" scaled="1"/>
              <a:tileRect/>
            </a:gradFill>
            <a:ln w="25400" cap="flat" cmpd="sng" algn="ctr">
              <a:gradFill flip="none" rotWithShape="1">
                <a:gsLst>
                  <a:gs pos="0">
                    <a:srgbClr val="BE309C">
                      <a:lumMod val="5000"/>
                      <a:lumOff val="95000"/>
                    </a:srgb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Y강B"/>
              </a:endParaRPr>
            </a:p>
          </p:txBody>
        </p:sp>
        <p:sp>
          <p:nvSpPr>
            <p:cNvPr id="45117" name="文本框 44"/>
            <p:cNvSpPr txBox="1"/>
            <p:nvPr/>
          </p:nvSpPr>
          <p:spPr>
            <a:xfrm>
              <a:off x="1409" y="3475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并行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5118" name="Group 126"/>
            <p:cNvGrpSpPr/>
            <p:nvPr/>
          </p:nvGrpSpPr>
          <p:grpSpPr>
            <a:xfrm>
              <a:off x="912" y="3415"/>
              <a:ext cx="471" cy="469"/>
              <a:chOff x="725" y="3326"/>
              <a:chExt cx="471" cy="469"/>
            </a:xfrm>
          </p:grpSpPr>
          <p:sp>
            <p:nvSpPr>
              <p:cNvPr id="792" name="椭圆 791"/>
              <p:cNvSpPr>
                <a:spLocks noChangeAspect="1"/>
              </p:cNvSpPr>
              <p:nvPr/>
            </p:nvSpPr>
            <p:spPr>
              <a:xfrm>
                <a:off x="725" y="3326"/>
                <a:ext cx="466" cy="467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  <p:sp>
            <p:nvSpPr>
              <p:cNvPr id="793" name="椭圆 792"/>
              <p:cNvSpPr>
                <a:spLocks noChangeAspect="1"/>
              </p:cNvSpPr>
              <p:nvPr/>
            </p:nvSpPr>
            <p:spPr>
              <a:xfrm>
                <a:off x="727" y="3327"/>
                <a:ext cx="467" cy="467"/>
              </a:xfrm>
              <a:prstGeom prst="ellipse">
                <a:avLst/>
              </a:prstGeom>
              <a:solidFill>
                <a:srgbClr val="EE0076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 dist="114300" dir="13500000">
                  <a:prstClr val="black">
                    <a:alpha val="50000"/>
                  </a:prstClr>
                </a:innerShdw>
              </a:effectLst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  <p:sp>
            <p:nvSpPr>
              <p:cNvPr id="794" name="椭圆 793"/>
              <p:cNvSpPr>
                <a:spLocks noChangeAspect="1"/>
              </p:cNvSpPr>
              <p:nvPr/>
            </p:nvSpPr>
            <p:spPr>
              <a:xfrm>
                <a:off x="750" y="3352"/>
                <a:ext cx="362" cy="363"/>
              </a:xfrm>
              <a:prstGeom prst="ellipse">
                <a:avLst/>
              </a:prstGeom>
              <a:gradFill flip="none" rotWithShape="1">
                <a:gsLst>
                  <a:gs pos="0">
                    <a:srgbClr val="29ABE2">
                      <a:lumMod val="5000"/>
                      <a:lumOff val="95000"/>
                    </a:srgb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27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rgbClr val="BE309C">
                        <a:lumMod val="5000"/>
                        <a:lumOff val="95000"/>
                      </a:srgbClr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135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  <p:sp>
            <p:nvSpPr>
              <p:cNvPr id="796" name="椭圆 795"/>
              <p:cNvSpPr>
                <a:spLocks noChangeAspect="1"/>
              </p:cNvSpPr>
              <p:nvPr/>
            </p:nvSpPr>
            <p:spPr>
              <a:xfrm>
                <a:off x="767" y="3367"/>
                <a:ext cx="291" cy="291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13500000" scaled="1"/>
                <a:tileRect/>
              </a:gradFill>
              <a:ln w="2540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Text" lastClr="000000">
                        <a:lumMod val="65000"/>
                        <a:lumOff val="3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HY강B"/>
                </a:endParaRPr>
              </a:p>
            </p:txBody>
          </p:sp>
        </p:grpSp>
      </p:grpSp>
      <p:grpSp>
        <p:nvGrpSpPr>
          <p:cNvPr id="24" name="Group 140"/>
          <p:cNvGrpSpPr/>
          <p:nvPr/>
        </p:nvGrpSpPr>
        <p:grpSpPr>
          <a:xfrm>
            <a:off x="4056063" y="1679575"/>
            <a:ext cx="608012" cy="1131888"/>
            <a:chOff x="2816" y="869"/>
            <a:chExt cx="383" cy="713"/>
          </a:xfrm>
        </p:grpSpPr>
        <p:sp>
          <p:nvSpPr>
            <p:cNvPr id="45124" name="Line 137"/>
            <p:cNvSpPr/>
            <p:nvPr/>
          </p:nvSpPr>
          <p:spPr>
            <a:xfrm>
              <a:off x="2816" y="878"/>
              <a:ext cx="366" cy="0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25" name="Line 138"/>
            <p:cNvSpPr/>
            <p:nvPr/>
          </p:nvSpPr>
          <p:spPr>
            <a:xfrm>
              <a:off x="2816" y="869"/>
              <a:ext cx="0" cy="713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26" name="Line 139"/>
            <p:cNvSpPr/>
            <p:nvPr/>
          </p:nvSpPr>
          <p:spPr>
            <a:xfrm>
              <a:off x="2833" y="1571"/>
              <a:ext cx="366" cy="0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6" name="Group 149"/>
          <p:cNvGrpSpPr/>
          <p:nvPr/>
        </p:nvGrpSpPr>
        <p:grpSpPr>
          <a:xfrm>
            <a:off x="4111625" y="4071938"/>
            <a:ext cx="620713" cy="2219325"/>
            <a:chOff x="2590" y="2565"/>
            <a:chExt cx="391" cy="1398"/>
          </a:xfrm>
        </p:grpSpPr>
        <p:grpSp>
          <p:nvGrpSpPr>
            <p:cNvPr id="45128" name="Group 141"/>
            <p:cNvGrpSpPr/>
            <p:nvPr/>
          </p:nvGrpSpPr>
          <p:grpSpPr>
            <a:xfrm>
              <a:off x="2590" y="2565"/>
              <a:ext cx="383" cy="713"/>
              <a:chOff x="2816" y="869"/>
              <a:chExt cx="383" cy="713"/>
            </a:xfrm>
          </p:grpSpPr>
          <p:sp>
            <p:nvSpPr>
              <p:cNvPr id="45129" name="Line 142"/>
              <p:cNvSpPr/>
              <p:nvPr/>
            </p:nvSpPr>
            <p:spPr>
              <a:xfrm>
                <a:off x="2816" y="878"/>
                <a:ext cx="366" cy="0"/>
              </a:xfrm>
              <a:prstGeom prst="line">
                <a:avLst/>
              </a:prstGeom>
              <a:ln w="635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30" name="Line 143"/>
              <p:cNvSpPr/>
              <p:nvPr/>
            </p:nvSpPr>
            <p:spPr>
              <a:xfrm>
                <a:off x="2816" y="869"/>
                <a:ext cx="0" cy="713"/>
              </a:xfrm>
              <a:prstGeom prst="line">
                <a:avLst/>
              </a:prstGeom>
              <a:ln w="635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31" name="Line 144"/>
              <p:cNvSpPr/>
              <p:nvPr/>
            </p:nvSpPr>
            <p:spPr>
              <a:xfrm>
                <a:off x="2833" y="1571"/>
                <a:ext cx="366" cy="0"/>
              </a:xfrm>
              <a:prstGeom prst="line">
                <a:avLst/>
              </a:prstGeom>
              <a:ln w="635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5132" name="Group 145"/>
            <p:cNvGrpSpPr/>
            <p:nvPr/>
          </p:nvGrpSpPr>
          <p:grpSpPr>
            <a:xfrm>
              <a:off x="2598" y="3250"/>
              <a:ext cx="383" cy="713"/>
              <a:chOff x="2816" y="869"/>
              <a:chExt cx="383" cy="713"/>
            </a:xfrm>
          </p:grpSpPr>
          <p:sp>
            <p:nvSpPr>
              <p:cNvPr id="45133" name="Line 146"/>
              <p:cNvSpPr/>
              <p:nvPr/>
            </p:nvSpPr>
            <p:spPr>
              <a:xfrm>
                <a:off x="2816" y="878"/>
                <a:ext cx="366" cy="0"/>
              </a:xfrm>
              <a:prstGeom prst="line">
                <a:avLst/>
              </a:prstGeom>
              <a:ln w="635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34" name="Line 147"/>
              <p:cNvSpPr/>
              <p:nvPr/>
            </p:nvSpPr>
            <p:spPr>
              <a:xfrm>
                <a:off x="2816" y="869"/>
                <a:ext cx="0" cy="713"/>
              </a:xfrm>
              <a:prstGeom prst="line">
                <a:avLst/>
              </a:prstGeom>
              <a:ln w="635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35" name="Line 148"/>
              <p:cNvSpPr/>
              <p:nvPr/>
            </p:nvSpPr>
            <p:spPr>
              <a:xfrm>
                <a:off x="2833" y="1571"/>
                <a:ext cx="366" cy="0"/>
              </a:xfrm>
              <a:prstGeom prst="line">
                <a:avLst/>
              </a:prstGeom>
              <a:ln w="635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idx="1"/>
          </p:nvPr>
        </p:nvSpPr>
        <p:spPr>
          <a:xfrm>
            <a:off x="547688" y="1411288"/>
            <a:ext cx="3289300" cy="4976812"/>
          </a:xfrm>
          <a:ln/>
        </p:spPr>
        <p:txBody>
          <a:bodyPr vert="horz" wrap="square" lIns="91440" tIns="45720" rIns="91440" bIns="45720" anchor="t" anchorCtr="0"/>
          <a:p>
            <a:pPr marL="609600" indent="-609600">
              <a:lnSpc>
                <a:spcPct val="80000"/>
              </a:lnSpc>
              <a:buNone/>
            </a:pP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  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HY강B"/>
              </a:rPr>
              <a:t>流程的表达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HY강B"/>
            </a:endParaRPr>
          </a:p>
          <a:p>
            <a:pPr marL="609600" indent="-609600">
              <a:lnSpc>
                <a:spcPct val="80000"/>
              </a:lnSpc>
              <a:buNone/>
            </a:pP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HY강B"/>
            </a:endParaRPr>
          </a:p>
          <a:p>
            <a:pPr marL="609600" indent="-609600">
              <a:lnSpc>
                <a:spcPct val="8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+mn-ea"/>
                <a:cs typeface="HY강B"/>
              </a:rPr>
              <a:t>文字</a:t>
            </a:r>
            <a:endParaRPr kumimoji="1" lang="zh-CN" altLang="en-US" dirty="0">
              <a:solidFill>
                <a:srgbClr val="000000"/>
              </a:solidFill>
              <a:latin typeface="+mn-lt"/>
              <a:ea typeface="+mn-ea"/>
              <a:cs typeface="HY강B"/>
            </a:endParaRPr>
          </a:p>
          <a:p>
            <a:pPr marL="609600" indent="-609600">
              <a:lnSpc>
                <a:spcPct val="8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+mn-ea"/>
                <a:cs typeface="HY강B"/>
              </a:rPr>
              <a:t>方框箭头</a:t>
            </a:r>
            <a:endParaRPr kumimoji="1" lang="zh-CN" altLang="en-US" dirty="0">
              <a:solidFill>
                <a:srgbClr val="000000"/>
              </a:solidFill>
              <a:latin typeface="+mn-lt"/>
              <a:ea typeface="+mn-ea"/>
              <a:cs typeface="HY강B"/>
            </a:endParaRPr>
          </a:p>
          <a:p>
            <a:pPr marL="609600" indent="-609600">
              <a:lnSpc>
                <a:spcPct val="8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+mn-ea"/>
                <a:cs typeface="HY강B"/>
              </a:rPr>
              <a:t>表格</a:t>
            </a:r>
            <a:endParaRPr kumimoji="1" lang="zh-CN" altLang="en-US" dirty="0">
              <a:solidFill>
                <a:srgbClr val="000000"/>
              </a:solidFill>
              <a:latin typeface="+mn-lt"/>
              <a:ea typeface="+mn-ea"/>
              <a:cs typeface="HY강B"/>
            </a:endParaRPr>
          </a:p>
          <a:p>
            <a:pPr marL="609600" indent="-609600">
              <a:lnSpc>
                <a:spcPct val="8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+mn-ea"/>
                <a:cs typeface="HY강B"/>
              </a:rPr>
              <a:t>图形</a:t>
            </a:r>
            <a:endParaRPr kumimoji="1" lang="zh-CN" altLang="en-US" dirty="0">
              <a:solidFill>
                <a:srgbClr val="000000"/>
              </a:solidFill>
              <a:latin typeface="+mn-lt"/>
              <a:ea typeface="+mn-ea"/>
              <a:cs typeface="HY강B"/>
            </a:endParaRPr>
          </a:p>
          <a:p>
            <a:pPr marL="609600" indent="-609600">
              <a:lnSpc>
                <a:spcPct val="8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+mn-ea"/>
                <a:cs typeface="HY강B"/>
              </a:rPr>
              <a:t>程序流程图</a:t>
            </a:r>
            <a:endParaRPr kumimoji="1" lang="zh-CN" altLang="en-US" dirty="0">
              <a:solidFill>
                <a:srgbClr val="000000"/>
              </a:solidFill>
              <a:latin typeface="+mn-lt"/>
              <a:ea typeface="+mn-ea"/>
              <a:cs typeface="HY강B"/>
            </a:endParaRPr>
          </a:p>
          <a:p>
            <a:pPr marL="609600" indent="-609600">
              <a:lnSpc>
                <a:spcPct val="8000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+mn-lt"/>
                <a:ea typeface="+mn-ea"/>
                <a:cs typeface="HY강B"/>
              </a:rPr>
              <a:t>……</a:t>
            </a:r>
            <a:endParaRPr kumimoji="1" lang="zh-CN" altLang="en-US" dirty="0">
              <a:solidFill>
                <a:srgbClr val="000000"/>
              </a:solidFill>
              <a:latin typeface="+mn-lt"/>
              <a:ea typeface="+mn-ea"/>
              <a:cs typeface="HY강B"/>
            </a:endParaRPr>
          </a:p>
        </p:txBody>
      </p:sp>
      <p:sp>
        <p:nvSpPr>
          <p:cNvPr id="47106" name="Rectangle 3"/>
          <p:cNvSpPr>
            <a:spLocks noGrp="1"/>
          </p:cNvSpPr>
          <p:nvPr>
            <p:ph type="title"/>
          </p:nvPr>
        </p:nvSpPr>
        <p:spPr>
          <a:xfrm>
            <a:off x="392113" y="207963"/>
            <a:ext cx="8229600" cy="649287"/>
          </a:xfrm>
          <a:ln/>
        </p:spPr>
        <p:txBody>
          <a:bodyPr vert="horz" wrap="square" lIns="91440" tIns="45720" rIns="91440" bIns="45720" anchor="ctr" anchorCtr="0"/>
          <a:p>
            <a:pPr/>
            <a:endParaRPr kumimoji="1" lang="en-US" altLang="zh-CN" dirty="0">
              <a:latin typeface="宋体" panose="02010600030101010101" pitchFamily="2" charset="-122"/>
              <a:ea typeface="宋体" panose="02010600030101010101" pitchFamily="2" charset="-122"/>
              <a:cs typeface="HY강B"/>
            </a:endParaRPr>
          </a:p>
        </p:txBody>
      </p:sp>
      <p:sp>
        <p:nvSpPr>
          <p:cNvPr id="47107" name="Text Box 6"/>
          <p:cNvSpPr txBox="1"/>
          <p:nvPr/>
        </p:nvSpPr>
        <p:spPr>
          <a:xfrm>
            <a:off x="4114800" y="1290638"/>
            <a:ext cx="4403725" cy="4668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/>
            <a:r>
              <a:rPr lang="en-US" altLang="zh-CN" sz="3600" b="1" dirty="0">
                <a:latin typeface="HY강B"/>
                <a:ea typeface="HY강B"/>
              </a:rPr>
              <a:t>    </a:t>
            </a:r>
            <a:r>
              <a:rPr lang="zh-CN" altLang="en-US" sz="3600" b="1" dirty="0">
                <a:latin typeface="HY강B"/>
                <a:ea typeface="HY강B"/>
              </a:rPr>
              <a:t>流程对于日常生活的意义</a:t>
            </a:r>
            <a:r>
              <a:rPr lang="en-US" altLang="zh-CN" sz="3600" b="1" dirty="0">
                <a:latin typeface="HY강B"/>
                <a:ea typeface="HY강B"/>
              </a:rPr>
              <a:t>?</a:t>
            </a:r>
            <a:r>
              <a:rPr lang="zh-CN" altLang="en-US" sz="3600" b="1" dirty="0">
                <a:latin typeface="HY강B"/>
                <a:ea typeface="HY강B"/>
              </a:rPr>
              <a:t> </a:t>
            </a:r>
            <a:endParaRPr lang="zh-CN" altLang="en-US" sz="3600" b="1" dirty="0">
              <a:latin typeface="HY강B"/>
              <a:ea typeface="HY강B"/>
            </a:endParaRPr>
          </a:p>
          <a:p>
            <a:pPr marL="342900" indent="-342900"/>
            <a:endParaRPr lang="zh-CN" altLang="en-US" sz="1200" b="1" dirty="0">
              <a:latin typeface="HY강B"/>
              <a:ea typeface="HY강B"/>
            </a:endParaRPr>
          </a:p>
          <a:p>
            <a:pPr marL="342900" indent="-342900">
              <a:buChar char="•"/>
            </a:pPr>
            <a:r>
              <a:rPr lang="zh-CN" altLang="en-US" sz="3600" b="1" dirty="0">
                <a:latin typeface="HY강B"/>
                <a:ea typeface="HY강B"/>
              </a:rPr>
              <a:t>生活</a:t>
            </a:r>
            <a:r>
              <a:rPr lang="zh-CN" altLang="en-US" sz="3600" b="1" dirty="0">
                <a:solidFill>
                  <a:schemeClr val="tx2"/>
                </a:solidFill>
                <a:latin typeface="HY강B"/>
                <a:ea typeface="HY강B"/>
              </a:rPr>
              <a:t>有序</a:t>
            </a:r>
            <a:r>
              <a:rPr lang="zh-CN" altLang="en-US" sz="3600" b="1" dirty="0">
                <a:latin typeface="HY강B"/>
                <a:ea typeface="HY강B"/>
              </a:rPr>
              <a:t>、合理。</a:t>
            </a:r>
            <a:endParaRPr lang="zh-CN" altLang="en-US" sz="3600" b="1" dirty="0">
              <a:latin typeface="HY강B"/>
              <a:ea typeface="HY강B"/>
            </a:endParaRPr>
          </a:p>
          <a:p>
            <a:pPr marL="342900" indent="-342900">
              <a:buChar char="•"/>
            </a:pPr>
            <a:r>
              <a:rPr lang="zh-CN" altLang="en-US" sz="3600" b="1" dirty="0">
                <a:latin typeface="HY강B"/>
                <a:ea typeface="HY강B"/>
              </a:rPr>
              <a:t>提高工作和学习的</a:t>
            </a:r>
            <a:r>
              <a:rPr lang="zh-CN" altLang="en-US" sz="3600" b="1" dirty="0">
                <a:solidFill>
                  <a:schemeClr val="tx2"/>
                </a:solidFill>
                <a:latin typeface="HY강B"/>
                <a:ea typeface="HY강B"/>
              </a:rPr>
              <a:t>效率。</a:t>
            </a:r>
            <a:endParaRPr lang="zh-CN" altLang="en-US" sz="3600" b="1" dirty="0">
              <a:solidFill>
                <a:schemeClr val="tx2"/>
              </a:solidFill>
              <a:latin typeface="HY강B"/>
              <a:ea typeface="HY강B"/>
            </a:endParaRPr>
          </a:p>
          <a:p>
            <a:pPr marL="342900" indent="-342900">
              <a:buChar char="•"/>
            </a:pPr>
            <a:r>
              <a:rPr lang="zh-CN" altLang="en-US" sz="3600" b="1" dirty="0">
                <a:latin typeface="HY강B"/>
                <a:ea typeface="HY강B"/>
              </a:rPr>
              <a:t>为我们的</a:t>
            </a:r>
            <a:r>
              <a:rPr lang="zh-CN" altLang="en-US" sz="3600" b="1" dirty="0">
                <a:solidFill>
                  <a:schemeClr val="tx2"/>
                </a:solidFill>
                <a:latin typeface="HY강B"/>
                <a:ea typeface="HY강B"/>
              </a:rPr>
              <a:t>安全</a:t>
            </a:r>
            <a:r>
              <a:rPr lang="zh-CN" altLang="en-US" sz="3600" b="1" dirty="0">
                <a:latin typeface="HY강B"/>
                <a:ea typeface="HY강B"/>
              </a:rPr>
              <a:t>提供</a:t>
            </a:r>
            <a:r>
              <a:rPr lang="zh-CN" altLang="en-US" sz="3600" b="1" dirty="0">
                <a:solidFill>
                  <a:schemeClr val="tx2"/>
                </a:solidFill>
                <a:latin typeface="HY강B"/>
                <a:ea typeface="HY강B"/>
              </a:rPr>
              <a:t>保障</a:t>
            </a:r>
            <a:r>
              <a:rPr lang="zh-CN" altLang="en-US" sz="3600" b="1" dirty="0">
                <a:latin typeface="HY강B"/>
                <a:ea typeface="HY강B"/>
              </a:rPr>
              <a:t>。</a:t>
            </a:r>
            <a:endParaRPr lang="zh-CN" altLang="en-US" sz="3600" b="1" dirty="0">
              <a:latin typeface="HY강B"/>
              <a:ea typeface="HY강B"/>
            </a:endParaRPr>
          </a:p>
          <a:p>
            <a:pPr marL="342900" indent="-342900">
              <a:buChar char="•"/>
            </a:pPr>
            <a:r>
              <a:rPr lang="en-US" altLang="zh-CN" sz="3600" b="1" dirty="0">
                <a:latin typeface="HY강B"/>
                <a:ea typeface="HY강B"/>
              </a:rPr>
              <a:t>……</a:t>
            </a:r>
            <a:endParaRPr lang="en-US" altLang="zh-CN" sz="3600" b="1" dirty="0">
              <a:latin typeface="HY강B"/>
              <a:ea typeface="HY강B"/>
            </a:endParaRPr>
          </a:p>
        </p:txBody>
      </p:sp>
      <p:pic>
        <p:nvPicPr>
          <p:cNvPr id="47108" name="Picture 12" descr="234967-1503161R93570"/>
          <p:cNvPicPr>
            <a:picLocks noChangeAspect="1"/>
          </p:cNvPicPr>
          <p:nvPr/>
        </p:nvPicPr>
        <p:blipFill>
          <a:blip r:embed="rId1">
            <a:clrChange>
              <a:clrFrom>
                <a:srgbClr val="FEFCFF"/>
              </a:clrFrom>
              <a:clrTo>
                <a:srgbClr val="FEFCFF">
                  <a:alpha val="0"/>
                </a:srgbClr>
              </a:clrTo>
            </a:clrChange>
          </a:blip>
          <a:srcRect l="28351" t="10356" r="28799" b="25194"/>
          <a:stretch>
            <a:fillRect/>
          </a:stretch>
        </p:blipFill>
        <p:spPr>
          <a:xfrm>
            <a:off x="273050" y="1290638"/>
            <a:ext cx="771525" cy="7508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9" name="Picture 13" descr="234967-1503161R93570"/>
          <p:cNvPicPr>
            <a:picLocks noChangeAspect="1"/>
          </p:cNvPicPr>
          <p:nvPr/>
        </p:nvPicPr>
        <p:blipFill>
          <a:blip r:embed="rId1">
            <a:clrChange>
              <a:clrFrom>
                <a:srgbClr val="FEFCFF"/>
              </a:clrFrom>
              <a:clrTo>
                <a:srgbClr val="FEFCFF">
                  <a:alpha val="0"/>
                </a:srgbClr>
              </a:clrTo>
            </a:clrChange>
          </a:blip>
          <a:srcRect l="28351" t="10356" r="28799" b="25194"/>
          <a:stretch>
            <a:fillRect/>
          </a:stretch>
        </p:blipFill>
        <p:spPr>
          <a:xfrm>
            <a:off x="4216400" y="1216025"/>
            <a:ext cx="771525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Text Box 8"/>
          <p:cNvSpPr txBox="1"/>
          <p:nvPr/>
        </p:nvSpPr>
        <p:spPr>
          <a:xfrm>
            <a:off x="946150" y="4221163"/>
            <a:ext cx="75247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HY강B"/>
                <a:ea typeface="HY강B"/>
              </a:rPr>
              <a:t>你会怎样合理安排自己的生活流程？</a:t>
            </a:r>
            <a:endParaRPr lang="zh-CN" altLang="en-US" sz="3600" b="1" dirty="0">
              <a:latin typeface="HY강B"/>
              <a:ea typeface="HY강B"/>
            </a:endParaRPr>
          </a:p>
        </p:txBody>
      </p:sp>
      <p:pic>
        <p:nvPicPr>
          <p:cNvPr id="49154" name="Picture 10" descr="15151717_150934382210_2"/>
          <p:cNvPicPr>
            <a:picLocks noChangeAspect="1"/>
          </p:cNvPicPr>
          <p:nvPr/>
        </p:nvPicPr>
        <p:blipFill>
          <a:blip r:embed="rId1"/>
          <a:srcRect t="30704" b="31432"/>
          <a:stretch>
            <a:fillRect/>
          </a:stretch>
        </p:blipFill>
        <p:spPr>
          <a:xfrm>
            <a:off x="74613" y="1766888"/>
            <a:ext cx="8969375" cy="2122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7" name="Text Box 5"/>
          <p:cNvSpPr txBox="1"/>
          <p:nvPr/>
        </p:nvSpPr>
        <p:spPr>
          <a:xfrm>
            <a:off x="1565275" y="5145088"/>
            <a:ext cx="629920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solidFill>
                  <a:srgbClr val="CC0000"/>
                </a:solidFill>
                <a:latin typeface="HY강B"/>
                <a:ea typeface="HY강B"/>
              </a:rPr>
              <a:t>人生路漫漫，流程常相伴。</a:t>
            </a:r>
            <a:endParaRPr lang="zh-CN" altLang="en-US" sz="4000" b="1" dirty="0">
              <a:solidFill>
                <a:srgbClr val="CC0000"/>
              </a:solidFill>
              <a:latin typeface="HY강B"/>
              <a:ea typeface="HY강B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/>
    </p:bldLst>
  </p:timing>
</p:sld>
</file>

<file path=ppt/tags/tag1.xml><?xml version="1.0" encoding="utf-8"?>
<p:tagLst xmlns:p="http://schemas.openxmlformats.org/presentationml/2006/main">
  <p:tag name="REFSHAPE" val="545654276"/>
  <p:tag name="KSO_WM_UNIT_PLACING_PICTURE_USER_VIEWPORT" val="{&quot;height&quot;:2250,&quot;width&quot;:10260}"/>
</p:tagLst>
</file>

<file path=ppt/theme/theme1.xml><?xml version="1.0" encoding="utf-8"?>
<a:theme xmlns:a="http://schemas.openxmlformats.org/drawingml/2006/main" name="标题页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HY강B"/>
        <a:ea typeface="HY강B"/>
        <a:cs typeface=""/>
      </a:majorFont>
      <a:minorFont>
        <a:latin typeface="HY강B"/>
        <a:ea typeface="HY강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강B" pitchFamily="18" charset="-127"/>
            <a:ea typeface="HY강B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강B" pitchFamily="18" charset="-127"/>
            <a:ea typeface="HY강B" pitchFamily="18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容页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HY강B"/>
        <a:ea typeface="HY강B"/>
        <a:cs typeface=""/>
      </a:majorFont>
      <a:minorFont>
        <a:latin typeface="HY강B"/>
        <a:ea typeface="HY강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강B" pitchFamily="18" charset="-127"/>
            <a:ea typeface="HY강B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강B" pitchFamily="18" charset="-127"/>
            <a:ea typeface="HY강B" pitchFamily="18" charset="-127"/>
          </a:defRPr>
        </a:defPPr>
      </a:lstStyle>
    </a:ln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WPS 演示</Application>
  <PresentationFormat/>
  <Paragraphs>401</Paragraphs>
  <Slides>31</Slides>
  <Notes>14</Notes>
  <HiddenSlides>0</HiddenSlides>
  <MMClips>3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58" baseType="lpstr">
      <vt:lpstr>Arial</vt:lpstr>
      <vt:lpstr>宋体</vt:lpstr>
      <vt:lpstr>Wingdings</vt:lpstr>
      <vt:lpstr>HY강B</vt:lpstr>
      <vt:lpstr>Segoe Print</vt:lpstr>
      <vt:lpstr>AMGDT</vt:lpstr>
      <vt:lpstr>方正琥珀简体</vt:lpstr>
      <vt:lpstr>微软雅黑</vt:lpstr>
      <vt:lpstr>Arial Unicode MS</vt:lpstr>
      <vt:lpstr>方正黑体简体</vt:lpstr>
      <vt:lpstr>Siemens Sans Black</vt:lpstr>
      <vt:lpstr>Arial Black</vt:lpstr>
      <vt:lpstr>方正稚艺简体</vt:lpstr>
      <vt:lpstr>方正准圆简体</vt:lpstr>
      <vt:lpstr>Times New Roman</vt:lpstr>
      <vt:lpstr>黑体</vt:lpstr>
      <vt:lpstr>HY강B</vt:lpstr>
      <vt:lpstr>Malgun Gothic</vt:lpstr>
      <vt:lpstr>Adobe Myungjo Std M</vt:lpstr>
      <vt:lpstr>Yu Gothic</vt:lpstr>
      <vt:lpstr>Calibri</vt:lpstr>
      <vt:lpstr>HY강B</vt:lpstr>
      <vt:lpstr>Arial Unicode MS</vt:lpstr>
      <vt:lpstr>标题页</vt:lpstr>
      <vt:lpstr>内容页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生活和生产中的流程</dc:title>
  <dc:creator>卓凌颖</dc:creator>
  <cp:lastModifiedBy>G210</cp:lastModifiedBy>
  <cp:revision>413</cp:revision>
  <dcterms:created xsi:type="dcterms:W3CDTF">2005-12-31T15:41:19Z</dcterms:created>
  <dcterms:modified xsi:type="dcterms:W3CDTF">2020-09-08T08:58:07Z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2052-11.8.2.8506</vt:lpwstr>
  </property>
</Properties>
</file>