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heme/theme2.xml" ContentType="application/vnd.openxmlformats-officedocument.theme+xml"/>
  <Override PartName="/ppt/tags/tag10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60" r:id="rId2"/>
    <p:sldId id="333" r:id="rId3"/>
    <p:sldId id="334" r:id="rId4"/>
    <p:sldId id="335" r:id="rId5"/>
    <p:sldId id="337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1" r:id="rId18"/>
    <p:sldId id="352" r:id="rId19"/>
    <p:sldId id="353" r:id="rId20"/>
    <p:sldId id="354" r:id="rId21"/>
    <p:sldId id="332" r:id="rId22"/>
    <p:sldId id="28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3" d="100"/>
          <a:sy n="73" d="100"/>
        </p:scale>
        <p:origin x="-582" y="-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80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image" Target="../media/image1.jpeg"/><Relationship Id="rId2" Type="http://schemas.openxmlformats.org/officeDocument/2006/relationships/tags" Target="../tags/tag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2" Type="http://schemas.openxmlformats.org/officeDocument/2006/relationships/tags" Target="../tags/tag23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10" Type="http://schemas.openxmlformats.org/officeDocument/2006/relationships/image" Target="../media/image2.jpeg"/><Relationship Id="rId4" Type="http://schemas.openxmlformats.org/officeDocument/2006/relationships/tags" Target="../tags/tag102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sp>
        <p:nvSpPr>
          <p:cNvPr id="4107" name="矩形 4106"/>
          <p:cNvSpPr/>
          <p:nvPr>
            <p:custDataLst>
              <p:tags r:id="rId2"/>
            </p:custDataLst>
          </p:nvPr>
        </p:nvSpPr>
        <p:spPr>
          <a:xfrm>
            <a:off x="-16671" y="0"/>
            <a:ext cx="12225342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3" name="Freeform 23"/>
          <p:cNvSpPr/>
          <p:nvPr>
            <p:custDataLst>
              <p:tags r:id="rId3"/>
            </p:custDataLst>
          </p:nvPr>
        </p:nvSpPr>
        <p:spPr bwMode="auto">
          <a:xfrm>
            <a:off x="-14291" y="-1588"/>
            <a:ext cx="12233278" cy="5710238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12" name="Freeform 27"/>
          <p:cNvSpPr/>
          <p:nvPr>
            <p:custDataLst>
              <p:tags r:id="rId4"/>
            </p:custDataLst>
          </p:nvPr>
        </p:nvSpPr>
        <p:spPr bwMode="auto">
          <a:xfrm>
            <a:off x="-14291" y="-1588"/>
            <a:ext cx="12238043" cy="5608638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>
            <p:custDataLst>
              <p:tags r:id="rId5"/>
            </p:custDataLst>
          </p:nvPr>
        </p:nvSpPr>
        <p:spPr bwMode="auto">
          <a:xfrm>
            <a:off x="-117476" y="2825662"/>
            <a:ext cx="1588" cy="1588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1 h 1"/>
              <a:gd name="T6" fmla="*/ 1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DCEC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99" name="Freeform 19"/>
          <p:cNvSpPr/>
          <p:nvPr>
            <p:custDataLst>
              <p:tags r:id="rId6"/>
            </p:custDataLst>
          </p:nvPr>
        </p:nvSpPr>
        <p:spPr bwMode="auto">
          <a:xfrm>
            <a:off x="-1" y="3477489"/>
            <a:ext cx="12192000" cy="1552575"/>
          </a:xfrm>
          <a:custGeom>
            <a:avLst/>
            <a:gdLst>
              <a:gd name="T0" fmla="*/ 0 w 7680"/>
              <a:gd name="T1" fmla="*/ 160 h 976"/>
              <a:gd name="T2" fmla="*/ 72 w 7680"/>
              <a:gd name="T3" fmla="*/ 205 h 976"/>
              <a:gd name="T4" fmla="*/ 1481 w 7680"/>
              <a:gd name="T5" fmla="*/ 976 h 976"/>
              <a:gd name="T6" fmla="*/ 3046 w 7680"/>
              <a:gd name="T7" fmla="*/ 622 h 976"/>
              <a:gd name="T8" fmla="*/ 4584 w 7680"/>
              <a:gd name="T9" fmla="*/ 839 h 976"/>
              <a:gd name="T10" fmla="*/ 5795 w 7680"/>
              <a:gd name="T11" fmla="*/ 608 h 976"/>
              <a:gd name="T12" fmla="*/ 7129 w 7680"/>
              <a:gd name="T13" fmla="*/ 23 h 976"/>
              <a:gd name="T14" fmla="*/ 7600 w 7680"/>
              <a:gd name="T15" fmla="*/ 112 h 976"/>
              <a:gd name="T16" fmla="*/ 7680 w 7680"/>
              <a:gd name="T17" fmla="*/ 124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80" h="976">
                <a:moveTo>
                  <a:pt x="0" y="160"/>
                </a:moveTo>
                <a:cubicBezTo>
                  <a:pt x="0" y="160"/>
                  <a:pt x="24" y="160"/>
                  <a:pt x="72" y="205"/>
                </a:cubicBezTo>
                <a:cubicBezTo>
                  <a:pt x="291" y="406"/>
                  <a:pt x="934" y="976"/>
                  <a:pt x="1481" y="976"/>
                </a:cubicBezTo>
                <a:cubicBezTo>
                  <a:pt x="2066" y="976"/>
                  <a:pt x="2491" y="653"/>
                  <a:pt x="3046" y="622"/>
                </a:cubicBezTo>
                <a:cubicBezTo>
                  <a:pt x="3500" y="596"/>
                  <a:pt x="4040" y="844"/>
                  <a:pt x="4584" y="839"/>
                </a:cubicBezTo>
                <a:cubicBezTo>
                  <a:pt x="4831" y="837"/>
                  <a:pt x="5490" y="749"/>
                  <a:pt x="5795" y="608"/>
                </a:cubicBezTo>
                <a:cubicBezTo>
                  <a:pt x="6149" y="445"/>
                  <a:pt x="6759" y="58"/>
                  <a:pt x="7129" y="23"/>
                </a:cubicBezTo>
                <a:cubicBezTo>
                  <a:pt x="7372" y="0"/>
                  <a:pt x="7429" y="69"/>
                  <a:pt x="7600" y="112"/>
                </a:cubicBezTo>
                <a:cubicBezTo>
                  <a:pt x="7648" y="124"/>
                  <a:pt x="7680" y="124"/>
                  <a:pt x="7680" y="124"/>
                </a:cubicBezTo>
              </a:path>
            </a:pathLst>
          </a:custGeom>
          <a:noFill/>
          <a:ln w="63500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6" name="Oval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61051" y="4244155"/>
            <a:ext cx="560461" cy="5604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Oval 1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783960" y="3295373"/>
            <a:ext cx="560461" cy="5604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854977" y="3121514"/>
            <a:ext cx="6482044" cy="706280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854977" y="1713263"/>
            <a:ext cx="6482044" cy="1316944"/>
          </a:xfrm>
        </p:spPr>
        <p:txBody>
          <a:bodyPr anchor="b">
            <a:normAutofit/>
          </a:bodyPr>
          <a:lstStyle>
            <a:lvl1pPr algn="ctr">
              <a:tabLst>
                <a:tab pos="4030345" algn="l"/>
              </a:tabLst>
              <a:defRPr sz="4800" baseline="0">
                <a:solidFill>
                  <a:schemeClr val="bg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  <p:custDataLst>
              <p:tags r:id="rId11"/>
            </p:custDataLst>
          </p:nvPr>
        </p:nvSpPr>
        <p:spPr>
          <a:xfrm>
            <a:off x="5210860" y="5677631"/>
            <a:ext cx="1770281" cy="4337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2" hasCustomPrompt="1"/>
            <p:custDataLst>
              <p:tags r:id="rId12"/>
            </p:custDataLst>
          </p:nvPr>
        </p:nvSpPr>
        <p:spPr>
          <a:xfrm>
            <a:off x="5210860" y="5151542"/>
            <a:ext cx="1770281" cy="4337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en-US" alt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3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4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>
            <p:custDataLst>
              <p:tags r:id="rId1"/>
            </p:custDataLst>
          </p:nvPr>
        </p:nvSpPr>
        <p:spPr bwMode="auto">
          <a:xfrm>
            <a:off x="0" y="6101706"/>
            <a:ext cx="12225342" cy="756293"/>
          </a:xfrm>
          <a:custGeom>
            <a:avLst/>
            <a:gdLst>
              <a:gd name="connsiteX0" fmla="*/ 11032507 w 12225342"/>
              <a:gd name="connsiteY0" fmla="*/ 754 h 915426"/>
              <a:gd name="connsiteX1" fmla="*/ 11375317 w 12225342"/>
              <a:gd name="connsiteY1" fmla="*/ 992 h 915426"/>
              <a:gd name="connsiteX2" fmla="*/ 12225342 w 12225342"/>
              <a:gd name="connsiteY2" fmla="*/ 33585 h 915426"/>
              <a:gd name="connsiteX3" fmla="*/ 12225342 w 12225342"/>
              <a:gd name="connsiteY3" fmla="*/ 915426 h 915426"/>
              <a:gd name="connsiteX4" fmla="*/ 0 w 12225342"/>
              <a:gd name="connsiteY4" fmla="*/ 915426 h 915426"/>
              <a:gd name="connsiteX5" fmla="*/ 0 w 12225342"/>
              <a:gd name="connsiteY5" fmla="*/ 803685 h 915426"/>
              <a:gd name="connsiteX6" fmla="*/ 0 w 12225342"/>
              <a:gd name="connsiteY6" fmla="*/ 33585 h 915426"/>
              <a:gd name="connsiteX7" fmla="*/ 8061085 w 12225342"/>
              <a:gd name="connsiteY7" fmla="*/ 376770 h 915426"/>
              <a:gd name="connsiteX8" fmla="*/ 11032507 w 12225342"/>
              <a:gd name="connsiteY8" fmla="*/ 754 h 91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25342" h="915426">
                <a:moveTo>
                  <a:pt x="11032507" y="754"/>
                </a:moveTo>
                <a:cubicBezTo>
                  <a:pt x="11153527" y="-392"/>
                  <a:pt x="11268276" y="-166"/>
                  <a:pt x="11375317" y="992"/>
                </a:cubicBezTo>
                <a:cubicBezTo>
                  <a:pt x="11889115" y="6550"/>
                  <a:pt x="12225342" y="33585"/>
                  <a:pt x="12225342" y="33585"/>
                </a:cubicBezTo>
                <a:lnTo>
                  <a:pt x="12225342" y="915426"/>
                </a:lnTo>
                <a:lnTo>
                  <a:pt x="0" y="915426"/>
                </a:lnTo>
                <a:lnTo>
                  <a:pt x="0" y="803685"/>
                </a:lnTo>
                <a:cubicBezTo>
                  <a:pt x="0" y="33585"/>
                  <a:pt x="0" y="33585"/>
                  <a:pt x="0" y="33585"/>
                </a:cubicBezTo>
                <a:cubicBezTo>
                  <a:pt x="0" y="33585"/>
                  <a:pt x="4393483" y="1482590"/>
                  <a:pt x="8061085" y="376770"/>
                </a:cubicBezTo>
                <a:cubicBezTo>
                  <a:pt x="9030864" y="83956"/>
                  <a:pt x="10185361" y="8770"/>
                  <a:pt x="11032507" y="754"/>
                </a:cubicBez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78378" y="512904"/>
            <a:ext cx="517926" cy="509274"/>
            <a:chOff x="2314205" y="1941302"/>
            <a:chExt cx="2441793" cy="2401002"/>
          </a:xfrm>
        </p:grpSpPr>
        <p:sp>
          <p:nvSpPr>
            <p:cNvPr id="8" name="Oval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 rot="10800000">
              <a:off x="3725825" y="3326682"/>
              <a:ext cx="1030173" cy="1015622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Oval 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rot="10800000">
              <a:off x="2314205" y="1941302"/>
              <a:ext cx="2018309" cy="1989800"/>
            </a:xfrm>
            <a:prstGeom prst="ellipse">
              <a:avLst/>
            </a:pr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" name="Oval 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11589901" y="756293"/>
            <a:ext cx="349261" cy="344328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 rot="5400000" flipH="1">
            <a:off x="-1886822" y="3705890"/>
            <a:ext cx="4346985" cy="619266"/>
            <a:chOff x="0" y="2522538"/>
            <a:chExt cx="12192000" cy="1736857"/>
          </a:xfrm>
        </p:grpSpPr>
        <p:sp>
          <p:nvSpPr>
            <p:cNvPr id="18" name="Freeform 5"/>
            <p:cNvSpPr/>
            <p:nvPr>
              <p:custDataLst>
                <p:tags r:id="rId10"/>
              </p:custDataLst>
            </p:nvPr>
          </p:nvSpPr>
          <p:spPr bwMode="auto">
            <a:xfrm rot="10800000">
              <a:off x="0" y="2522538"/>
              <a:ext cx="12192000" cy="1557337"/>
            </a:xfrm>
            <a:custGeom>
              <a:avLst/>
              <a:gdLst>
                <a:gd name="T0" fmla="*/ 0 w 7680"/>
                <a:gd name="T1" fmla="*/ 161 h 981"/>
                <a:gd name="T2" fmla="*/ 72 w 7680"/>
                <a:gd name="T3" fmla="*/ 206 h 981"/>
                <a:gd name="T4" fmla="*/ 1481 w 7680"/>
                <a:gd name="T5" fmla="*/ 981 h 981"/>
                <a:gd name="T6" fmla="*/ 3046 w 7680"/>
                <a:gd name="T7" fmla="*/ 626 h 981"/>
                <a:gd name="T8" fmla="*/ 4584 w 7680"/>
                <a:gd name="T9" fmla="*/ 843 h 981"/>
                <a:gd name="T10" fmla="*/ 5795 w 7680"/>
                <a:gd name="T11" fmla="*/ 611 h 981"/>
                <a:gd name="T12" fmla="*/ 7129 w 7680"/>
                <a:gd name="T13" fmla="*/ 24 h 981"/>
                <a:gd name="T14" fmla="*/ 7600 w 7680"/>
                <a:gd name="T15" fmla="*/ 113 h 981"/>
                <a:gd name="T16" fmla="*/ 7680 w 7680"/>
                <a:gd name="T17" fmla="*/ 125 h 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80" h="981">
                  <a:moveTo>
                    <a:pt x="0" y="161"/>
                  </a:moveTo>
                  <a:cubicBezTo>
                    <a:pt x="0" y="161"/>
                    <a:pt x="24" y="161"/>
                    <a:pt x="72" y="206"/>
                  </a:cubicBezTo>
                  <a:cubicBezTo>
                    <a:pt x="291" y="408"/>
                    <a:pt x="934" y="981"/>
                    <a:pt x="1481" y="981"/>
                  </a:cubicBezTo>
                  <a:cubicBezTo>
                    <a:pt x="2066" y="981"/>
                    <a:pt x="2491" y="657"/>
                    <a:pt x="3046" y="626"/>
                  </a:cubicBezTo>
                  <a:cubicBezTo>
                    <a:pt x="3500" y="599"/>
                    <a:pt x="4040" y="849"/>
                    <a:pt x="4584" y="843"/>
                  </a:cubicBezTo>
                  <a:cubicBezTo>
                    <a:pt x="4831" y="842"/>
                    <a:pt x="5490" y="753"/>
                    <a:pt x="5795" y="611"/>
                  </a:cubicBezTo>
                  <a:cubicBezTo>
                    <a:pt x="6149" y="448"/>
                    <a:pt x="6759" y="59"/>
                    <a:pt x="7129" y="24"/>
                  </a:cubicBezTo>
                  <a:cubicBezTo>
                    <a:pt x="7372" y="0"/>
                    <a:pt x="7429" y="70"/>
                    <a:pt x="7600" y="113"/>
                  </a:cubicBezTo>
                  <a:cubicBezTo>
                    <a:pt x="7648" y="125"/>
                    <a:pt x="7680" y="125"/>
                    <a:pt x="7680" y="125"/>
                  </a:cubicBezTo>
                </a:path>
              </a:pathLst>
            </a:custGeom>
            <a:noFill/>
            <a:ln w="66675" cap="flat">
              <a:solidFill>
                <a:schemeClr val="accent3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Oval 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 rot="10800000">
              <a:off x="10913919" y="2764026"/>
              <a:ext cx="561975" cy="554037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10800000">
              <a:off x="939574" y="3695833"/>
              <a:ext cx="561975" cy="563562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Oval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 rot="10800000">
              <a:off x="3658397" y="2680210"/>
              <a:ext cx="1030173" cy="1015622"/>
            </a:xfrm>
            <a:prstGeom prst="ellipse">
              <a:avLst/>
            </a:pr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>
            <p:custDataLst>
              <p:tags r:id="rId1"/>
            </p:custDataLst>
          </p:nvPr>
        </p:nvSpPr>
        <p:spPr bwMode="auto">
          <a:xfrm>
            <a:off x="-117476" y="1588"/>
            <a:ext cx="1588" cy="1588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1 h 1"/>
              <a:gd name="T6" fmla="*/ 1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DCEC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979442" y="3184526"/>
            <a:ext cx="5184126" cy="895350"/>
          </a:xfrm>
        </p:spPr>
        <p:txBody>
          <a:bodyPr anchor="b">
            <a:normAutofit/>
          </a:bodyPr>
          <a:lstStyle>
            <a:lvl1pPr algn="l">
              <a:defRPr sz="4400" b="1" baseline="0">
                <a:solidFill>
                  <a:schemeClr val="tx2">
                    <a:lumMod val="50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980557" y="4153299"/>
            <a:ext cx="518294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en-US" dirty="0"/>
          </a:p>
        </p:txBody>
      </p:sp>
      <p:sp>
        <p:nvSpPr>
          <p:cNvPr id="8" name="Freeform 5"/>
          <p:cNvSpPr/>
          <p:nvPr>
            <p:custDataLst>
              <p:tags r:id="rId4"/>
            </p:custDataLst>
          </p:nvPr>
        </p:nvSpPr>
        <p:spPr bwMode="auto">
          <a:xfrm rot="10800000">
            <a:off x="0" y="2522538"/>
            <a:ext cx="12192000" cy="1557337"/>
          </a:xfrm>
          <a:custGeom>
            <a:avLst/>
            <a:gdLst>
              <a:gd name="T0" fmla="*/ 0 w 7680"/>
              <a:gd name="T1" fmla="*/ 161 h 981"/>
              <a:gd name="T2" fmla="*/ 72 w 7680"/>
              <a:gd name="T3" fmla="*/ 206 h 981"/>
              <a:gd name="T4" fmla="*/ 1481 w 7680"/>
              <a:gd name="T5" fmla="*/ 981 h 981"/>
              <a:gd name="T6" fmla="*/ 3046 w 7680"/>
              <a:gd name="T7" fmla="*/ 626 h 981"/>
              <a:gd name="T8" fmla="*/ 4584 w 7680"/>
              <a:gd name="T9" fmla="*/ 843 h 981"/>
              <a:gd name="T10" fmla="*/ 5795 w 7680"/>
              <a:gd name="T11" fmla="*/ 611 h 981"/>
              <a:gd name="T12" fmla="*/ 7129 w 7680"/>
              <a:gd name="T13" fmla="*/ 24 h 981"/>
              <a:gd name="T14" fmla="*/ 7600 w 7680"/>
              <a:gd name="T15" fmla="*/ 113 h 981"/>
              <a:gd name="T16" fmla="*/ 7680 w 7680"/>
              <a:gd name="T17" fmla="*/ 125 h 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80" h="981">
                <a:moveTo>
                  <a:pt x="0" y="161"/>
                </a:moveTo>
                <a:cubicBezTo>
                  <a:pt x="0" y="161"/>
                  <a:pt x="24" y="161"/>
                  <a:pt x="72" y="206"/>
                </a:cubicBezTo>
                <a:cubicBezTo>
                  <a:pt x="291" y="408"/>
                  <a:pt x="934" y="981"/>
                  <a:pt x="1481" y="981"/>
                </a:cubicBezTo>
                <a:cubicBezTo>
                  <a:pt x="2066" y="981"/>
                  <a:pt x="2491" y="657"/>
                  <a:pt x="3046" y="626"/>
                </a:cubicBezTo>
                <a:cubicBezTo>
                  <a:pt x="3500" y="599"/>
                  <a:pt x="4040" y="849"/>
                  <a:pt x="4584" y="843"/>
                </a:cubicBezTo>
                <a:cubicBezTo>
                  <a:pt x="4831" y="842"/>
                  <a:pt x="5490" y="753"/>
                  <a:pt x="5795" y="611"/>
                </a:cubicBezTo>
                <a:cubicBezTo>
                  <a:pt x="6149" y="448"/>
                  <a:pt x="6759" y="59"/>
                  <a:pt x="7129" y="24"/>
                </a:cubicBezTo>
                <a:cubicBezTo>
                  <a:pt x="7372" y="0"/>
                  <a:pt x="7429" y="70"/>
                  <a:pt x="7600" y="113"/>
                </a:cubicBezTo>
                <a:cubicBezTo>
                  <a:pt x="7648" y="125"/>
                  <a:pt x="7680" y="125"/>
                  <a:pt x="7680" y="125"/>
                </a:cubicBezTo>
              </a:path>
            </a:pathLst>
          </a:custGeom>
          <a:noFill/>
          <a:ln w="66675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Oval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10913919" y="2764026"/>
            <a:ext cx="561975" cy="554037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Oval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939574" y="3695833"/>
            <a:ext cx="561975" cy="563562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7"/>
            </p:custDataLst>
          </p:nvPr>
        </p:nvGrpSpPr>
        <p:grpSpPr>
          <a:xfrm>
            <a:off x="2314205" y="1941302"/>
            <a:ext cx="2441793" cy="2401002"/>
            <a:chOff x="2314205" y="1941302"/>
            <a:chExt cx="2441793" cy="2401002"/>
          </a:xfrm>
        </p:grpSpPr>
        <p:sp>
          <p:nvSpPr>
            <p:cNvPr id="18" name="Oval 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 rot="10800000">
              <a:off x="3725825" y="3326682"/>
              <a:ext cx="1030173" cy="1015622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Oval 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10800000">
              <a:off x="2314205" y="1941302"/>
              <a:ext cx="2018309" cy="1989800"/>
            </a:xfrm>
            <a:prstGeom prst="ellipse">
              <a:avLst/>
            </a:pr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3"/>
          <p:cNvSpPr/>
          <p:nvPr>
            <p:custDataLst>
              <p:tags r:id="rId1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27"/>
          <p:cNvSpPr/>
          <p:nvPr>
            <p:custDataLst>
              <p:tags r:id="rId2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3"/>
          <p:cNvSpPr/>
          <p:nvPr>
            <p:custDataLst>
              <p:tags r:id="rId1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27"/>
          <p:cNvSpPr/>
          <p:nvPr>
            <p:custDataLst>
              <p:tags r:id="rId2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3"/>
          <p:cNvSpPr/>
          <p:nvPr>
            <p:custDataLst>
              <p:tags r:id="rId1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27"/>
          <p:cNvSpPr/>
          <p:nvPr>
            <p:custDataLst>
              <p:tags r:id="rId2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3"/>
          <p:cNvSpPr/>
          <p:nvPr>
            <p:custDataLst>
              <p:tags r:id="rId1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27"/>
          <p:cNvSpPr/>
          <p:nvPr>
            <p:custDataLst>
              <p:tags r:id="rId2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3"/>
          <p:cNvSpPr/>
          <p:nvPr>
            <p:custDataLst>
              <p:tags r:id="rId1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27"/>
          <p:cNvSpPr/>
          <p:nvPr>
            <p:custDataLst>
              <p:tags r:id="rId2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2020/9/2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3"/>
          <p:cNvSpPr/>
          <p:nvPr>
            <p:custDataLst>
              <p:tags r:id="rId1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27"/>
          <p:cNvSpPr/>
          <p:nvPr>
            <p:custDataLst>
              <p:tags r:id="rId2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3"/>
          <p:cNvSpPr/>
          <p:nvPr>
            <p:custDataLst>
              <p:tags r:id="rId1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27"/>
          <p:cNvSpPr/>
          <p:nvPr>
            <p:custDataLst>
              <p:tags r:id="rId2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Freeform 5"/>
          <p:cNvSpPr/>
          <p:nvPr>
            <p:custDataLst>
              <p:tags r:id="rId2"/>
            </p:custDataLst>
          </p:nvPr>
        </p:nvSpPr>
        <p:spPr bwMode="auto">
          <a:xfrm>
            <a:off x="0" y="4949825"/>
            <a:ext cx="12225342" cy="1908175"/>
          </a:xfrm>
          <a:custGeom>
            <a:avLst/>
            <a:gdLst>
              <a:gd name="T0" fmla="*/ 7680 w 7680"/>
              <a:gd name="T1" fmla="*/ 1201 h 1201"/>
              <a:gd name="T2" fmla="*/ 0 w 7680"/>
              <a:gd name="T3" fmla="*/ 1201 h 1201"/>
              <a:gd name="T4" fmla="*/ 0 w 7680"/>
              <a:gd name="T5" fmla="*/ 121 h 1201"/>
              <a:gd name="T6" fmla="*/ 5064 w 7680"/>
              <a:gd name="T7" fmla="*/ 337 h 1201"/>
              <a:gd name="T8" fmla="*/ 7680 w 7680"/>
              <a:gd name="T9" fmla="*/ 121 h 1201"/>
              <a:gd name="T10" fmla="*/ 7680 w 7680"/>
              <a:gd name="T11" fmla="*/ 1201 h 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80" h="1201">
                <a:moveTo>
                  <a:pt x="7680" y="1201"/>
                </a:moveTo>
                <a:cubicBezTo>
                  <a:pt x="0" y="1201"/>
                  <a:pt x="0" y="1201"/>
                  <a:pt x="0" y="1201"/>
                </a:cubicBezTo>
                <a:cubicBezTo>
                  <a:pt x="0" y="121"/>
                  <a:pt x="0" y="121"/>
                  <a:pt x="0" y="121"/>
                </a:cubicBezTo>
                <a:cubicBezTo>
                  <a:pt x="0" y="121"/>
                  <a:pt x="2760" y="1033"/>
                  <a:pt x="5064" y="337"/>
                </a:cubicBezTo>
                <a:cubicBezTo>
                  <a:pt x="6178" y="0"/>
                  <a:pt x="7680" y="121"/>
                  <a:pt x="7680" y="121"/>
                </a:cubicBezTo>
                <a:lnTo>
                  <a:pt x="7680" y="1201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2577326" y="2161229"/>
            <a:ext cx="5426076" cy="2374052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88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2" name="Freeform 5"/>
          <p:cNvSpPr/>
          <p:nvPr>
            <p:custDataLst>
              <p:tags r:id="rId4"/>
            </p:custDataLst>
          </p:nvPr>
        </p:nvSpPr>
        <p:spPr bwMode="auto">
          <a:xfrm>
            <a:off x="0" y="4683126"/>
            <a:ext cx="12192000" cy="1557337"/>
          </a:xfrm>
          <a:custGeom>
            <a:avLst/>
            <a:gdLst>
              <a:gd name="T0" fmla="*/ 0 w 7680"/>
              <a:gd name="T1" fmla="*/ 161 h 981"/>
              <a:gd name="T2" fmla="*/ 72 w 7680"/>
              <a:gd name="T3" fmla="*/ 206 h 981"/>
              <a:gd name="T4" fmla="*/ 1481 w 7680"/>
              <a:gd name="T5" fmla="*/ 981 h 981"/>
              <a:gd name="T6" fmla="*/ 3046 w 7680"/>
              <a:gd name="T7" fmla="*/ 626 h 981"/>
              <a:gd name="T8" fmla="*/ 4584 w 7680"/>
              <a:gd name="T9" fmla="*/ 843 h 981"/>
              <a:gd name="T10" fmla="*/ 5795 w 7680"/>
              <a:gd name="T11" fmla="*/ 611 h 981"/>
              <a:gd name="T12" fmla="*/ 7129 w 7680"/>
              <a:gd name="T13" fmla="*/ 24 h 981"/>
              <a:gd name="T14" fmla="*/ 7600 w 7680"/>
              <a:gd name="T15" fmla="*/ 113 h 981"/>
              <a:gd name="T16" fmla="*/ 7680 w 7680"/>
              <a:gd name="T17" fmla="*/ 125 h 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80" h="981">
                <a:moveTo>
                  <a:pt x="0" y="161"/>
                </a:moveTo>
                <a:cubicBezTo>
                  <a:pt x="0" y="161"/>
                  <a:pt x="24" y="161"/>
                  <a:pt x="72" y="206"/>
                </a:cubicBezTo>
                <a:cubicBezTo>
                  <a:pt x="291" y="408"/>
                  <a:pt x="934" y="981"/>
                  <a:pt x="1481" y="981"/>
                </a:cubicBezTo>
                <a:cubicBezTo>
                  <a:pt x="2066" y="981"/>
                  <a:pt x="2491" y="657"/>
                  <a:pt x="3046" y="626"/>
                </a:cubicBezTo>
                <a:cubicBezTo>
                  <a:pt x="3500" y="599"/>
                  <a:pt x="4040" y="849"/>
                  <a:pt x="4584" y="843"/>
                </a:cubicBezTo>
                <a:cubicBezTo>
                  <a:pt x="4831" y="842"/>
                  <a:pt x="5490" y="753"/>
                  <a:pt x="5795" y="611"/>
                </a:cubicBezTo>
                <a:cubicBezTo>
                  <a:pt x="6149" y="448"/>
                  <a:pt x="6759" y="59"/>
                  <a:pt x="7129" y="24"/>
                </a:cubicBezTo>
                <a:cubicBezTo>
                  <a:pt x="7372" y="0"/>
                  <a:pt x="7429" y="70"/>
                  <a:pt x="7600" y="113"/>
                </a:cubicBezTo>
                <a:cubicBezTo>
                  <a:pt x="7648" y="125"/>
                  <a:pt x="7680" y="125"/>
                  <a:pt x="7680" y="125"/>
                </a:cubicBezTo>
              </a:path>
            </a:pathLst>
          </a:custGeom>
          <a:noFill/>
          <a:ln w="66675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Oval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1734363" y="3255705"/>
            <a:ext cx="561975" cy="563562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5BD1E-BCA1-4FF6-A972-8D05EDB86C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628303"/>
      </p:ext>
    </p:extLst>
  </p:cSld>
  <p:clrMapOvr>
    <a:masterClrMapping/>
  </p:clrMapOvr>
  <p:transition spd="med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2020/9/2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fontAlgn="auto" latinLnBrk="0" hangingPunct="1">
        <a:lnSpc>
          <a:spcPct val="12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D:\PPT&#27169;&#26495;\ppt146\&#20986;&#27700;&#33714;%20&#21476;&#31581;.mp3" TargetMode="Externa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34964" y="2629832"/>
            <a:ext cx="323293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400" b="1" dirty="0" smtClean="0"/>
              <a:t>体味文化</a:t>
            </a:r>
            <a:endParaRPr lang="zh-CN" altLang="en-US" sz="5400" b="1" dirty="0"/>
          </a:p>
        </p:txBody>
      </p:sp>
    </p:spTree>
    <p:custDataLst>
      <p:tags r:id="rId1"/>
    </p:custDataLst>
  </p:cSld>
  <p:clrMapOvr>
    <a:masterClrMapping/>
  </p:clrMapOvr>
  <p:transition>
    <p:split orient="vert"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1625601" y="1268413"/>
            <a:ext cx="17091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第一单元 </a:t>
            </a:r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5808134" y="1177925"/>
            <a:ext cx="44935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CC"/>
                </a:solidFill>
                <a:latin typeface="华文新魏" pitchFamily="2" charset="-122"/>
                <a:ea typeface="华文新魏" pitchFamily="2" charset="-122"/>
              </a:rPr>
              <a:t>文化概念的界定、文化的作用</a:t>
            </a:r>
          </a:p>
          <a:p>
            <a:pPr eaLnBrk="1" hangingPunct="1"/>
            <a:r>
              <a:rPr lang="zh-CN" altLang="en-US" sz="2400" b="1">
                <a:ea typeface="华文新魏" pitchFamily="2" charset="-122"/>
              </a:rPr>
              <a:t>文化</a:t>
            </a:r>
            <a:r>
              <a:rPr lang="zh-CN" altLang="en-US" sz="2400" b="1">
                <a:latin typeface="华文新魏" pitchFamily="2" charset="-122"/>
                <a:ea typeface="华文新魏" pitchFamily="2" charset="-122"/>
              </a:rPr>
              <a:t>的意义</a:t>
            </a:r>
            <a:r>
              <a:rPr lang="zh-CN" altLang="en-US" sz="2400" b="1">
                <a:ea typeface="华文新魏" pitchFamily="2" charset="-122"/>
              </a:rPr>
              <a:t>：文化与经济、政治</a:t>
            </a:r>
            <a:endParaRPr lang="zh-CN" altLang="en-US" sz="2400" b="1">
              <a:latin typeface="宋体" pitchFamily="2" charset="-122"/>
              <a:ea typeface="华文新魏" pitchFamily="2" charset="-122"/>
            </a:endParaRPr>
          </a:p>
          <a:p>
            <a:pPr eaLnBrk="1" hangingPunct="1"/>
            <a:endParaRPr lang="zh-CN" altLang="en-US" sz="2400" b="1">
              <a:ea typeface="隶书" pitchFamily="49" charset="-122"/>
            </a:endParaRP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1625601" y="2411413"/>
            <a:ext cx="17091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第二单元 </a:t>
            </a:r>
          </a:p>
        </p:txBody>
      </p:sp>
      <p:sp>
        <p:nvSpPr>
          <p:cNvPr id="145414" name="Rectangle 6"/>
          <p:cNvSpPr>
            <a:spLocks noChangeArrowheads="1"/>
          </p:cNvSpPr>
          <p:nvPr/>
        </p:nvSpPr>
        <p:spPr bwMode="auto">
          <a:xfrm>
            <a:off x="3888317" y="2455863"/>
            <a:ext cx="1727200" cy="533400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 怎么做 </a:t>
            </a:r>
          </a:p>
        </p:txBody>
      </p:sp>
      <p:sp>
        <p:nvSpPr>
          <p:cNvPr id="145415" name="Rectangle 7"/>
          <p:cNvSpPr>
            <a:spLocks noChangeArrowheads="1"/>
          </p:cNvSpPr>
          <p:nvPr/>
        </p:nvSpPr>
        <p:spPr bwMode="auto">
          <a:xfrm>
            <a:off x="3888317" y="1236663"/>
            <a:ext cx="1727200" cy="533400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 是什么 </a:t>
            </a:r>
          </a:p>
        </p:txBody>
      </p:sp>
      <p:sp>
        <p:nvSpPr>
          <p:cNvPr id="145416" name="Line 8"/>
          <p:cNvSpPr>
            <a:spLocks noChangeShapeType="1"/>
          </p:cNvSpPr>
          <p:nvPr/>
        </p:nvSpPr>
        <p:spPr bwMode="auto">
          <a:xfrm>
            <a:off x="4656667" y="1846263"/>
            <a:ext cx="0" cy="609600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7" name="Rectangle 9"/>
          <p:cNvSpPr>
            <a:spLocks noChangeArrowheads="1"/>
          </p:cNvSpPr>
          <p:nvPr/>
        </p:nvSpPr>
        <p:spPr bwMode="auto">
          <a:xfrm>
            <a:off x="334433" y="3795714"/>
            <a:ext cx="914400" cy="2041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中</a:t>
            </a:r>
          </a:p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国</a:t>
            </a:r>
          </a:p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文</a:t>
            </a:r>
          </a:p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化</a:t>
            </a:r>
          </a:p>
        </p:txBody>
      </p:sp>
      <p:sp>
        <p:nvSpPr>
          <p:cNvPr id="145418" name="Rectangle 10"/>
          <p:cNvSpPr>
            <a:spLocks noChangeArrowheads="1"/>
          </p:cNvSpPr>
          <p:nvPr/>
        </p:nvSpPr>
        <p:spPr bwMode="auto">
          <a:xfrm>
            <a:off x="334433" y="1052514"/>
            <a:ext cx="914400" cy="2041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文</a:t>
            </a:r>
          </a:p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化</a:t>
            </a:r>
          </a:p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一</a:t>
            </a:r>
          </a:p>
          <a:p>
            <a:pPr algn="ctr"/>
            <a:r>
              <a:rPr lang="zh-CN" altLang="en-US" sz="2800" b="1">
                <a:solidFill>
                  <a:schemeClr val="accent2"/>
                </a:solidFill>
                <a:latin typeface="Times New Roman" pitchFamily="18" charset="0"/>
                <a:ea typeface="黑体" pitchFamily="49" charset="-122"/>
              </a:rPr>
              <a:t>般</a:t>
            </a:r>
          </a:p>
        </p:txBody>
      </p:sp>
      <p:sp>
        <p:nvSpPr>
          <p:cNvPr id="145419" name="Text Box 11"/>
          <p:cNvSpPr txBox="1">
            <a:spLocks noChangeArrowheads="1"/>
          </p:cNvSpPr>
          <p:nvPr/>
        </p:nvSpPr>
        <p:spPr bwMode="auto">
          <a:xfrm>
            <a:off x="1625601" y="4011613"/>
            <a:ext cx="17091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第三单元 </a:t>
            </a:r>
          </a:p>
        </p:txBody>
      </p:sp>
      <p:sp>
        <p:nvSpPr>
          <p:cNvPr id="145420" name="Text Box 12"/>
          <p:cNvSpPr txBox="1">
            <a:spLocks noChangeArrowheads="1"/>
          </p:cNvSpPr>
          <p:nvPr/>
        </p:nvSpPr>
        <p:spPr bwMode="auto">
          <a:xfrm>
            <a:off x="1625601" y="5160963"/>
            <a:ext cx="17091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第四单元 </a:t>
            </a:r>
          </a:p>
        </p:txBody>
      </p:sp>
      <p:sp>
        <p:nvSpPr>
          <p:cNvPr id="145421" name="Rectangle 13"/>
          <p:cNvSpPr>
            <a:spLocks noChangeArrowheads="1"/>
          </p:cNvSpPr>
          <p:nvPr/>
        </p:nvSpPr>
        <p:spPr bwMode="auto">
          <a:xfrm>
            <a:off x="3888317" y="5199063"/>
            <a:ext cx="1727200" cy="533400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  怎么办  </a:t>
            </a:r>
          </a:p>
        </p:txBody>
      </p:sp>
      <p:sp>
        <p:nvSpPr>
          <p:cNvPr id="145422" name="Rectangle 14"/>
          <p:cNvSpPr>
            <a:spLocks noChangeArrowheads="1"/>
          </p:cNvSpPr>
          <p:nvPr/>
        </p:nvSpPr>
        <p:spPr bwMode="auto">
          <a:xfrm>
            <a:off x="3888317" y="3979863"/>
            <a:ext cx="1727200" cy="533400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 怎么看 </a:t>
            </a:r>
          </a:p>
        </p:txBody>
      </p:sp>
      <p:sp>
        <p:nvSpPr>
          <p:cNvPr id="145423" name="Line 15"/>
          <p:cNvSpPr>
            <a:spLocks noChangeShapeType="1"/>
          </p:cNvSpPr>
          <p:nvPr/>
        </p:nvSpPr>
        <p:spPr bwMode="auto">
          <a:xfrm>
            <a:off x="4656667" y="4589463"/>
            <a:ext cx="0" cy="609600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24" name="Text Box 16"/>
          <p:cNvSpPr txBox="1">
            <a:spLocks noChangeArrowheads="1"/>
          </p:cNvSpPr>
          <p:nvPr/>
        </p:nvSpPr>
        <p:spPr bwMode="auto">
          <a:xfrm>
            <a:off x="5892800" y="2400301"/>
            <a:ext cx="4493538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CC"/>
                </a:solidFill>
                <a:latin typeface="华文新魏" pitchFamily="2" charset="-122"/>
                <a:ea typeface="华文新魏" pitchFamily="2" charset="-122"/>
              </a:rPr>
              <a:t>文化自身发展的一般过程</a:t>
            </a:r>
          </a:p>
          <a:p>
            <a:pPr eaLnBrk="1" hangingPunct="1"/>
            <a:r>
              <a:rPr lang="zh-CN" altLang="en-US" sz="2400" b="1">
                <a:latin typeface="华文新魏" pitchFamily="2" charset="-122"/>
                <a:ea typeface="华文新魏" pitchFamily="2" charset="-122"/>
              </a:rPr>
              <a:t>文化的传承：传播、继承与创新</a:t>
            </a:r>
          </a:p>
          <a:p>
            <a:pPr eaLnBrk="1" hangingPunct="1"/>
            <a:endParaRPr lang="zh-CN" altLang="en-US" sz="2800" b="1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5425" name="Line 17"/>
          <p:cNvSpPr>
            <a:spLocks noChangeShapeType="1"/>
          </p:cNvSpPr>
          <p:nvPr/>
        </p:nvSpPr>
        <p:spPr bwMode="auto">
          <a:xfrm>
            <a:off x="4656667" y="3065463"/>
            <a:ext cx="0" cy="838200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26" name="Text Box 18"/>
          <p:cNvSpPr txBox="1">
            <a:spLocks noChangeArrowheads="1"/>
          </p:cNvSpPr>
          <p:nvPr/>
        </p:nvSpPr>
        <p:spPr bwMode="auto">
          <a:xfrm>
            <a:off x="6000751" y="3913188"/>
            <a:ext cx="357020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中华文化的精髓</a:t>
            </a:r>
          </a:p>
          <a:p>
            <a:pPr eaLnBrk="1" hangingPunct="1"/>
            <a:r>
              <a:rPr lang="zh-CN" altLang="en-US" sz="2400" b="1">
                <a:latin typeface="华文新魏" pitchFamily="2" charset="-122"/>
                <a:ea typeface="华文新魏" pitchFamily="2" charset="-122"/>
              </a:rPr>
              <a:t>文化认同：中华民族精神</a:t>
            </a:r>
          </a:p>
          <a:p>
            <a:pPr eaLnBrk="1" hangingPunct="1"/>
            <a:endParaRPr lang="zh-CN" altLang="en-US" sz="2400" b="1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5427" name="Text Box 19"/>
          <p:cNvSpPr txBox="1">
            <a:spLocks noChangeArrowheads="1"/>
          </p:cNvSpPr>
          <p:nvPr/>
        </p:nvSpPr>
        <p:spPr bwMode="auto">
          <a:xfrm>
            <a:off x="5979584" y="5137150"/>
            <a:ext cx="364555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99"/>
                </a:solidFill>
                <a:latin typeface="华文新魏" pitchFamily="2" charset="-122"/>
                <a:ea typeface="华文新魏" pitchFamily="2" charset="-122"/>
              </a:rPr>
              <a:t>文化建设的基本要求</a:t>
            </a:r>
          </a:p>
          <a:p>
            <a:pPr eaLnBrk="1" hangingPunct="1"/>
            <a:r>
              <a:rPr lang="zh-CN" altLang="en-US" sz="2400" b="1">
                <a:latin typeface="华文新魏" pitchFamily="2" charset="-122"/>
                <a:ea typeface="华文新魏" pitchFamily="2" charset="-122"/>
              </a:rPr>
              <a:t>文化选择 ：当代文化生活</a:t>
            </a:r>
          </a:p>
          <a:p>
            <a:pPr eaLnBrk="1" hangingPunct="1"/>
            <a:endParaRPr lang="zh-CN" altLang="en-US" sz="2400" b="1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                  </a:t>
            </a:r>
          </a:p>
        </p:txBody>
      </p:sp>
      <p:sp>
        <p:nvSpPr>
          <p:cNvPr id="145428" name="AutoShape 20"/>
          <p:cNvSpPr>
            <a:spLocks/>
          </p:cNvSpPr>
          <p:nvPr/>
        </p:nvSpPr>
        <p:spPr bwMode="auto">
          <a:xfrm>
            <a:off x="1390652" y="1484313"/>
            <a:ext cx="95249" cy="1346200"/>
          </a:xfrm>
          <a:prstGeom prst="leftBrace">
            <a:avLst>
              <a:gd name="adj1" fmla="val 1566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9" name="AutoShape 21"/>
          <p:cNvSpPr>
            <a:spLocks/>
          </p:cNvSpPr>
          <p:nvPr/>
        </p:nvSpPr>
        <p:spPr bwMode="auto">
          <a:xfrm>
            <a:off x="1390652" y="4170363"/>
            <a:ext cx="95249" cy="1346200"/>
          </a:xfrm>
          <a:prstGeom prst="leftBrace">
            <a:avLst>
              <a:gd name="adj1" fmla="val 1566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" name="WordArt 22"/>
          <p:cNvSpPr>
            <a:spLocks noChangeArrowheads="1" noChangeShapeType="1" noTextEdit="1"/>
          </p:cNvSpPr>
          <p:nvPr/>
        </p:nvSpPr>
        <p:spPr bwMode="auto">
          <a:xfrm>
            <a:off x="3088218" y="188913"/>
            <a:ext cx="56007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625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宋体"/>
                <a:ea typeface="宋体"/>
              </a:rPr>
              <a:t>文化生活的整体结构</a:t>
            </a:r>
          </a:p>
        </p:txBody>
      </p:sp>
    </p:spTree>
    <p:extLst>
      <p:ext uri="{BB962C8B-B14F-4D97-AF65-F5344CB8AC3E}">
        <p14:creationId xmlns:p14="http://schemas.microsoft.com/office/powerpoint/2010/main" val="2985114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5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5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4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4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/>
      <p:bldP spid="145412" grpId="0"/>
      <p:bldP spid="145413" grpId="0"/>
      <p:bldP spid="145414" grpId="0" animBg="1"/>
      <p:bldP spid="145415" grpId="0" animBg="1"/>
      <p:bldP spid="145416" grpId="0" animBg="1"/>
      <p:bldP spid="145417" grpId="0" animBg="1"/>
      <p:bldP spid="145418" grpId="0" animBg="1"/>
      <p:bldP spid="145419" grpId="0"/>
      <p:bldP spid="145420" grpId="0"/>
      <p:bldP spid="145421" grpId="0" animBg="1"/>
      <p:bldP spid="145422" grpId="0" animBg="1"/>
      <p:bldP spid="145423" grpId="0" animBg="1"/>
      <p:bldP spid="145424" grpId="0"/>
      <p:bldP spid="145425" grpId="0" animBg="1"/>
      <p:bldP spid="145426" grpId="0"/>
      <p:bldP spid="145427" grpId="0"/>
      <p:bldP spid="145428" grpId="0" animBg="1"/>
      <p:bldP spid="1454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368800" y="601664"/>
            <a:ext cx="4775200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ctr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4400" b="1">
                <a:latin typeface="方正黄草简体" pitchFamily="65" charset="-122"/>
                <a:ea typeface="方正黄草简体" pitchFamily="65" charset="-122"/>
              </a:rPr>
              <a:t>文化生活</a:t>
            </a:r>
          </a:p>
        </p:txBody>
      </p:sp>
      <p:pic>
        <p:nvPicPr>
          <p:cNvPr id="11276" name="Picture 12" descr="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5495926"/>
            <a:ext cx="2366433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0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89626"/>
            <a:ext cx="4349751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3" descr="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084" y="6046788"/>
            <a:ext cx="3860800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8" name="Picture 14" descr="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1" y="5943600"/>
            <a:ext cx="3274484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3759200" y="1414464"/>
            <a:ext cx="75184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ctr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4400" b="1">
                <a:latin typeface="方正黄草简体" pitchFamily="65" charset="-122"/>
                <a:ea typeface="方正黄草简体" pitchFamily="65" charset="-122"/>
              </a:rPr>
              <a:t>第一单元 文化与生活</a:t>
            </a:r>
            <a:endParaRPr lang="en-US" altLang="zh-CN" sz="4400" b="1">
              <a:latin typeface="方正黄草简体" pitchFamily="65" charset="-122"/>
              <a:ea typeface="方正黄草简体" pitchFamily="65" charset="-122"/>
            </a:endParaRPr>
          </a:p>
        </p:txBody>
      </p:sp>
      <p:pic>
        <p:nvPicPr>
          <p:cNvPr id="11281" name="Picture 17" descr="内页祥云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1" y="3505201"/>
            <a:ext cx="17145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2" name="Picture 18" descr="内页祥云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259014"/>
            <a:ext cx="11684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 descr="未命名-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133" y="457200"/>
            <a:ext cx="465667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91" name="出水莲 古筝.mp3">
            <a:hlinkClick r:id="" action="ppaction://media"/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324600"/>
            <a:ext cx="40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3657600" y="2819400"/>
            <a:ext cx="7518400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ctr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4400" b="1">
                <a:latin typeface="方正黄草简体" pitchFamily="65" charset="-122"/>
                <a:ea typeface="方正黄草简体" pitchFamily="65" charset="-122"/>
              </a:rPr>
              <a:t>第一课 文化与社会</a:t>
            </a:r>
            <a:endParaRPr lang="en-US" altLang="zh-CN" sz="4400" b="1">
              <a:latin typeface="方正黄草简体" pitchFamily="65" charset="-122"/>
              <a:ea typeface="方正黄草简体" pitchFamily="65" charset="-122"/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3454400" y="4343400"/>
            <a:ext cx="7518400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ctr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4400" b="1">
                <a:latin typeface="方正黄草简体" pitchFamily="65" charset="-122"/>
                <a:ea typeface="方正黄草简体" pitchFamily="65" charset="-122"/>
              </a:rPr>
              <a:t>第一框 体味文化</a:t>
            </a:r>
            <a:endParaRPr lang="en-US" altLang="zh-CN" sz="4400" b="1">
              <a:latin typeface="方正黄草简体" pitchFamily="65" charset="-122"/>
              <a:ea typeface="方正黄草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546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2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repeatCount="indefinite" accel="50000" decel="5000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2.22222E-6 3.33333E-6 L 0.02309 -0.00047 " pathEditMode="relative" rAng="0" ptsTypes="AA">
                                      <p:cBhvr>
                                        <p:cTn id="22" dur="3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10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5" presetClass="path" presetSubtype="0" repeatCount="indefinite" accel="50000" decel="50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833 -2.59259E-6 L -0.0092 -2.59259E-6 " pathEditMode="relative" rAng="0" ptsTypes="AA">
                                      <p:cBhvr>
                                        <p:cTn id="27" dur="4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90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0.05926 C 0.00365 0.0625 -0.00399 0.0581 0.00174 0.06481 C 0.00365 0.06689 0.00799 0.07037 0.00799 0.0706 C 0.02153 0.0699 0.03507 0.0699 0.04861 0.06898 C 0.05122 0.06875 0.05573 0.06504 0.05799 0.06342 C 0.06024 0.0618 0.06424 0.05787 0.06424 0.0581 C 0.07049 0.05949 0.07413 0.06412 0.07986 0.06759 C 0.08195 0.06875 0.08611 0.07037 0.08611 0.0706 C 0.09132 0.08078 0.10139 0.07523 0.11007 0.07453 C 0.11424 0.07268 0.11632 0.07037 0.11945 0.0662 C 0.12031 0.06296 0.11962 0.05856 0.12153 0.05648 C 0.12326 0.05463 0.12778 0.0537 0.12778 0.05393 C 0.13594 0.05509 0.14254 0.0581 0.1507 0.05926 C 0.15573 0.06157 0.16007 0.06597 0.16528 0.06759 C 0.16806 0.06851 0.17361 0.07037 0.17361 0.0706 C 0.1783 0.07453 0.17847 0.08171 0.18403 0.08426 C 0.18785 0.08333 0.19219 0.08426 0.19549 0.08148 C 0.1967 0.08055 0.19445 0.07777 0.19445 0.07592 C 0.19445 0.07361 0.19427 0.0706 0.19549 0.06898 C 0.19705 0.06689 0.19965 0.06713 0.20174 0.0662 C 0.20417 0.06504 0.20799 0.06064 0.20799 0.06088 C 0.22118 0.06111 0.23438 0.05995 0.24757 0.06203 C 0.25226 0.06273 0.25295 0.06851 0.25695 0.07037 C 0.25903 0.07129 0.2632 0.07314 0.2632 0.07338 C 0.27535 0.07268 0.2875 0.07291 0.29965 0.07176 C 0.30365 0.07129 0.31111 0.0662 0.31111 0.06643 C 0.31632 0.05555 0.31858 0.05949 0.32986 0.06064 C 0.33438 0.06481 0.33976 0.06782 0.33195 0.08009 C 0.32969 0.08356 0.325 0.08101 0.32153 0.08148 C 0.26597 0.10625 0.2401 0.11967 0.1559 0.15787 C 0.15885 0.16365 0.1625 0.16689 0.16736 0.16898 C 0.17899 0.16828 0.20035 0.17014 0.21215 0.16481 C 0.21354 0.1662 0.21528 0.16713 0.21632 0.16898 C 0.21701 0.17014 0.21632 0.17314 0.21736 0.17314 C 0.21858 0.17314 0.2184 0.17014 0.21945 0.16898 C 0.22031 0.16805 0.22153 0.16828 0.22257 0.16759 C 0.22795 0.16412 0.23247 0.15972 0.2382 0.15787 C 0.2408 0.15277 0.24323 0.15139 0.24757 0.14953 C 0.24844 0.14953 0.25938 0.14953 0.2632 0.15231 C 0.26424 0.15301 0.27344 0.16342 0.2757 0.16342 C 0.29896 0.16389 0.32222 0.16435 0.34549 0.16481 C 0.34826 0.16736 0.35469 0.17037 0.35469 0.1706 C 0.36528 0.1699 0.3757 0.17014 0.38594 0.16898 C 0.38941 0.16851 0.39549 0.16342 0.39549 0.16365 C 0.40695 0.16389 0.4184 0.16319 0.42969 0.16481 C 0.43281 0.16527 0.44236 0.17291 0.44635 0.17453 C 0.46441 0.17361 0.475 0.17245 0.49132 0.17037 C 0.50417 0.17176 0.50851 0.17592 0.52153 0.17731 C 0.52014 0.18009 0.51736 0.18564 0.51736 0.18588 " pathEditMode="relative" rAng="0" ptsTypes="ffffffffffffffffffffffffffffffffffffffffffffffffA">
                                      <p:cBhvr>
                                        <p:cTn id="32" dur="14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26200" y="600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8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5" presetClass="path" presetSubtype="0" repeatCount="indefinite" accel="50000" decel="50000" autoRev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8.33333E-7 0 L -0.01806 0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90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4.44444E-6 L -0.01458 4.44444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50" presetID="0" presetClass="pat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91 0.18867 L 0.5191 0.16462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6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6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58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291"/>
                </p:tgtEl>
              </p:cMediaNode>
            </p:audio>
          </p:childTnLst>
        </p:cTn>
      </p:par>
    </p:tnLst>
    <p:bldLst>
      <p:bldP spid="11270" grpId="0"/>
      <p:bldP spid="11280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431800" y="909639"/>
            <a:ext cx="10560051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6000" b="1">
                <a:solidFill>
                  <a:srgbClr val="0000FF"/>
                </a:solidFill>
                <a:sym typeface="宋体" pitchFamily="2" charset="-122"/>
              </a:rPr>
              <a:t>一、文化万花筒</a:t>
            </a:r>
            <a:endParaRPr lang="zh-CN" altLang="en-US" sz="2800" b="1">
              <a:sym typeface="宋体" pitchFamily="2" charset="-122"/>
            </a:endParaRPr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927463" y="2460078"/>
            <a:ext cx="10567851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ym typeface="宋体" pitchFamily="2" charset="-122"/>
              </a:rPr>
              <a:t>“文化”是一个我们十分熟悉、非常亲近的词汇，但我们却不一定真正懂得“文化”的内涵。有人认为文化是知识，有人认为文化是艺术。那么，</a:t>
            </a:r>
            <a:r>
              <a:rPr lang="zh-CN" altLang="en-US" sz="3200" b="1" dirty="0">
                <a:sym typeface="宋体" pitchFamily="2" charset="-122"/>
              </a:rPr>
              <a:t>究竟什么是”文化“？</a:t>
            </a:r>
            <a:r>
              <a:rPr lang="zh-CN" altLang="en-US" sz="3200" b="1" dirty="0">
                <a:solidFill>
                  <a:srgbClr val="FF0066"/>
                </a:solidFill>
                <a:sym typeface="宋体" pitchFamily="2" charset="-122"/>
              </a:rPr>
              <a:t>我们还是从一些文化现象说起？</a:t>
            </a:r>
            <a:r>
              <a:rPr lang="zh-CN" altLang="en-US" sz="3200" dirty="0">
                <a:sym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5045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00000081816125530910225245_1024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98" t="11111" r="7936"/>
          <a:stretch>
            <a:fillRect/>
          </a:stretch>
        </p:blipFill>
        <p:spPr bwMode="auto">
          <a:xfrm>
            <a:off x="4176184" y="0"/>
            <a:ext cx="4267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4" descr="0856200"/>
          <p:cNvPicPr>
            <a:picLocks noChangeAspect="1" noChangeArrowheads="1"/>
          </p:cNvPicPr>
          <p:nvPr/>
        </p:nvPicPr>
        <p:blipFill>
          <a:blip r:embed="rId3">
            <a:lum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9" t="8109" r="5600"/>
          <a:stretch>
            <a:fillRect/>
          </a:stretch>
        </p:blipFill>
        <p:spPr bwMode="auto">
          <a:xfrm>
            <a:off x="0" y="0"/>
            <a:ext cx="42672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8" name="矩形 8"/>
          <p:cNvSpPr>
            <a:spLocks noChangeArrowheads="1"/>
          </p:cNvSpPr>
          <p:nvPr/>
        </p:nvSpPr>
        <p:spPr bwMode="auto">
          <a:xfrm>
            <a:off x="3215217" y="188913"/>
            <a:ext cx="345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图 腾 崇 拜</a:t>
            </a:r>
          </a:p>
        </p:txBody>
      </p:sp>
      <p:sp>
        <p:nvSpPr>
          <p:cNvPr id="7176" name="WordArt 8"/>
          <p:cNvSpPr>
            <a:spLocks noChangeArrowheads="1" noChangeShapeType="1" noTextEdit="1"/>
          </p:cNvSpPr>
          <p:nvPr/>
        </p:nvSpPr>
        <p:spPr bwMode="auto">
          <a:xfrm>
            <a:off x="624417" y="692150"/>
            <a:ext cx="9652000" cy="510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  <a:scene3d>
              <a:camera prst="legacyPerspectiveFront">
                <a:rot lat="2051999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zh-CN" altLang="en-US" sz="6000" b="1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/>
                <a:ea typeface="宋体"/>
              </a:rPr>
              <a:t>文化现象无时不在</a:t>
            </a:r>
          </a:p>
        </p:txBody>
      </p:sp>
    </p:spTree>
    <p:extLst>
      <p:ext uri="{BB962C8B-B14F-4D97-AF65-F5344CB8AC3E}">
        <p14:creationId xmlns:p14="http://schemas.microsoft.com/office/powerpoint/2010/main" val="342201660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92" decel="100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192" decel="100000"/>
                                        <p:tgtEl>
                                          <p:spTgt spid="717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192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192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4191000" y="1285876"/>
            <a:ext cx="7586133" cy="4580165"/>
          </a:xfrm>
          <a:prstGeom prst="rect">
            <a:avLst/>
          </a:prstGeom>
          <a:solidFill>
            <a:srgbClr val="CC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    你不问我什么是文化的时候，我还知道文化是什么；你问我什么是文化，我反而不知道文化是什么了。   </a:t>
            </a: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     </a:t>
            </a:r>
            <a:r>
              <a:rPr lang="en-US" altLang="zh-CN" sz="3600" dirty="0">
                <a:solidFill>
                  <a:srgbClr val="0000FF"/>
                </a:solidFill>
                <a:ea typeface="仿宋_GB2312" pitchFamily="49" charset="-122"/>
              </a:rPr>
              <a:t>——</a:t>
            </a:r>
            <a:r>
              <a:rPr lang="en-US" altLang="zh-CN" sz="3600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仿宋_GB2312" pitchFamily="49" charset="-122"/>
              </a:rPr>
              <a:t>著名作家、文学研究家  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钱钟书</a:t>
            </a:r>
            <a:r>
              <a:rPr lang="zh-CN" altLang="en-US" sz="20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  <p:pic>
        <p:nvPicPr>
          <p:cNvPr id="61444" name="Picture 4" descr="cxdw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1" y="1458235"/>
            <a:ext cx="3312583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431801" y="260350"/>
            <a:ext cx="4166326" cy="6413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二、文化是什么</a:t>
            </a:r>
            <a:endParaRPr lang="en-US" altLang="zh-CN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0913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814917" y="549276"/>
            <a:ext cx="2614083" cy="64611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、含义：</a:t>
            </a:r>
            <a:endParaRPr lang="zh-CN" altLang="en-US" sz="3600" b="1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814917" y="1412876"/>
            <a:ext cx="10657416" cy="11906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0000FF"/>
                </a:solidFill>
                <a:ea typeface="华文新魏" pitchFamily="2" charset="-122"/>
              </a:rPr>
              <a:t>    是相对于</a:t>
            </a:r>
            <a:r>
              <a:rPr lang="zh-CN" altLang="en-US" sz="3600" b="1" i="1" u="sng">
                <a:solidFill>
                  <a:srgbClr val="FF0000"/>
                </a:solidFill>
                <a:ea typeface="华文新魏" pitchFamily="2" charset="-122"/>
              </a:rPr>
              <a:t>经济</a:t>
            </a:r>
            <a:r>
              <a:rPr lang="zh-CN" altLang="en-US" sz="3600" b="1">
                <a:solidFill>
                  <a:srgbClr val="FF0000"/>
                </a:solidFill>
                <a:ea typeface="华文新魏" pitchFamily="2" charset="-122"/>
              </a:rPr>
              <a:t>、</a:t>
            </a:r>
            <a:r>
              <a:rPr lang="zh-CN" altLang="en-US" sz="3600" b="1" i="1" u="sng">
                <a:solidFill>
                  <a:srgbClr val="FF0000"/>
                </a:solidFill>
                <a:ea typeface="华文新魏" pitchFamily="2" charset="-122"/>
              </a:rPr>
              <a:t>政治</a:t>
            </a:r>
            <a:r>
              <a:rPr lang="zh-CN" altLang="en-US" sz="3600" b="1">
                <a:solidFill>
                  <a:srgbClr val="0000FF"/>
                </a:solidFill>
                <a:ea typeface="华文新魏" pitchFamily="2" charset="-122"/>
              </a:rPr>
              <a:t>而言的人类全部</a:t>
            </a:r>
            <a:r>
              <a:rPr lang="zh-CN" altLang="en-US" sz="3600" b="1">
                <a:solidFill>
                  <a:srgbClr val="FF0000"/>
                </a:solidFill>
                <a:ea typeface="华文新魏" pitchFamily="2" charset="-122"/>
              </a:rPr>
              <a:t>精神</a:t>
            </a:r>
            <a:r>
              <a:rPr lang="zh-CN" altLang="en-US" sz="3600" b="1">
                <a:solidFill>
                  <a:srgbClr val="0000FF"/>
                </a:solidFill>
                <a:ea typeface="华文新魏" pitchFamily="2" charset="-122"/>
              </a:rPr>
              <a:t>活动及其产品。</a:t>
            </a: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814918" y="3633789"/>
            <a:ext cx="10655300" cy="1190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）</a:t>
            </a:r>
            <a:r>
              <a:rPr lang="zh-CN" altLang="en-US" sz="3600" b="1" i="1" u="sng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世界观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、</a:t>
            </a:r>
            <a:r>
              <a:rPr lang="zh-CN" altLang="en-US" sz="3600" b="1" i="1" u="sng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人生观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、</a:t>
            </a:r>
            <a:r>
              <a:rPr lang="zh-CN" altLang="en-US" sz="3600" b="1" i="1" u="sng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价值观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等具有</a:t>
            </a:r>
            <a:r>
              <a:rPr lang="zh-CN" altLang="en-US" sz="36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意识形态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性质的部分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814917" y="4975226"/>
            <a:ext cx="10657416" cy="1190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）</a:t>
            </a:r>
            <a:r>
              <a:rPr lang="zh-CN" altLang="en-US" sz="3600" b="1" i="1" u="sng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自然科学和技术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、</a:t>
            </a:r>
            <a:r>
              <a:rPr lang="zh-CN" altLang="en-US" sz="3600" b="1" i="1" u="sng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语言和文字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等</a:t>
            </a:r>
            <a:r>
              <a:rPr lang="zh-CN" altLang="en-US" sz="36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非意识形态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的部分</a:t>
            </a:r>
          </a:p>
        </p:txBody>
      </p:sp>
      <p:sp>
        <p:nvSpPr>
          <p:cNvPr id="62476" name="Text Box 12"/>
          <p:cNvSpPr txBox="1">
            <a:spLocks noChangeArrowheads="1"/>
          </p:cNvSpPr>
          <p:nvPr/>
        </p:nvSpPr>
        <p:spPr bwMode="auto">
          <a:xfrm>
            <a:off x="814918" y="2852738"/>
            <a:ext cx="2804583" cy="64611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36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、分类：</a:t>
            </a:r>
            <a:endParaRPr lang="zh-CN" altLang="en-US" sz="3600" b="1"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8660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nimBg="1"/>
      <p:bldP spid="62470" grpId="0" animBg="1"/>
      <p:bldP spid="62471" grpId="0" animBg="1"/>
      <p:bldP spid="624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2759898" y="765175"/>
            <a:ext cx="634492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【</a:t>
            </a:r>
            <a:r>
              <a:rPr lang="zh-CN" altLang="en-US" sz="3600" b="1" dirty="0">
                <a:solidFill>
                  <a:srgbClr val="FF0000"/>
                </a:solidFill>
              </a:rPr>
              <a:t>意识形态和非意识形态</a:t>
            </a:r>
            <a:r>
              <a:rPr lang="en-US" altLang="zh-CN" sz="3600" b="1" dirty="0">
                <a:solidFill>
                  <a:srgbClr val="FF0000"/>
                </a:solidFill>
              </a:rPr>
              <a:t>】</a:t>
            </a: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609601" y="1884197"/>
            <a:ext cx="11137900" cy="4053995"/>
          </a:xfrm>
          <a:prstGeom prst="rect">
            <a:avLst/>
          </a:prstGeom>
          <a:solidFill>
            <a:srgbClr val="E1F2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ea typeface="黑体" pitchFamily="49" charset="-122"/>
              </a:rPr>
              <a:t>意识形态：</a:t>
            </a:r>
            <a:r>
              <a:rPr lang="zh-CN" altLang="en-US" sz="2800" b="1" dirty="0">
                <a:solidFill>
                  <a:srgbClr val="0000FF"/>
                </a:solidFill>
                <a:ea typeface="仿宋_GB2312" pitchFamily="49" charset="-122"/>
              </a:rPr>
              <a:t>指反映一定社会经济形态、从而也</a:t>
            </a:r>
            <a:r>
              <a:rPr lang="zh-CN" altLang="en-US" sz="2800" b="1" dirty="0">
                <a:solidFill>
                  <a:schemeClr val="tx2"/>
                </a:solidFill>
                <a:ea typeface="仿宋_GB2312" pitchFamily="49" charset="-122"/>
              </a:rPr>
              <a:t>反映一定阶级或社会集团的利益和要求的观念体系</a:t>
            </a:r>
            <a:r>
              <a:rPr lang="zh-CN" altLang="en-US" sz="2800" b="1" dirty="0">
                <a:solidFill>
                  <a:srgbClr val="0000FF"/>
                </a:solidFill>
                <a:ea typeface="仿宋_GB2312" pitchFamily="49" charset="-122"/>
              </a:rPr>
              <a:t>，在阶级社会中具有强烈的</a:t>
            </a:r>
            <a:r>
              <a:rPr lang="zh-CN" altLang="en-US" sz="2800" b="1" dirty="0">
                <a:solidFill>
                  <a:srgbClr val="FF0000"/>
                </a:solidFill>
                <a:ea typeface="仿宋_GB2312" pitchFamily="49" charset="-122"/>
              </a:rPr>
              <a:t>阶级性</a:t>
            </a:r>
            <a:r>
              <a:rPr lang="zh-CN" altLang="en-US" sz="2800" b="1" dirty="0">
                <a:solidFill>
                  <a:srgbClr val="0000FF"/>
                </a:solidFill>
                <a:ea typeface="仿宋_GB2312" pitchFamily="49" charset="-122"/>
              </a:rPr>
              <a:t>。如：世界观人生观、价值观等。</a:t>
            </a: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ea typeface="黑体" pitchFamily="49" charset="-122"/>
              </a:rPr>
              <a:t>非意识形态：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指</a:t>
            </a:r>
            <a:r>
              <a:rPr lang="zh-CN" altLang="en-US" sz="2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不反映一定社会集团的利益和要求的意识形式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不具有阶级性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。如：自然科学、技术、语言和文字等。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2024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1125538"/>
            <a:ext cx="12192000" cy="366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789" tIns="40894" rIns="81789" bIns="40894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１、广义文化：</a:t>
            </a:r>
            <a:r>
              <a:rPr lang="zh-CN" altLang="en-US" sz="2800" b="1" dirty="0">
                <a:solidFill>
                  <a:srgbClr val="0000FF"/>
                </a:solidFill>
              </a:rPr>
              <a:t>对人类改造世界的一切活动及其创造的物质成果和精神成果的统称。与文明的含义相近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２、狭义文化：</a:t>
            </a:r>
            <a:r>
              <a:rPr lang="zh-CN" altLang="en-US" sz="2800" b="1" dirty="0">
                <a:solidFill>
                  <a:srgbClr val="0000FF"/>
                </a:solidFill>
              </a:rPr>
              <a:t>专指文学艺术和科学知识，或指人们受教育的程度。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３、中国特色社会主义文化：</a:t>
            </a:r>
            <a:r>
              <a:rPr lang="zh-CN" altLang="en-US" sz="2800" b="1" dirty="0">
                <a:solidFill>
                  <a:srgbClr val="0000FF"/>
                </a:solidFill>
              </a:rPr>
              <a:t>以马列主义、毛泽东思想，邓小平理论和三个代表重要思想为指导，以培育有理想、有文化、有纪律、有道德的公民为目标，发展面向现代化、面向世界、面向未来的民族的科学的大众的文化。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Tx/>
              <a:buChar char="•"/>
            </a:pP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524934" y="333375"/>
            <a:ext cx="5928118" cy="69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789" tIns="40894" rIns="81789" bIns="40894">
            <a:spAutoFit/>
          </a:bodyPr>
          <a:lstStyle>
            <a:lvl1pPr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4000" b="1">
                <a:solidFill>
                  <a:srgbClr val="0000FF"/>
                </a:solidFill>
              </a:rPr>
              <a:t>我们所指文化的范围</a:t>
            </a:r>
            <a:r>
              <a:rPr lang="en-US" altLang="zh-CN" sz="4000" b="1">
                <a:solidFill>
                  <a:srgbClr val="0000FF"/>
                </a:solidFill>
              </a:rPr>
              <a:t>:</a:t>
            </a:r>
            <a:endParaRPr lang="zh-CN" altLang="en-US" sz="4000" b="1">
              <a:solidFill>
                <a:srgbClr val="FF0000"/>
              </a:solidFill>
            </a:endParaRP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195941" y="5320618"/>
            <a:ext cx="11826240" cy="2222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</a:rPr>
              <a:t>注意 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“文化生活”</a:t>
            </a:r>
            <a:r>
              <a:rPr lang="zh-CN" altLang="en-US" sz="2800" b="1" dirty="0">
                <a:solidFill>
                  <a:srgbClr val="FF0000"/>
                </a:solidFill>
              </a:rPr>
              <a:t>中的”文化”既不是广义“文化”，也不是狭义“文化”，是发展中国特色社会主义 文化中的“文化”概念。</a:t>
            </a:r>
          </a:p>
          <a:p>
            <a:pPr eaLnBrk="1" hangingPunct="1">
              <a:lnSpc>
                <a:spcPct val="130000"/>
              </a:lnSpc>
            </a:pPr>
            <a:endParaRPr lang="zh-CN" altLang="en-US" sz="2800" b="1" dirty="0">
              <a:solidFill>
                <a:srgbClr val="0033CC"/>
              </a:solidFill>
            </a:endParaRPr>
          </a:p>
          <a:p>
            <a:pPr eaLnBrk="1" hangingPunct="1"/>
            <a:endParaRPr lang="en-US" altLang="zh-CN" sz="2400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456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ml0006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6248" y="849096"/>
            <a:ext cx="9347200" cy="5016133"/>
          </a:xfrm>
        </p:spPr>
      </p:pic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051660" y="1296988"/>
            <a:ext cx="488341" cy="312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1789" tIns="40894" rIns="81789" bIns="40894">
            <a:spAutoFit/>
          </a:bodyPr>
          <a:lstStyle>
            <a:lvl1pPr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100">
              <a:latin typeface="Verdana" pitchFamily="34" charset="0"/>
            </a:endParaRP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051660" y="685800"/>
            <a:ext cx="488341" cy="525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1789" tIns="40894" rIns="81789" bIns="40894">
            <a:spAutoFit/>
          </a:bodyPr>
          <a:lstStyle>
            <a:lvl1pPr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10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435980"/>
      </p:ext>
    </p:extLst>
  </p:cSld>
  <p:clrMapOvr>
    <a:masterClrMapping/>
  </p:clrMapOvr>
  <p:transition spd="med"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770709" y="1253860"/>
            <a:ext cx="10659291" cy="3772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81789" tIns="40894" rIns="81789" bIns="40894">
            <a:spAutoFit/>
          </a:bodyPr>
          <a:lstStyle>
            <a:lvl1pPr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8191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819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3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古树土堡本身不能称之为文化。将古树土堡开辟成旅游区或拍摄成艺术作品则属于文化。两者的区别在于前者是纯粹自然的东西，而后者是经过人的实践活动，经过人的劳动，渗透了人的精神活动，成为人精神活动的产品，因而成为文化</a:t>
            </a:r>
            <a:r>
              <a:rPr lang="zh-CN" altLang="en-US" sz="33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33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9801150"/>
      </p:ext>
    </p:extLst>
  </p:cSld>
  <p:clrMapOvr>
    <a:masterClrMapping/>
  </p:clrMapOvr>
  <p:transition spd="med"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endParaRPr lang="zh-CN" altLang="zh-CN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pic>
        <p:nvPicPr>
          <p:cNvPr id="14340" name="Picture 4" descr="54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71675"/>
            <a:ext cx="12192000" cy="828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656667" y="4724400"/>
            <a:ext cx="5545108" cy="59093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这个漂亮的小岛是文化吗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0" y="6216650"/>
            <a:ext cx="12191999" cy="641350"/>
          </a:xfrm>
          <a:prstGeom prst="rect">
            <a:avLst/>
          </a:prstGeom>
          <a:solidFill>
            <a:srgbClr val="CC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FFFF00"/>
                </a:solidFill>
                <a:ea typeface="方正行楷简体" charset="-122"/>
              </a:rPr>
              <a:t>文化是由人创造的，纯自然的东西不是文化。</a:t>
            </a:r>
          </a:p>
        </p:txBody>
      </p:sp>
    </p:spTree>
    <p:extLst>
      <p:ext uri="{BB962C8B-B14F-4D97-AF65-F5344CB8AC3E}">
        <p14:creationId xmlns:p14="http://schemas.microsoft.com/office/powerpoint/2010/main" val="3414262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85814"/>
            <a:ext cx="11523133" cy="987425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rgbClr val="FF0000"/>
                </a:solidFill>
              </a:rPr>
              <a:t>归纳</a:t>
            </a:r>
            <a:r>
              <a:rPr lang="en-US" altLang="zh-CN" sz="4000" b="1" smtClean="0">
                <a:solidFill>
                  <a:srgbClr val="FF0000"/>
                </a:solidFill>
              </a:rPr>
              <a:t>1</a:t>
            </a:r>
            <a:r>
              <a:rPr lang="zh-CN" altLang="en-US" sz="4000" b="1" smtClean="0">
                <a:solidFill>
                  <a:srgbClr val="FF0000"/>
                </a:solidFill>
              </a:rPr>
              <a:t>：</a:t>
            </a:r>
            <a:r>
              <a:rPr lang="zh-CN" altLang="en-US" sz="4000" b="1" smtClean="0">
                <a:solidFill>
                  <a:srgbClr val="0000FF"/>
                </a:solidFill>
              </a:rPr>
              <a:t>文化是</a:t>
            </a:r>
            <a:r>
              <a:rPr lang="zh-CN" altLang="en-US" sz="4000" b="1" smtClean="0">
                <a:solidFill>
                  <a:srgbClr val="FF0000"/>
                </a:solidFill>
              </a:rPr>
              <a:t>人类社会</a:t>
            </a:r>
            <a:r>
              <a:rPr lang="zh-CN" altLang="en-US" sz="4000" b="1" smtClean="0">
                <a:solidFill>
                  <a:srgbClr val="0000FF"/>
                </a:solidFill>
              </a:rPr>
              <a:t>特有的现象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6751" y="2428876"/>
            <a:ext cx="11093449" cy="2016125"/>
          </a:xfrm>
          <a:solidFill>
            <a:srgbClr val="CCFFCC"/>
          </a:solidFill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zh-CN" altLang="en-US" sz="2800" b="1" dirty="0" smtClean="0">
                <a:solidFill>
                  <a:srgbClr val="0000FF"/>
                </a:solidFill>
              </a:rPr>
              <a:t>（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1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）文化是由人所创造、为人所特有的；</a:t>
            </a:r>
          </a:p>
          <a:p>
            <a:pPr eaLnBrk="1" hangingPunct="1">
              <a:buFontTx/>
              <a:buNone/>
            </a:pPr>
            <a:r>
              <a:rPr lang="zh-CN" altLang="en-US" sz="2800" b="1" dirty="0" smtClean="0">
                <a:solidFill>
                  <a:srgbClr val="0000FF"/>
                </a:solidFill>
              </a:rPr>
              <a:t>（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2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）纯粹“自然”的东西不能称为文化；</a:t>
            </a:r>
            <a:endParaRPr lang="en-US" altLang="zh-CN" sz="2800" b="1" dirty="0" smtClean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 smtClean="0">
                <a:solidFill>
                  <a:srgbClr val="0000FF"/>
                </a:solidFill>
              </a:rPr>
              <a:t>（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3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）文化是人类社会实践的产物。</a:t>
            </a:r>
            <a:endParaRPr lang="en-US" altLang="zh-CN" sz="2800" b="1" dirty="0" smtClean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endParaRPr lang="zh-CN" altLang="en-US" sz="28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970232"/>
      </p:ext>
    </p:extLst>
  </p:cSld>
  <p:clrMapOvr>
    <a:masterClrMapping/>
  </p:clrMapOvr>
  <p:transition spd="med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pic_2247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" t="42427" r="2155" b="21295"/>
          <a:stretch>
            <a:fillRect/>
          </a:stretch>
        </p:blipFill>
        <p:spPr bwMode="auto">
          <a:xfrm>
            <a:off x="0" y="1125539"/>
            <a:ext cx="12192000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302926"/>
            <a:ext cx="12192000" cy="584775"/>
          </a:xfrm>
          <a:prstGeom prst="rect">
            <a:avLst/>
          </a:prstGeom>
          <a:solidFill>
            <a:srgbClr val="D3EB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归纳</a:t>
            </a:r>
            <a:r>
              <a:rPr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3200" b="1" dirty="0">
                <a:solidFill>
                  <a:srgbClr val="000099"/>
                </a:solidFill>
              </a:rPr>
              <a:t>人的文化素养不是天生的，而是在实践中</a:t>
            </a:r>
            <a:r>
              <a:rPr lang="zh-CN" altLang="en-US" sz="3200" b="1" dirty="0">
                <a:solidFill>
                  <a:srgbClr val="FF0000"/>
                </a:solidFill>
              </a:rPr>
              <a:t>逐步培养</a:t>
            </a:r>
            <a:r>
              <a:rPr lang="zh-CN" altLang="en-US" sz="3200" b="1" dirty="0">
                <a:solidFill>
                  <a:srgbClr val="000099"/>
                </a:solidFill>
              </a:rPr>
              <a:t>出来的。</a:t>
            </a:r>
            <a:endParaRPr lang="zh-CN" altLang="en-US" sz="3200" b="1" dirty="0">
              <a:solidFill>
                <a:srgbClr val="000099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3357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527051" y="1150962"/>
            <a:ext cx="11330516" cy="130170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rgbClr val="0000FF"/>
                </a:solidFill>
                <a:ea typeface="仿宋_GB2312" pitchFamily="49" charset="-122"/>
              </a:rPr>
              <a:t>       有人说，文化是一种“纯”精神活动和“纯”精神产品。你认同这种观点吗？为什么？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431800" y="5752812"/>
            <a:ext cx="11328400" cy="584775"/>
          </a:xfrm>
          <a:prstGeom prst="rect">
            <a:avLst/>
          </a:prstGeom>
          <a:solidFill>
            <a:srgbClr val="D3EB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归纳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仿宋_GB2312" pitchFamily="49" charset="-122"/>
                <a:sym typeface="Arial" pitchFamily="34" charset="0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仿宋_GB2312" pitchFamily="49" charset="-122"/>
                <a:sym typeface="Arial" pitchFamily="34" charset="0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  <a:sym typeface="Arial" pitchFamily="34" charset="0"/>
              </a:rPr>
              <a:t>人们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的精神活动离不开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物质活动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，精神产品离不开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物质载体</a:t>
            </a:r>
            <a:r>
              <a:rPr lang="zh-CN" altLang="en-US" sz="28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rPr>
              <a:t>。</a:t>
            </a:r>
            <a:r>
              <a:rPr lang="zh-CN" altLang="en-US" sz="2800" b="1" dirty="0">
                <a:solidFill>
                  <a:srgbClr val="CC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  <p:pic>
        <p:nvPicPr>
          <p:cNvPr id="17412" name="Picture 4" descr="讨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1" y="129721"/>
            <a:ext cx="27305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3312584" y="470897"/>
            <a:ext cx="2878667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各抒己见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27052" y="2623005"/>
            <a:ext cx="11330516" cy="2801938"/>
            <a:chOff x="0" y="0"/>
            <a:chExt cx="5511" cy="1765"/>
          </a:xfrm>
        </p:grpSpPr>
        <p:pic>
          <p:nvPicPr>
            <p:cNvPr id="17418" name="Picture 7" descr="thumbnail_400_40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35"/>
              <a:ext cx="1003" cy="1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Picture 8" descr="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8" y="0"/>
              <a:ext cx="962" cy="1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Picture 9" descr="图片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" y="110"/>
              <a:ext cx="939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Picture 10" descr="1a988e79dea50a7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9" y="46"/>
              <a:ext cx="1031" cy="1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2" name="Text Box 11"/>
            <p:cNvSpPr txBox="1">
              <a:spLocks noChangeArrowheads="1"/>
            </p:cNvSpPr>
            <p:nvPr/>
          </p:nvSpPr>
          <p:spPr bwMode="auto">
            <a:xfrm>
              <a:off x="0" y="1534"/>
              <a:ext cx="55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2"/>
                  </a:solidFill>
                </a:rPr>
                <a:t>  </a:t>
              </a:r>
              <a:r>
                <a:rPr lang="zh-CN" altLang="en-US" b="1" dirty="0" smtClean="0">
                  <a:solidFill>
                    <a:schemeClr val="tx2"/>
                  </a:solidFill>
                </a:rPr>
                <a:t>         甲骨文                                简  </a:t>
              </a:r>
              <a:r>
                <a:rPr lang="zh-CN" altLang="en-US" b="1" dirty="0">
                  <a:solidFill>
                    <a:schemeClr val="tx2"/>
                  </a:solidFill>
                </a:rPr>
                <a:t>牍                        </a:t>
              </a:r>
              <a:r>
                <a:rPr lang="zh-CN" altLang="en-US" b="1" dirty="0" smtClean="0">
                  <a:solidFill>
                    <a:schemeClr val="tx2"/>
                  </a:solidFill>
                </a:rPr>
                <a:t>               </a:t>
              </a:r>
              <a:r>
                <a:rPr lang="zh-CN" altLang="en-US" b="1" dirty="0">
                  <a:solidFill>
                    <a:schemeClr val="tx2"/>
                  </a:solidFill>
                </a:rPr>
                <a:t>纸 书                        </a:t>
              </a:r>
              <a:r>
                <a:rPr lang="zh-CN" altLang="en-US" b="1" dirty="0" smtClean="0">
                  <a:solidFill>
                    <a:schemeClr val="tx2"/>
                  </a:solidFill>
                </a:rPr>
                <a:t>          电</a:t>
              </a:r>
              <a:r>
                <a:rPr lang="zh-CN" altLang="en-US" b="1" dirty="0">
                  <a:solidFill>
                    <a:schemeClr val="tx2"/>
                  </a:solidFill>
                </a:rPr>
                <a:t>子书</a:t>
              </a:r>
            </a:p>
          </p:txBody>
        </p:sp>
      </p:grpSp>
      <p:sp>
        <p:nvSpPr>
          <p:cNvPr id="69644" name="Line 12"/>
          <p:cNvSpPr>
            <a:spLocks noChangeShapeType="1"/>
          </p:cNvSpPr>
          <p:nvPr/>
        </p:nvSpPr>
        <p:spPr bwMode="auto">
          <a:xfrm>
            <a:off x="2832100" y="4023727"/>
            <a:ext cx="57573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>
            <a:off x="5808134" y="3945349"/>
            <a:ext cx="57573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>
            <a:off x="8506036" y="3919223"/>
            <a:ext cx="57573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518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nimBg="1"/>
      <p:bldP spid="69644" grpId="0" animBg="1"/>
      <p:bldP spid="69645" grpId="0" animBg="1"/>
      <p:bldP spid="696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WordArt 2"/>
          <p:cNvSpPr>
            <a:spLocks noChangeArrowheads="1" noChangeShapeType="1" noTextEdit="1"/>
          </p:cNvSpPr>
          <p:nvPr/>
        </p:nvSpPr>
        <p:spPr bwMode="auto">
          <a:xfrm>
            <a:off x="431800" y="0"/>
            <a:ext cx="4521200" cy="876300"/>
          </a:xfrm>
          <a:prstGeom prst="rect">
            <a:avLst/>
          </a:prstGeom>
        </p:spPr>
        <p:txBody>
          <a:bodyPr wrap="none" fromWordArt="1">
            <a:prstTxWarp prst="textCurveDown">
              <a:avLst>
                <a:gd name="adj" fmla="val 43477"/>
              </a:avLst>
            </a:prstTxWarp>
          </a:bodyPr>
          <a:lstStyle/>
          <a:p>
            <a:pPr algn="ctr"/>
            <a:endParaRPr lang="zh-CN" altLang="en-US" sz="6600" b="1" kern="10" normalizeH="1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5998"/>
                  </a:srgbClr>
                </a:outerShdw>
              </a:effectLst>
              <a:latin typeface="宋体"/>
              <a:ea typeface="宋体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" y="1349554"/>
            <a:ext cx="1536700" cy="457200"/>
          </a:xfrm>
          <a:prstGeom prst="rect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  <a:ea typeface="黑体" pitchFamily="49" charset="-122"/>
              </a:rPr>
              <a:t>含义：</a:t>
            </a:r>
            <a:r>
              <a:rPr lang="zh-CN" altLang="en-US">
                <a:solidFill>
                  <a:srgbClr val="0000FF"/>
                </a:solidFill>
              </a:rPr>
              <a:t>　　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1" y="2083116"/>
            <a:ext cx="11233151" cy="5238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相对于政治、经济而言的人类全部精神活动及其产品。</a:t>
            </a:r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4064000" y="2743201"/>
            <a:ext cx="558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1" y="3714750"/>
            <a:ext cx="11857567" cy="227081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）文化是</a:t>
            </a:r>
            <a:r>
              <a:rPr lang="zh-CN" altLang="en-US" sz="28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人类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社会特有的现象。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）每个人的文化素养都不是天生的，而是通过对社会生活的体验，特别是通过参与文化活动、接受文化知识教育而</a:t>
            </a:r>
            <a:r>
              <a:rPr lang="zh-CN" altLang="en-US" sz="2800" b="1" dirty="0">
                <a:solidFill>
                  <a:srgbClr val="FF0000"/>
                </a:solidFill>
              </a:rPr>
              <a:t>逐步培养</a:t>
            </a:r>
            <a:r>
              <a:rPr lang="zh-CN" altLang="en-US" sz="2800" b="1" dirty="0">
                <a:solidFill>
                  <a:srgbClr val="0000FF"/>
                </a:solidFill>
              </a:rPr>
              <a:t>出来的。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(3) 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人们的</a:t>
            </a:r>
            <a:r>
              <a:rPr lang="zh-CN" altLang="en-US" sz="2800" b="1" dirty="0">
                <a:solidFill>
                  <a:srgbClr val="0000FF"/>
                </a:solidFill>
              </a:rPr>
              <a:t>精神活动离不开物质活动，精神产品离不开</a:t>
            </a:r>
            <a:r>
              <a:rPr lang="zh-CN" altLang="en-US" sz="2800" b="1" dirty="0">
                <a:solidFill>
                  <a:srgbClr val="FF3300"/>
                </a:solidFill>
              </a:rPr>
              <a:t>物质载体</a:t>
            </a:r>
            <a:r>
              <a:rPr lang="zh-CN" altLang="en-US" sz="2800" b="1" dirty="0">
                <a:solidFill>
                  <a:srgbClr val="0000FF"/>
                </a:solidFill>
              </a:rPr>
              <a:t>。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</p:txBody>
      </p:sp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1" y="2914239"/>
            <a:ext cx="1536700" cy="457200"/>
          </a:xfrm>
          <a:prstGeom prst="rect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  <a:ea typeface="黑体" pitchFamily="49" charset="-122"/>
              </a:rPr>
              <a:t>特点：</a:t>
            </a:r>
            <a:r>
              <a:rPr lang="zh-CN" altLang="en-US">
                <a:solidFill>
                  <a:srgbClr val="0000FF"/>
                </a:solidFill>
              </a:rPr>
              <a:t>　　</a:t>
            </a:r>
          </a:p>
        </p:txBody>
      </p:sp>
      <p:sp>
        <p:nvSpPr>
          <p:cNvPr id="18440" name="Text Box 6"/>
          <p:cNvSpPr txBox="1">
            <a:spLocks noChangeArrowheads="1"/>
          </p:cNvSpPr>
          <p:nvPr/>
        </p:nvSpPr>
        <p:spPr bwMode="auto">
          <a:xfrm>
            <a:off x="0" y="428625"/>
            <a:ext cx="5952067" cy="6413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二、文化是什么</a:t>
            </a:r>
            <a:endParaRPr lang="en-US" altLang="zh-CN" sz="3600" b="1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7355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animBg="1"/>
      <p:bldP spid="706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0" y="857251"/>
            <a:ext cx="11328400" cy="1773371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宋体" pitchFamily="2" charset="-122"/>
              </a:rPr>
              <a:t>　　</a:t>
            </a:r>
            <a:r>
              <a:rPr lang="en-US" altLang="zh-CN" sz="2800" b="1" dirty="0">
                <a:solidFill>
                  <a:srgbClr val="0000FF"/>
                </a:solidFill>
                <a:latin typeface="宋体" pitchFamily="2" charset="-122"/>
              </a:rPr>
              <a:t>1998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年，联合国教科文组织在一份</a:t>
            </a:r>
            <a:r>
              <a:rPr lang="en-US" altLang="zh-CN" sz="2800" b="1" dirty="0">
                <a:solidFill>
                  <a:srgbClr val="0000FF"/>
                </a:solidFill>
                <a:latin typeface="宋体" pitchFamily="2" charset="-122"/>
              </a:rPr>
              <a:t>《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文化政策促进发展行动计划</a:t>
            </a:r>
            <a:r>
              <a:rPr lang="en-US" altLang="zh-CN" sz="2800" b="1" dirty="0">
                <a:solidFill>
                  <a:srgbClr val="0000FF"/>
                </a:solidFill>
                <a:latin typeface="宋体" pitchFamily="2" charset="-122"/>
              </a:rPr>
              <a:t>》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中指出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：“文化的创造性是人类进步的源泉。文化多样性是人类最宝贵的财富，对发展是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至关重要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的。”</a:t>
            </a:r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0" y="0"/>
            <a:ext cx="5952067" cy="6413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三、文化的力量</a:t>
            </a:r>
            <a:endParaRPr lang="en-US" altLang="zh-CN" sz="3600" b="1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3040382"/>
            <a:ext cx="8477251" cy="52322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、文化具有非常丰富的形式</a:t>
            </a:r>
          </a:p>
        </p:txBody>
      </p:sp>
      <p:sp>
        <p:nvSpPr>
          <p:cNvPr id="73737" name="Rectangle 9"/>
          <p:cNvSpPr>
            <a:spLocks noChangeArrowheads="1"/>
          </p:cNvSpPr>
          <p:nvPr/>
        </p:nvSpPr>
        <p:spPr bwMode="auto">
          <a:xfrm>
            <a:off x="91442" y="4125826"/>
            <a:ext cx="11233151" cy="52322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静态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</a:rPr>
              <a:t>形式：</a:t>
            </a:r>
            <a:r>
              <a:rPr lang="zh-CN" altLang="en-US" sz="2800" b="1" dirty="0">
                <a:solidFill>
                  <a:srgbClr val="0000FF"/>
                </a:solidFill>
              </a:rPr>
              <a:t>思想、理论、信念、信仰、道德、教育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、</a:t>
            </a:r>
            <a:r>
              <a:rPr lang="zh-CN" altLang="en-US" sz="2800" b="1" dirty="0">
                <a:solidFill>
                  <a:srgbClr val="0000FF"/>
                </a:solidFill>
              </a:rPr>
              <a:t> 艺术、科学等。</a:t>
            </a:r>
          </a:p>
        </p:txBody>
      </p:sp>
      <p:sp>
        <p:nvSpPr>
          <p:cNvPr id="73738" name="Rectangle 10"/>
          <p:cNvSpPr>
            <a:spLocks noChangeArrowheads="1"/>
          </p:cNvSpPr>
          <p:nvPr/>
        </p:nvSpPr>
        <p:spPr bwMode="auto">
          <a:xfrm>
            <a:off x="65316" y="5241064"/>
            <a:ext cx="11233151" cy="52322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</a:rPr>
              <a:t>(</a:t>
            </a:r>
            <a:r>
              <a:rPr lang="zh-CN" altLang="en-US" sz="2800" b="1" dirty="0">
                <a:solidFill>
                  <a:srgbClr val="FF3300"/>
                </a:solidFill>
              </a:rPr>
              <a:t>动态</a:t>
            </a:r>
            <a:r>
              <a:rPr lang="en-US" altLang="zh-CN" sz="2800" b="1" dirty="0">
                <a:solidFill>
                  <a:srgbClr val="FF3300"/>
                </a:solidFill>
              </a:rPr>
              <a:t>)</a:t>
            </a:r>
            <a:r>
              <a:rPr lang="zh-CN" altLang="en-US" sz="2800" b="1" dirty="0">
                <a:solidFill>
                  <a:srgbClr val="FF3300"/>
                </a:solidFill>
              </a:rPr>
              <a:t>活动：</a:t>
            </a:r>
            <a:r>
              <a:rPr lang="zh-CN" altLang="en-US" sz="2800" b="1" dirty="0">
                <a:solidFill>
                  <a:srgbClr val="0000FF"/>
                </a:solidFill>
              </a:rPr>
              <a:t>人们进行文化生产、传播、积累的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过程</a:t>
            </a:r>
            <a:r>
              <a:rPr lang="zh-CN" altLang="en-US" sz="2800" b="1" dirty="0">
                <a:solidFill>
                  <a:srgbClr val="0000FF"/>
                </a:solidFill>
              </a:rPr>
              <a:t>都是文化活动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。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859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animBg="1"/>
      <p:bldP spid="73737" grpId="0" animBg="1"/>
      <p:bldP spid="7373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527051" y="5013325"/>
            <a:ext cx="11137900" cy="107721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在大灾面前，国人挺起脊梁，抗震救灾的民族精神在地震废墟中闪耀。抗震救灾精神何以有如此巨大的力量</a:t>
            </a:r>
            <a:r>
              <a:rPr lang="en-US" altLang="zh-CN" sz="32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?</a:t>
            </a:r>
          </a:p>
        </p:txBody>
      </p:sp>
      <p:pic>
        <p:nvPicPr>
          <p:cNvPr id="21507" name="Picture 3" descr="3c242f08b7ada523e92488d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534" y="333375"/>
            <a:ext cx="9793817" cy="437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172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1" y="0"/>
            <a:ext cx="715221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三</a:t>
            </a:r>
            <a:r>
              <a:rPr lang="en-US" altLang="zh-CN" sz="36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.</a:t>
            </a:r>
            <a:r>
              <a:rPr lang="zh-CN" altLang="en-US" sz="36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文化的力量</a:t>
            </a:r>
            <a:endParaRPr lang="en-US" altLang="zh-CN" sz="3600" b="1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09008" y="3000376"/>
            <a:ext cx="11678194" cy="233294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latin typeface="黑体" pitchFamily="49" charset="-122"/>
                <a:ea typeface="黑体" pitchFamily="49" charset="-122"/>
              </a:rPr>
              <a:t>(1)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文化作为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一种精神力量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，能够在人们认识世界、改造世界的过程中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转化为物质力量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，对社会发展产生深刻的影响。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latin typeface="黑体" pitchFamily="49" charset="-122"/>
                <a:ea typeface="黑体" pitchFamily="49" charset="-122"/>
              </a:rPr>
              <a:t>(2)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这种影响，不仅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表现在个人的成长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历程中，而且表现在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民族和国家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的历史中。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0" y="1571626"/>
            <a:ext cx="12192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、文化是一种社会精神力量</a:t>
            </a:r>
          </a:p>
          <a:p>
            <a:pPr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 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27518" y="2271714"/>
            <a:ext cx="907203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、文化可以转化为物质力量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857250"/>
            <a:ext cx="8477251" cy="584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0000FF"/>
                </a:solidFill>
              </a:rPr>
              <a:t>1</a:t>
            </a:r>
            <a:r>
              <a:rPr lang="zh-CN" altLang="en-US" sz="3200" b="1">
                <a:solidFill>
                  <a:srgbClr val="0000FF"/>
                </a:solidFill>
              </a:rPr>
              <a:t>、文化具有非常丰富的形式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381251" y="5429251"/>
            <a:ext cx="1031451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文化的转化性</a:t>
            </a:r>
            <a:r>
              <a:rPr lang="en-US" altLang="zh-CN" sz="2800" b="1"/>
              <a:t>——</a:t>
            </a:r>
            <a:r>
              <a:rPr lang="zh-CN" altLang="en-US" sz="2800" b="1"/>
              <a:t>可转化为物质力量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309285" y="6000751"/>
            <a:ext cx="988271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文化的双重性</a:t>
            </a:r>
            <a:r>
              <a:rPr lang="en-US" altLang="zh-CN" sz="2800" b="1"/>
              <a:t>——</a:t>
            </a:r>
            <a:r>
              <a:rPr lang="zh-CN" altLang="en-US" sz="2800" b="1"/>
              <a:t>具有阻碍和推动作用</a:t>
            </a:r>
          </a:p>
        </p:txBody>
      </p:sp>
      <p:sp>
        <p:nvSpPr>
          <p:cNvPr id="22537" name="Text Box 4"/>
          <p:cNvSpPr txBox="1">
            <a:spLocks noChangeArrowheads="1"/>
          </p:cNvSpPr>
          <p:nvPr/>
        </p:nvSpPr>
        <p:spPr bwMode="auto">
          <a:xfrm>
            <a:off x="130632" y="5527633"/>
            <a:ext cx="1332410" cy="579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注意</a:t>
            </a:r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32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1894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3" grpId="0"/>
      <p:bldP spid="8" grpId="0" animBg="1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992788" y="942570"/>
            <a:ext cx="8752114" cy="5379853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</a:rPr>
              <a:t>一、文化“万花筒”</a:t>
            </a:r>
          </a:p>
          <a:p>
            <a:pPr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</a:rPr>
              <a:t>二、文化是什么</a:t>
            </a:r>
          </a:p>
          <a:p>
            <a:pPr>
              <a:buFontTx/>
              <a:buNone/>
            </a:pP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文化的内涵（含义和分类）</a:t>
            </a:r>
          </a:p>
          <a:p>
            <a:pPr>
              <a:buFontTx/>
              <a:buNone/>
            </a:pP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文化的特点</a:t>
            </a:r>
          </a:p>
          <a:p>
            <a:pPr>
              <a:buFontTx/>
              <a:buNone/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）文化是人类社会特有的现象</a:t>
            </a:r>
          </a:p>
          <a:p>
            <a:pPr>
              <a:buFontTx/>
              <a:buNone/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）文化是个人的文化素养</a:t>
            </a:r>
          </a:p>
          <a:p>
            <a:pPr>
              <a:buFontTx/>
              <a:buNone/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）文化需要一定的物质载体</a:t>
            </a:r>
          </a:p>
          <a:p>
            <a:pPr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</a:rPr>
              <a:t> 三、文化的力量</a:t>
            </a:r>
          </a:p>
          <a:p>
            <a:pPr>
              <a:buFontTx/>
              <a:buNone/>
            </a:pP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文化具有丰富的表现形式</a:t>
            </a:r>
          </a:p>
          <a:p>
            <a:pPr>
              <a:buFontTx/>
              <a:buNone/>
            </a:pP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文化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是一种社会精神力量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转化性和双重性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800" b="1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5" name="WordArt 23"/>
          <p:cNvSpPr>
            <a:spLocks noChangeArrowheads="1" noChangeShapeType="1" noTextEdit="1"/>
          </p:cNvSpPr>
          <p:nvPr/>
        </p:nvSpPr>
        <p:spPr bwMode="auto">
          <a:xfrm>
            <a:off x="600899" y="143693"/>
            <a:ext cx="2220685" cy="40494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宋体"/>
                <a:ea typeface="宋体"/>
              </a:rPr>
              <a:t>知识小结</a:t>
            </a:r>
          </a:p>
        </p:txBody>
      </p:sp>
    </p:spTree>
    <p:extLst>
      <p:ext uri="{BB962C8B-B14F-4D97-AF65-F5344CB8AC3E}">
        <p14:creationId xmlns:p14="http://schemas.microsoft.com/office/powerpoint/2010/main" val="3902164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29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79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72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7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AG_VERSION" val="1.0"/>
  <p:tag name="KSO_WM_BEAUTIFY_FLAG" val="#wm#"/>
  <p:tag name="KSO_WM_TEMPLATE_CATEGORY" val="custom"/>
  <p:tag name="KSO_WM_TEMPLATE_INDEX" val="20197241"/>
  <p:tag name="KSO_WM_TEMPLATE_THUMBS_INDEX" val="1、5、7、8"/>
  <p:tag name="KSO_WM_UNIT_SHOW_EDIT_AREA_INDICATION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7241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7241"/>
  <p:tag name="KSO_WM_SLIDE_LAYOUT" val="a_b"/>
  <p:tag name="KSO_WM_SLIDE_LAYOUT_CNT" val="1_3"/>
  <p:tag name="KSO_WM_TEMPLATE_THUMBS_INDEX" val="1、5、7、8"/>
  <p:tag name="KSO_WM_SLIDE_MODEL_TYPE" val="cover"/>
</p:tagLst>
</file>

<file path=ppt/theme/theme1.xml><?xml version="1.0" encoding="utf-8"?>
<a:theme xmlns:a="http://schemas.openxmlformats.org/drawingml/2006/main" name="1_Office 主题​​">
  <a:themeElements>
    <a:clrScheme name="1.1.1.1.1.20197241">
      <a:dk1>
        <a:srgbClr val="000000"/>
      </a:dk1>
      <a:lt1>
        <a:srgbClr val="FFFFFF"/>
      </a:lt1>
      <a:dk2>
        <a:srgbClr val="EE6D1C"/>
      </a:dk2>
      <a:lt2>
        <a:srgbClr val="FFFFFF"/>
      </a:lt2>
      <a:accent1>
        <a:srgbClr val="EE6D1C"/>
      </a:accent1>
      <a:accent2>
        <a:srgbClr val="F8A248"/>
      </a:accent2>
      <a:accent3>
        <a:srgbClr val="FFCA77"/>
      </a:accent3>
      <a:accent4>
        <a:srgbClr val="40E0D0"/>
      </a:accent4>
      <a:accent5>
        <a:srgbClr val="A9F7D3"/>
      </a:accent5>
      <a:accent6>
        <a:srgbClr val="6ED8F2"/>
      </a:accent6>
      <a:hlink>
        <a:srgbClr val="37BEF9"/>
      </a:hlink>
      <a:folHlink>
        <a:srgbClr val="AC6AA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1035</Words>
  <Application>Microsoft Office PowerPoint</Application>
  <PresentationFormat>自定义</PresentationFormat>
  <Paragraphs>99</Paragraphs>
  <Slides>22</Slides>
  <Notes>0</Notes>
  <HiddenSlides>1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归纳1：文化是人类社会特有的现象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9.2世界多极化： 深入发展</dc:title>
  <dc:creator/>
  <cp:lastModifiedBy>HP19</cp:lastModifiedBy>
  <cp:revision>71</cp:revision>
  <dcterms:created xsi:type="dcterms:W3CDTF">2019-06-16T07:32:00Z</dcterms:created>
  <dcterms:modified xsi:type="dcterms:W3CDTF">2020-09-02T08:10:29Z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2052-11.1.0.8696</vt:lpwstr>
  </property>
</Properties>
</file>