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5" r:id="rId4"/>
    <p:sldId id="284" r:id="rId5"/>
    <p:sldId id="312" r:id="rId6"/>
    <p:sldId id="301" r:id="rId7"/>
    <p:sldId id="317" r:id="rId8"/>
    <p:sldId id="319" r:id="rId9"/>
    <p:sldId id="320" r:id="rId10"/>
    <p:sldId id="322" r:id="rId11"/>
    <p:sldId id="324" r:id="rId12"/>
    <p:sldId id="327" r:id="rId13"/>
    <p:sldId id="328" r:id="rId14"/>
    <p:sldId id="329" r:id="rId15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162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8732F3-336C-4760-A09B-042F8E33ABFC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6F0F6-6BDC-45BC-A415-C6FA68B5F0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89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1D939-3E60-4063-B05E-56844F97CE60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1D939-3E60-4063-B05E-56844F97CE60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幻灯片图像占位符 1"/>
          <p:cNvSpPr>
            <a:spLocks noGrp="1" noRot="1" noChangeAspect="1" noChangeArrowheads="1"/>
          </p:cNvSpPr>
          <p:nvPr>
            <p:ph type="sldImg" idx="4294967295"/>
          </p:nvPr>
        </p:nvSpPr>
        <p:spPr>
          <a:xfrm>
            <a:off x="4462463" y="2090738"/>
            <a:ext cx="3246437" cy="2030412"/>
          </a:xfrm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10275" name="备注占位符 2"/>
          <p:cNvSpPr>
            <a:spLocks noGrp="1" noRot="1" noChangeAspect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1D939-3E60-4063-B05E-56844F97CE60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</p:spPr>
        <p:txBody>
          <a:bodyPr/>
          <a:lstStyle>
            <a:lvl1pPr>
              <a:defRPr/>
            </a:lvl1pPr>
          </a:lstStyle>
          <a:p>
            <a:fld id="{74E1CE83-B723-4565-BA4A-DB0D8484EE56}" type="datetime1">
              <a:rPr lang="zh-CN" altLang="en-US"/>
              <a:t>2020/9/21</a:t>
            </a:fld>
            <a:endParaRPr lang="zh-CN" altLang="en-US" sz="1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</p:spPr>
        <p:txBody>
          <a:bodyPr/>
          <a:lstStyle>
            <a:lvl1pPr>
              <a:defRPr/>
            </a:lvl1pPr>
          </a:lstStyle>
          <a:p>
            <a:fld id="{95841C58-5E1E-4857-948D-821C569BE924}" type="slidenum">
              <a:rPr lang="zh-CN" altLang="en-US"/>
              <a:t>‹#›</a:t>
            </a:fld>
            <a:endParaRPr lang="zh-CN" altLang="en-US" sz="180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2020/9/21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hyperlink" Target="0001.&#20013;&#22269;&#32593;&#32476;&#30005;&#35270;&#21488;-&#12298;&#33292;&#23574;&#19978;&#30340;&#20013;&#22269;&#12299;%20&#31532;&#20116;&#38598;%20&#21416;&#25151;&#30340;&#31192;&#23494;%5b&#36229;&#28165;&#29256;%5d.mp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hyperlink" Target="0001.&#20013;&#22269;&#32593;&#32476;&#30005;&#35270;&#21488;-%5b&#33292;&#23574;&#19978;&#30340;&#20013;&#22269;%5d&#31532;&#20108;&#38598;%20&#20027;&#39135;&#30340;&#25925;&#20107;%20&#22025;&#20852;&#31933;&#23376;.mp4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90"/>
          <a:stretch>
            <a:fillRect/>
          </a:stretch>
        </p:blipFill>
        <p:spPr>
          <a:xfrm>
            <a:off x="0" y="-390"/>
            <a:ext cx="9144000" cy="571539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" name="矩形 1"/>
          <p:cNvSpPr/>
          <p:nvPr/>
        </p:nvSpPr>
        <p:spPr>
          <a:xfrm>
            <a:off x="0" y="1705372"/>
            <a:ext cx="9144000" cy="2587723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75520" y="0"/>
            <a:ext cx="2940496" cy="571500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75520" y="1705372"/>
            <a:ext cx="2940496" cy="2587722"/>
          </a:xfrm>
          <a:prstGeom prst="rect">
            <a:avLst/>
          </a:prstGeom>
          <a:solidFill>
            <a:srgbClr val="FFFF00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5"/>
          <p:cNvSpPr txBox="1"/>
          <p:nvPr/>
        </p:nvSpPr>
        <p:spPr>
          <a:xfrm>
            <a:off x="1917416" y="1769927"/>
            <a:ext cx="2798600" cy="1507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4000" b="1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文化创新</a:t>
            </a:r>
            <a:endParaRPr lang="en-US" altLang="zh-CN" sz="4000" b="1" dirty="0" smtClean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4000" b="1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的途径</a:t>
            </a:r>
            <a:endParaRPr lang="zh-CN" altLang="en-US" sz="4000" b="1" dirty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917416" y="3505572"/>
            <a:ext cx="252028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Documents\Downloads\pak-king-duck-898500_1920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9"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 descr="图片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309265"/>
            <a:ext cx="8568952" cy="131243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881649" y="3301662"/>
            <a:ext cx="5040560" cy="1015663"/>
          </a:xfrm>
          <a:prstGeom prst="rect">
            <a:avLst/>
          </a:prstGeom>
          <a:solidFill>
            <a:schemeClr val="bg1">
              <a:alpha val="5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 smtClean="0">
                <a:solidFill>
                  <a:srgbClr val="002060"/>
                </a:solidFill>
                <a:latin typeface="隶书" panose="02010509060101010101" pitchFamily="49" charset="-122"/>
                <a:ea typeface="隶书" panose="02010509060101010101" pitchFamily="49" charset="-122"/>
                <a:hlinkClick r:id="rId4" action="ppaction://hlinkfile"/>
              </a:rPr>
              <a:t>民以食为天</a:t>
            </a:r>
            <a:endParaRPr lang="zh-CN" altLang="zh-CN" sz="6000" b="1" dirty="0">
              <a:solidFill>
                <a:srgbClr val="00206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://pic.58pic.com/58pic/11/82/75/40B58PIC6wh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12" r="1237" b="1"/>
          <a:stretch>
            <a:fillRect/>
          </a:stretch>
        </p:blipFill>
        <p:spPr bwMode="auto">
          <a:xfrm>
            <a:off x="-1" y="0"/>
            <a:ext cx="9144001" cy="573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0" y="841012"/>
            <a:ext cx="9144000" cy="3600664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51520" y="340351"/>
            <a:ext cx="8568951" cy="3453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《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舌尖上的中国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在拍摄过程中，整个摄制组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余位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工作人员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历时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个月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，走南闯北，踏遍了中国的山水湖海，包括港澳台地区的</a:t>
            </a:r>
            <a:r>
              <a:rPr lang="en-US" altLang="zh-CN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多个地方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陈晓卿表示：我们将通过中华美食的多个侧面，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带着对食物的敬意和感情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，来感受食物给中国人生活带来的仪式、伦理、趣味等多方面特征。进而让世界其他国家人民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感知中国的文化传统和社会变迁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" y="4085060"/>
            <a:ext cx="9144001" cy="16527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探究一</a:t>
            </a:r>
            <a:r>
              <a:rPr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6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）看了这段视频，你有什么感受？</a:t>
            </a:r>
          </a:p>
          <a:p>
            <a:pPr>
              <a:lnSpc>
                <a:spcPct val="130000"/>
              </a:lnSpc>
            </a:pP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）结合视频和材料，请说一说对</a:t>
            </a:r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文化创新</a:t>
            </a:r>
            <a:r>
              <a:rPr lang="zh-CN" altLang="en-US" sz="2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的有什么启示？</a:t>
            </a:r>
            <a:endParaRPr lang="zh-CN" altLang="en-US" sz="2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7" r="2245" b="6741"/>
          <a:stretch>
            <a:fillRect/>
          </a:stretch>
        </p:blipFill>
        <p:spPr bwMode="auto">
          <a:xfrm>
            <a:off x="0" y="769269"/>
            <a:ext cx="9148974" cy="4945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0" y="769268"/>
            <a:ext cx="9144000" cy="5014650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23528" y="231630"/>
            <a:ext cx="8136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、文化创新 根本途径：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立足于社会实践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35612" y="4711705"/>
            <a:ext cx="4329455" cy="954107"/>
          </a:xfrm>
          <a:prstGeom prst="rect">
            <a:avLst/>
          </a:prstGeom>
          <a:solidFill>
            <a:schemeClr val="bg1">
              <a:alpha val="66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是文化创作的基本要求，</a:t>
            </a:r>
            <a:endParaRPr lang="en-US" altLang="zh-CN" sz="2800" b="1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2800" b="1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也是文化创新的根本途径。</a:t>
            </a:r>
            <a:endParaRPr lang="en-US" altLang="zh-CN" sz="2800" b="1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356028" y="3187923"/>
            <a:ext cx="1415772" cy="461665"/>
          </a:xfrm>
          <a:prstGeom prst="rect">
            <a:avLst/>
          </a:prstGeom>
          <a:solidFill>
            <a:schemeClr val="tx2">
              <a:lumMod val="60000"/>
              <a:lumOff val="40000"/>
              <a:alpha val="38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社会实践</a:t>
            </a:r>
            <a:endParaRPr lang="zh-CN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96588" y="3115915"/>
            <a:ext cx="1415772" cy="461665"/>
          </a:xfrm>
          <a:prstGeom prst="rect">
            <a:avLst/>
          </a:prstGeom>
          <a:solidFill>
            <a:schemeClr val="accent2">
              <a:lumMod val="75000"/>
              <a:alpha val="38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文化创新</a:t>
            </a:r>
            <a:endParaRPr lang="zh-CN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2339749" y="2458380"/>
            <a:ext cx="960492" cy="687152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300241" y="2241366"/>
            <a:ext cx="1980029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的发展要求进行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5364088" y="2431140"/>
            <a:ext cx="1260334" cy="714392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2763833" y="3361556"/>
            <a:ext cx="3632755" cy="0"/>
          </a:xfrm>
          <a:prstGeom prst="straightConnector1">
            <a:avLst/>
          </a:prstGeom>
          <a:ln w="539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556722" y="2929508"/>
            <a:ext cx="1467069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源泉和动力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H="1">
            <a:off x="2771800" y="3505572"/>
            <a:ext cx="3624789" cy="0"/>
          </a:xfrm>
          <a:prstGeom prst="straightConnector1">
            <a:avLst/>
          </a:prstGeom>
          <a:ln w="53975">
            <a:solidFill>
              <a:schemeClr val="accent2">
                <a:lumMod val="75000"/>
                <a:alpha val="84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3962060" y="3609518"/>
            <a:ext cx="697628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推动</a:t>
            </a:r>
            <a:endParaRPr lang="zh-CN" altLang="zh-CN" sz="2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/>
          <p:cNvCxnSpPr>
            <a:endCxn id="17" idx="3"/>
          </p:cNvCxnSpPr>
          <p:nvPr/>
        </p:nvCxnSpPr>
        <p:spPr>
          <a:xfrm flipH="1">
            <a:off x="5044407" y="3634438"/>
            <a:ext cx="1352184" cy="751199"/>
          </a:xfrm>
          <a:prstGeom prst="straightConnector1">
            <a:avLst/>
          </a:prstGeom>
          <a:ln w="53975">
            <a:solidFill>
              <a:schemeClr val="accent2">
                <a:lumMod val="75000"/>
                <a:alpha val="84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3577339" y="4185582"/>
            <a:ext cx="1467068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必须立足于</a:t>
            </a:r>
            <a:endParaRPr lang="zh-CN" altLang="zh-CN" sz="2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/>
          <p:cNvCxnSpPr>
            <a:stCxn id="17" idx="1"/>
          </p:cNvCxnSpPr>
          <p:nvPr/>
        </p:nvCxnSpPr>
        <p:spPr>
          <a:xfrm flipH="1" flipV="1">
            <a:off x="2339749" y="3634439"/>
            <a:ext cx="1237590" cy="751198"/>
          </a:xfrm>
          <a:prstGeom prst="straightConnector1">
            <a:avLst/>
          </a:prstGeom>
          <a:ln w="53975">
            <a:solidFill>
              <a:schemeClr val="accent2">
                <a:lumMod val="75000"/>
                <a:alpha val="84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348061" y="4988123"/>
            <a:ext cx="1415772" cy="461665"/>
          </a:xfrm>
          <a:prstGeom prst="rect">
            <a:avLst/>
          </a:prstGeom>
          <a:solidFill>
            <a:schemeClr val="bg1">
              <a:alpha val="38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社会实践</a:t>
            </a:r>
            <a:endParaRPr lang="zh-CN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7504" y="769269"/>
            <a:ext cx="9036496" cy="1485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思考深化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常言道“眉头一皱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计上心来”。</a:t>
            </a: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文化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创新的根本途径为什么不是来自创作者的灵感，或文化创作者的聪明才智，而是要立足社会实践呢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3" grpId="0" animBg="1"/>
      <p:bldP spid="7" grpId="0" animBg="1"/>
      <p:bldP spid="8" grpId="0" animBg="1"/>
      <p:bldP spid="10" grpId="0" animBg="1"/>
      <p:bldP spid="13" grpId="0" animBg="1"/>
      <p:bldP spid="15" grpId="0" animBg="1"/>
      <p:bldP spid="17" grpId="0" animBg="1"/>
      <p:bldP spid="19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8536" y="4513684"/>
            <a:ext cx="904503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探究二：视频和解说词启示我们文化创新应如何对待传统文化？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1038" y="121196"/>
            <a:ext cx="8774100" cy="1485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舌尖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中有许多描写各个民族、各个地域的节日礼俗，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像一幅幅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乡村仪式的风俗画，表现着中华民族的情感世界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。比如端午节吃粽子。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9" y="1855672"/>
            <a:ext cx="4509120" cy="2505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088" y="1849388"/>
            <a:ext cx="4520431" cy="2511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323528" y="5068669"/>
            <a:ext cx="74888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思考深化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：文化创新就是要彻底抛弃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或全盘继承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47410" y="231630"/>
            <a:ext cx="8136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、文化创新 基本途径之一：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继承传统  推陈出新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7544" y="1545387"/>
            <a:ext cx="1415772" cy="461665"/>
          </a:xfrm>
          <a:prstGeom prst="rect">
            <a:avLst/>
          </a:prstGeom>
          <a:solidFill>
            <a:schemeClr val="accent2">
              <a:lumMod val="75000"/>
              <a:alpha val="38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文化创新</a:t>
            </a:r>
            <a:endParaRPr lang="zh-CN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7544" y="3388604"/>
            <a:ext cx="1415772" cy="461665"/>
          </a:xfrm>
          <a:prstGeom prst="rect">
            <a:avLst/>
          </a:prstGeom>
          <a:solidFill>
            <a:schemeClr val="tx2">
              <a:lumMod val="60000"/>
              <a:lumOff val="40000"/>
              <a:alpha val="38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社会实践</a:t>
            </a:r>
            <a:endParaRPr lang="zh-CN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1175430" y="2030072"/>
            <a:ext cx="0" cy="133032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31664" y="2454406"/>
            <a:ext cx="1287532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根本 途径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99992" y="1371345"/>
            <a:ext cx="1415772" cy="830997"/>
          </a:xfrm>
          <a:prstGeom prst="rect">
            <a:avLst/>
          </a:prstGeom>
          <a:solidFill>
            <a:schemeClr val="tx2">
              <a:lumMod val="60000"/>
              <a:lumOff val="40000"/>
              <a:alpha val="38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继承传统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推陈出新</a:t>
            </a:r>
            <a:endParaRPr lang="zh-CN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69340" y="1128835"/>
            <a:ext cx="2492990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取其精华、去其糟粕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/>
          <p:cNvCxnSpPr>
            <a:stCxn id="8" idx="3"/>
          </p:cNvCxnSpPr>
          <p:nvPr/>
        </p:nvCxnSpPr>
        <p:spPr>
          <a:xfrm>
            <a:off x="1883316" y="1776220"/>
            <a:ext cx="2616676" cy="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084168" y="1413610"/>
            <a:ext cx="8384" cy="788732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3" idx="3"/>
          </p:cNvCxnSpPr>
          <p:nvPr/>
        </p:nvCxnSpPr>
        <p:spPr>
          <a:xfrm>
            <a:off x="5915764" y="1786844"/>
            <a:ext cx="176788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6092552" y="1427801"/>
            <a:ext cx="176788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092552" y="2202342"/>
            <a:ext cx="176788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2340657" y="1417340"/>
            <a:ext cx="1723549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基本途径之一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269340" y="2002287"/>
            <a:ext cx="2492990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推陈出新、革故鼎新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807949" y="1510834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改造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传统文化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862228" y="2425452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创造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新文化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5236297" y="2202342"/>
            <a:ext cx="0" cy="133032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857164" y="3581827"/>
            <a:ext cx="3005951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守旧主义、历史虚无主义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795668" y="2563951"/>
            <a:ext cx="928460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   对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3228853" y="451369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拒绝接受新文化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4211960" y="3981937"/>
            <a:ext cx="0" cy="53953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5253677" y="451369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根本否认传统文化</a:t>
            </a: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6114399" y="4009628"/>
            <a:ext cx="0" cy="53953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2617948" y="104800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（纵向）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51520" y="5073512"/>
            <a:ext cx="8743872" cy="4001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、不能离开传统，空谈文化创新。</a:t>
            </a:r>
            <a:r>
              <a:rPr lang="en-US" altLang="zh-CN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、要体现时代精神，是创新的重要追求。</a:t>
            </a:r>
            <a:endParaRPr lang="zh-CN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51520" y="4657700"/>
            <a:ext cx="954107" cy="4001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1" grpId="0" animBg="1"/>
      <p:bldP spid="13" grpId="0" animBg="1"/>
      <p:bldP spid="14" grpId="0" animBg="1"/>
      <p:bldP spid="33" grpId="0" animBg="1"/>
      <p:bldP spid="34" grpId="0" animBg="1"/>
      <p:bldP spid="36" grpId="0"/>
      <p:bldP spid="40" grpId="0"/>
      <p:bldP spid="42" grpId="0" animBg="1"/>
      <p:bldP spid="43" grpId="0" animBg="1"/>
      <p:bldP spid="38" grpId="0"/>
      <p:bldP spid="48" grpId="0"/>
      <p:bldP spid="45" grpId="0"/>
      <p:bldP spid="51" grpId="0" animBg="1"/>
      <p:bldP spid="4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1"/>
          <p:cNvSpPr/>
          <p:nvPr/>
        </p:nvSpPr>
        <p:spPr>
          <a:xfrm rot="10800000">
            <a:off x="2055489" y="-238844"/>
            <a:ext cx="1279454" cy="1071283"/>
          </a:xfrm>
          <a:custGeom>
            <a:avLst/>
            <a:gdLst/>
            <a:ahLst/>
            <a:cxnLst/>
            <a:rect l="l" t="t" r="r" b="b"/>
            <a:pathLst>
              <a:path w="1648346" h="1656184">
                <a:moveTo>
                  <a:pt x="820254" y="0"/>
                </a:moveTo>
                <a:cubicBezTo>
                  <a:pt x="1277597" y="0"/>
                  <a:pt x="1648346" y="370749"/>
                  <a:pt x="1648346" y="828092"/>
                </a:cubicBezTo>
                <a:cubicBezTo>
                  <a:pt x="1648346" y="1285435"/>
                  <a:pt x="1277597" y="1656184"/>
                  <a:pt x="820254" y="1656184"/>
                </a:cubicBezTo>
                <a:cubicBezTo>
                  <a:pt x="771082" y="1656184"/>
                  <a:pt x="722910" y="1651898"/>
                  <a:pt x="676238" y="1642851"/>
                </a:cubicBezTo>
                <a:lnTo>
                  <a:pt x="676238" y="1458836"/>
                </a:lnTo>
                <a:cubicBezTo>
                  <a:pt x="722365" y="1470593"/>
                  <a:pt x="770659" y="1476164"/>
                  <a:pt x="820254" y="1476164"/>
                </a:cubicBezTo>
                <a:cubicBezTo>
                  <a:pt x="1178174" y="1476164"/>
                  <a:pt x="1468326" y="1186012"/>
                  <a:pt x="1468326" y="828092"/>
                </a:cubicBezTo>
                <a:cubicBezTo>
                  <a:pt x="1468326" y="470172"/>
                  <a:pt x="1178174" y="180020"/>
                  <a:pt x="820254" y="180020"/>
                </a:cubicBezTo>
                <a:cubicBezTo>
                  <a:pt x="499245" y="180020"/>
                  <a:pt x="232748" y="413413"/>
                  <a:pt x="183071" y="720080"/>
                </a:cubicBezTo>
                <a:lnTo>
                  <a:pt x="0" y="720080"/>
                </a:lnTo>
                <a:cubicBezTo>
                  <a:pt x="52132" y="313716"/>
                  <a:pt x="399556" y="0"/>
                  <a:pt x="820254" y="0"/>
                </a:cubicBezTo>
                <a:close/>
              </a:path>
            </a:pathLst>
          </a:cu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圆角矩形 14"/>
          <p:cNvSpPr/>
          <p:nvPr/>
        </p:nvSpPr>
        <p:spPr>
          <a:xfrm>
            <a:off x="4337988" y="341055"/>
            <a:ext cx="4338469" cy="378296"/>
          </a:xfrm>
          <a:custGeom>
            <a:avLst/>
            <a:gdLst/>
            <a:ahLst/>
            <a:cxnLst/>
            <a:rect l="l" t="t" r="r" b="b"/>
            <a:pathLst>
              <a:path w="4706546" h="492469">
                <a:moveTo>
                  <a:pt x="0" y="0"/>
                </a:moveTo>
                <a:lnTo>
                  <a:pt x="1697015" y="0"/>
                </a:lnTo>
                <a:lnTo>
                  <a:pt x="4460312" y="0"/>
                </a:lnTo>
                <a:cubicBezTo>
                  <a:pt x="4596303" y="0"/>
                  <a:pt x="4706546" y="110243"/>
                  <a:pt x="4706546" y="246235"/>
                </a:cubicBezTo>
                <a:cubicBezTo>
                  <a:pt x="4706546" y="382226"/>
                  <a:pt x="4596303" y="492469"/>
                  <a:pt x="4460312" y="492469"/>
                </a:cubicBezTo>
                <a:lnTo>
                  <a:pt x="1697015" y="492469"/>
                </a:lnTo>
                <a:lnTo>
                  <a:pt x="0" y="492469"/>
                </a:lnTo>
                <a:close/>
              </a:path>
            </a:pathLst>
          </a:custGeom>
          <a:solidFill>
            <a:srgbClr val="4BAC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椭圆 1"/>
          <p:cNvSpPr/>
          <p:nvPr/>
        </p:nvSpPr>
        <p:spPr>
          <a:xfrm>
            <a:off x="3203848" y="1023780"/>
            <a:ext cx="642770" cy="897616"/>
          </a:xfrm>
          <a:custGeom>
            <a:avLst/>
            <a:gdLst/>
            <a:ahLst/>
            <a:cxnLst/>
            <a:rect l="l" t="t" r="r" b="b"/>
            <a:pathLst>
              <a:path w="828092" h="1656184">
                <a:moveTo>
                  <a:pt x="828092" y="0"/>
                </a:moveTo>
                <a:lnTo>
                  <a:pt x="828092" y="180020"/>
                </a:lnTo>
                <a:cubicBezTo>
                  <a:pt x="470172" y="180020"/>
                  <a:pt x="180020" y="470172"/>
                  <a:pt x="180020" y="828092"/>
                </a:cubicBezTo>
                <a:cubicBezTo>
                  <a:pt x="180020" y="1186012"/>
                  <a:pt x="470172" y="1476164"/>
                  <a:pt x="828092" y="1476164"/>
                </a:cubicBezTo>
                <a:lnTo>
                  <a:pt x="828092" y="1656184"/>
                </a:lnTo>
                <a:cubicBezTo>
                  <a:pt x="370749" y="1656184"/>
                  <a:pt x="0" y="1285435"/>
                  <a:pt x="0" y="828092"/>
                </a:cubicBezTo>
                <a:cubicBezTo>
                  <a:pt x="0" y="370749"/>
                  <a:pt x="370749" y="0"/>
                  <a:pt x="828092" y="0"/>
                </a:cubicBezTo>
                <a:close/>
              </a:path>
            </a:pathLst>
          </a:custGeom>
          <a:solidFill>
            <a:srgbClr val="FF791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椭圆 1"/>
          <p:cNvSpPr/>
          <p:nvPr/>
        </p:nvSpPr>
        <p:spPr>
          <a:xfrm>
            <a:off x="3130540" y="63633"/>
            <a:ext cx="1279454" cy="1071282"/>
          </a:xfrm>
          <a:custGeom>
            <a:avLst/>
            <a:gdLst/>
            <a:ahLst/>
            <a:cxnLst/>
            <a:rect l="l" t="t" r="r" b="b"/>
            <a:pathLst>
              <a:path w="1648346" h="1656184">
                <a:moveTo>
                  <a:pt x="820254" y="0"/>
                </a:moveTo>
                <a:cubicBezTo>
                  <a:pt x="1277597" y="0"/>
                  <a:pt x="1648346" y="370749"/>
                  <a:pt x="1648346" y="828092"/>
                </a:cubicBezTo>
                <a:cubicBezTo>
                  <a:pt x="1648346" y="1285435"/>
                  <a:pt x="1277597" y="1656184"/>
                  <a:pt x="820254" y="1656184"/>
                </a:cubicBezTo>
                <a:cubicBezTo>
                  <a:pt x="771082" y="1656184"/>
                  <a:pt x="722910" y="1651898"/>
                  <a:pt x="676238" y="1642851"/>
                </a:cubicBezTo>
                <a:lnTo>
                  <a:pt x="676238" y="1458836"/>
                </a:lnTo>
                <a:cubicBezTo>
                  <a:pt x="722365" y="1470593"/>
                  <a:pt x="770659" y="1476164"/>
                  <a:pt x="820254" y="1476164"/>
                </a:cubicBezTo>
                <a:cubicBezTo>
                  <a:pt x="1178174" y="1476164"/>
                  <a:pt x="1468326" y="1186012"/>
                  <a:pt x="1468326" y="828092"/>
                </a:cubicBezTo>
                <a:cubicBezTo>
                  <a:pt x="1468326" y="470172"/>
                  <a:pt x="1178174" y="180020"/>
                  <a:pt x="820254" y="180020"/>
                </a:cubicBezTo>
                <a:cubicBezTo>
                  <a:pt x="499245" y="180020"/>
                  <a:pt x="232748" y="413413"/>
                  <a:pt x="183071" y="720080"/>
                </a:cubicBezTo>
                <a:lnTo>
                  <a:pt x="0" y="720080"/>
                </a:lnTo>
                <a:cubicBezTo>
                  <a:pt x="52132" y="313716"/>
                  <a:pt x="399556" y="0"/>
                  <a:pt x="820254" y="0"/>
                </a:cubicBezTo>
                <a:close/>
              </a:path>
            </a:pathLst>
          </a:custGeom>
          <a:solidFill>
            <a:srgbClr val="4BAC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椭圆 1"/>
          <p:cNvSpPr/>
          <p:nvPr/>
        </p:nvSpPr>
        <p:spPr>
          <a:xfrm rot="5400000">
            <a:off x="3183445" y="1821689"/>
            <a:ext cx="1066212" cy="977595"/>
          </a:xfrm>
          <a:custGeom>
            <a:avLst/>
            <a:gdLst/>
            <a:ahLst/>
            <a:cxnLst/>
            <a:rect l="l" t="t" r="r" b="b"/>
            <a:pathLst>
              <a:path w="1252575" h="957057">
                <a:moveTo>
                  <a:pt x="0" y="547187"/>
                </a:moveTo>
                <a:cubicBezTo>
                  <a:pt x="39615" y="238392"/>
                  <a:pt x="303622" y="0"/>
                  <a:pt x="623310" y="0"/>
                </a:cubicBezTo>
                <a:cubicBezTo>
                  <a:pt x="970844" y="0"/>
                  <a:pt x="1252575" y="281732"/>
                  <a:pt x="1252575" y="629266"/>
                </a:cubicBezTo>
                <a:cubicBezTo>
                  <a:pt x="1252575" y="750082"/>
                  <a:pt x="1218527" y="862947"/>
                  <a:pt x="1157187" y="957057"/>
                </a:cubicBezTo>
                <a:lnTo>
                  <a:pt x="1018418" y="918226"/>
                </a:lnTo>
                <a:cubicBezTo>
                  <a:pt x="1080425" y="838828"/>
                  <a:pt x="1115778" y="738176"/>
                  <a:pt x="1115778" y="629266"/>
                </a:cubicBezTo>
                <a:cubicBezTo>
                  <a:pt x="1115778" y="357283"/>
                  <a:pt x="895292" y="136797"/>
                  <a:pt x="623310" y="136797"/>
                </a:cubicBezTo>
                <a:cubicBezTo>
                  <a:pt x="379375" y="136797"/>
                  <a:pt x="176865" y="314152"/>
                  <a:pt x="139115" y="547187"/>
                </a:cubicBezTo>
                <a:close/>
              </a:path>
            </a:pathLst>
          </a:custGeom>
          <a:solidFill>
            <a:srgbClr val="4BAC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椭圆 1"/>
          <p:cNvSpPr/>
          <p:nvPr/>
        </p:nvSpPr>
        <p:spPr>
          <a:xfrm rot="8299388" flipH="1">
            <a:off x="1549969" y="4417129"/>
            <a:ext cx="630508" cy="434276"/>
          </a:xfrm>
          <a:custGeom>
            <a:avLst/>
            <a:gdLst/>
            <a:ahLst/>
            <a:cxnLst/>
            <a:rect l="l" t="t" r="r" b="b"/>
            <a:pathLst>
              <a:path w="630508" h="521131">
                <a:moveTo>
                  <a:pt x="143979" y="0"/>
                </a:moveTo>
                <a:lnTo>
                  <a:pt x="0" y="0"/>
                </a:lnTo>
                <a:cubicBezTo>
                  <a:pt x="56169" y="296901"/>
                  <a:pt x="317152" y="521131"/>
                  <a:pt x="630508" y="521131"/>
                </a:cubicBezTo>
                <a:lnTo>
                  <a:pt x="630508" y="381399"/>
                </a:lnTo>
                <a:cubicBezTo>
                  <a:pt x="394775" y="381399"/>
                  <a:pt x="196913" y="219248"/>
                  <a:pt x="143979" y="0"/>
                </a:cubicBezTo>
                <a:close/>
              </a:path>
            </a:pathLst>
          </a:custGeom>
          <a:solidFill>
            <a:srgbClr val="FF791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62519" y="254339"/>
            <a:ext cx="8428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rial Rounded MT Bold" pitchFamily="34" charset="0"/>
                <a:ea typeface="微软雅黑" panose="020B0503020204020204" pitchFamily="34" charset="-122"/>
              </a:rPr>
              <a:t>A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Arial Rounded MT Bold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50734" y="2159226"/>
            <a:ext cx="8428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rial Rounded MT Bold" pitchFamily="34" charset="0"/>
                <a:ea typeface="微软雅黑" panose="020B0503020204020204" pitchFamily="34" charset="-122"/>
              </a:rPr>
              <a:t>B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Arial Rounded MT Bold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椭圆 1"/>
          <p:cNvSpPr/>
          <p:nvPr/>
        </p:nvSpPr>
        <p:spPr>
          <a:xfrm rot="11936262">
            <a:off x="2471969" y="2609819"/>
            <a:ext cx="1057321" cy="1007185"/>
          </a:xfrm>
          <a:custGeom>
            <a:avLst/>
            <a:gdLst/>
            <a:ahLst/>
            <a:cxnLst/>
            <a:rect l="l" t="t" r="r" b="b"/>
            <a:pathLst>
              <a:path w="1069438" h="1258531">
                <a:moveTo>
                  <a:pt x="685111" y="1209080"/>
                </a:moveTo>
                <a:cubicBezTo>
                  <a:pt x="609827" y="1240923"/>
                  <a:pt x="527056" y="1258531"/>
                  <a:pt x="440172" y="1258531"/>
                </a:cubicBezTo>
                <a:cubicBezTo>
                  <a:pt x="402807" y="1258531"/>
                  <a:pt x="366201" y="1255274"/>
                  <a:pt x="330735" y="1248400"/>
                </a:cubicBezTo>
                <a:lnTo>
                  <a:pt x="330735" y="1108567"/>
                </a:lnTo>
                <a:cubicBezTo>
                  <a:pt x="365787" y="1117501"/>
                  <a:pt x="402485" y="1121734"/>
                  <a:pt x="440172" y="1121734"/>
                </a:cubicBezTo>
                <a:cubicBezTo>
                  <a:pt x="712155" y="1121734"/>
                  <a:pt x="932641" y="901249"/>
                  <a:pt x="932641" y="629266"/>
                </a:cubicBezTo>
                <a:cubicBezTo>
                  <a:pt x="932641" y="357283"/>
                  <a:pt x="712155" y="136797"/>
                  <a:pt x="440172" y="136797"/>
                </a:cubicBezTo>
                <a:cubicBezTo>
                  <a:pt x="296803" y="136797"/>
                  <a:pt x="167743" y="198062"/>
                  <a:pt x="79156" y="296919"/>
                </a:cubicBezTo>
                <a:lnTo>
                  <a:pt x="0" y="182599"/>
                </a:lnTo>
                <a:cubicBezTo>
                  <a:pt x="112050" y="69114"/>
                  <a:pt x="268040" y="0"/>
                  <a:pt x="440173" y="0"/>
                </a:cubicBezTo>
                <a:cubicBezTo>
                  <a:pt x="787707" y="0"/>
                  <a:pt x="1069438" y="281732"/>
                  <a:pt x="1069438" y="629266"/>
                </a:cubicBezTo>
                <a:cubicBezTo>
                  <a:pt x="1069438" y="889917"/>
                  <a:pt x="910964" y="1113553"/>
                  <a:pt x="685111" y="1209080"/>
                </a:cubicBezTo>
                <a:close/>
              </a:path>
            </a:pathLst>
          </a:cu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椭圆 1"/>
          <p:cNvSpPr/>
          <p:nvPr/>
        </p:nvSpPr>
        <p:spPr>
          <a:xfrm rot="3623156">
            <a:off x="2890416" y="3427198"/>
            <a:ext cx="1066212" cy="1285538"/>
          </a:xfrm>
          <a:custGeom>
            <a:avLst/>
            <a:gdLst/>
            <a:ahLst/>
            <a:cxnLst/>
            <a:rect l="l" t="t" r="r" b="b"/>
            <a:pathLst>
              <a:path w="1648346" h="1656184">
                <a:moveTo>
                  <a:pt x="820254" y="0"/>
                </a:moveTo>
                <a:cubicBezTo>
                  <a:pt x="1277597" y="0"/>
                  <a:pt x="1648346" y="370749"/>
                  <a:pt x="1648346" y="828092"/>
                </a:cubicBezTo>
                <a:cubicBezTo>
                  <a:pt x="1648346" y="1285435"/>
                  <a:pt x="1277597" y="1656184"/>
                  <a:pt x="820254" y="1656184"/>
                </a:cubicBezTo>
                <a:cubicBezTo>
                  <a:pt x="771082" y="1656184"/>
                  <a:pt x="722910" y="1651898"/>
                  <a:pt x="676238" y="1642851"/>
                </a:cubicBezTo>
                <a:lnTo>
                  <a:pt x="676238" y="1458836"/>
                </a:lnTo>
                <a:cubicBezTo>
                  <a:pt x="722365" y="1470593"/>
                  <a:pt x="770659" y="1476164"/>
                  <a:pt x="820254" y="1476164"/>
                </a:cubicBezTo>
                <a:cubicBezTo>
                  <a:pt x="1178174" y="1476164"/>
                  <a:pt x="1468326" y="1186012"/>
                  <a:pt x="1468326" y="828092"/>
                </a:cubicBezTo>
                <a:cubicBezTo>
                  <a:pt x="1468326" y="470172"/>
                  <a:pt x="1178174" y="180020"/>
                  <a:pt x="820254" y="180020"/>
                </a:cubicBezTo>
                <a:cubicBezTo>
                  <a:pt x="499245" y="180020"/>
                  <a:pt x="232748" y="413413"/>
                  <a:pt x="183071" y="720080"/>
                </a:cubicBezTo>
                <a:lnTo>
                  <a:pt x="0" y="720080"/>
                </a:lnTo>
                <a:cubicBezTo>
                  <a:pt x="52132" y="313716"/>
                  <a:pt x="399556" y="0"/>
                  <a:pt x="820254" y="0"/>
                </a:cubicBezTo>
                <a:close/>
              </a:path>
            </a:pathLst>
          </a:custGeom>
          <a:solidFill>
            <a:srgbClr val="4BAC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椭圆 1"/>
          <p:cNvSpPr/>
          <p:nvPr/>
        </p:nvSpPr>
        <p:spPr>
          <a:xfrm rot="14593203">
            <a:off x="2079023" y="3797911"/>
            <a:ext cx="628795" cy="1042969"/>
          </a:xfrm>
          <a:custGeom>
            <a:avLst/>
            <a:gdLst/>
            <a:ahLst/>
            <a:cxnLst/>
            <a:rect l="l" t="t" r="r" b="b"/>
            <a:pathLst>
              <a:path w="707595" h="978060">
                <a:moveTo>
                  <a:pt x="648156" y="636618"/>
                </a:moveTo>
                <a:cubicBezTo>
                  <a:pt x="584668" y="768376"/>
                  <a:pt x="474666" y="873501"/>
                  <a:pt x="339453" y="930692"/>
                </a:cubicBezTo>
                <a:cubicBezTo>
                  <a:pt x="267339" y="961194"/>
                  <a:pt x="188053" y="978060"/>
                  <a:pt x="104828" y="978060"/>
                </a:cubicBezTo>
                <a:cubicBezTo>
                  <a:pt x="69037" y="978060"/>
                  <a:pt x="33972" y="974940"/>
                  <a:pt x="0" y="968356"/>
                </a:cubicBezTo>
                <a:lnTo>
                  <a:pt x="0" y="834411"/>
                </a:lnTo>
                <a:cubicBezTo>
                  <a:pt x="33576" y="842969"/>
                  <a:pt x="68728" y="847024"/>
                  <a:pt x="104828" y="847024"/>
                </a:cubicBezTo>
                <a:cubicBezTo>
                  <a:pt x="365358" y="847024"/>
                  <a:pt x="576559" y="635823"/>
                  <a:pt x="576559" y="375294"/>
                </a:cubicBezTo>
                <a:cubicBezTo>
                  <a:pt x="576559" y="221779"/>
                  <a:pt x="503229" y="85392"/>
                  <a:pt x="388512" y="821"/>
                </a:cubicBezTo>
                <a:lnTo>
                  <a:pt x="388926" y="0"/>
                </a:lnTo>
                <a:lnTo>
                  <a:pt x="657428" y="135512"/>
                </a:lnTo>
                <a:cubicBezTo>
                  <a:pt x="689878" y="208838"/>
                  <a:pt x="707595" y="289997"/>
                  <a:pt x="707595" y="375294"/>
                </a:cubicBezTo>
                <a:cubicBezTo>
                  <a:pt x="707595" y="468922"/>
                  <a:pt x="686248" y="557564"/>
                  <a:pt x="648156" y="636618"/>
                </a:cubicBezTo>
                <a:close/>
              </a:path>
            </a:pathLst>
          </a:custGeom>
          <a:solidFill>
            <a:srgbClr val="FF7915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123089" y="3934675"/>
            <a:ext cx="8428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50000"/>
                  </a:srgbClr>
                </a:solidFill>
                <a:effectLst/>
                <a:uLnTx/>
                <a:uFillTx/>
                <a:latin typeface="Arial Rounded MT Bold" pitchFamily="34" charset="0"/>
                <a:ea typeface="微软雅黑" panose="020B0503020204020204" pitchFamily="34" charset="-122"/>
              </a:rPr>
              <a:t>C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50000"/>
                </a:srgbClr>
              </a:solidFill>
              <a:effectLst/>
              <a:uLnTx/>
              <a:uFillTx/>
              <a:latin typeface="Arial Rounded MT Bold" pitchFamily="34" charset="0"/>
              <a:ea typeface="微软雅黑" panose="020B0503020204020204" pitchFamily="34" charset="-122"/>
            </a:endParaRPr>
          </a:p>
        </p:txBody>
      </p:sp>
      <p:sp>
        <p:nvSpPr>
          <p:cNvPr id="35" name="圆角矩形 14"/>
          <p:cNvSpPr/>
          <p:nvPr/>
        </p:nvSpPr>
        <p:spPr>
          <a:xfrm>
            <a:off x="4101398" y="1993404"/>
            <a:ext cx="4338469" cy="378296"/>
          </a:xfrm>
          <a:custGeom>
            <a:avLst/>
            <a:gdLst/>
            <a:ahLst/>
            <a:cxnLst/>
            <a:rect l="l" t="t" r="r" b="b"/>
            <a:pathLst>
              <a:path w="4706546" h="492469">
                <a:moveTo>
                  <a:pt x="0" y="0"/>
                </a:moveTo>
                <a:lnTo>
                  <a:pt x="1697015" y="0"/>
                </a:lnTo>
                <a:lnTo>
                  <a:pt x="4460312" y="0"/>
                </a:lnTo>
                <a:cubicBezTo>
                  <a:pt x="4596303" y="0"/>
                  <a:pt x="4706546" y="110243"/>
                  <a:pt x="4706546" y="246235"/>
                </a:cubicBezTo>
                <a:cubicBezTo>
                  <a:pt x="4706546" y="382226"/>
                  <a:pt x="4596303" y="492469"/>
                  <a:pt x="4460312" y="492469"/>
                </a:cubicBezTo>
                <a:lnTo>
                  <a:pt x="1697015" y="492469"/>
                </a:lnTo>
                <a:lnTo>
                  <a:pt x="0" y="492469"/>
                </a:lnTo>
                <a:close/>
              </a:path>
            </a:pathLst>
          </a:custGeom>
          <a:solidFill>
            <a:srgbClr val="4BAC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6" name="圆角矩形 14"/>
          <p:cNvSpPr/>
          <p:nvPr/>
        </p:nvSpPr>
        <p:spPr>
          <a:xfrm>
            <a:off x="3978954" y="3721596"/>
            <a:ext cx="4338469" cy="378296"/>
          </a:xfrm>
          <a:custGeom>
            <a:avLst/>
            <a:gdLst/>
            <a:ahLst/>
            <a:cxnLst/>
            <a:rect l="l" t="t" r="r" b="b"/>
            <a:pathLst>
              <a:path w="4706546" h="492469">
                <a:moveTo>
                  <a:pt x="0" y="0"/>
                </a:moveTo>
                <a:lnTo>
                  <a:pt x="1697015" y="0"/>
                </a:lnTo>
                <a:lnTo>
                  <a:pt x="4460312" y="0"/>
                </a:lnTo>
                <a:cubicBezTo>
                  <a:pt x="4596303" y="0"/>
                  <a:pt x="4706546" y="110243"/>
                  <a:pt x="4706546" y="246235"/>
                </a:cubicBezTo>
                <a:cubicBezTo>
                  <a:pt x="4706546" y="382226"/>
                  <a:pt x="4596303" y="492469"/>
                  <a:pt x="4460312" y="492469"/>
                </a:cubicBezTo>
                <a:lnTo>
                  <a:pt x="1697015" y="492469"/>
                </a:lnTo>
                <a:lnTo>
                  <a:pt x="0" y="492469"/>
                </a:lnTo>
                <a:close/>
              </a:path>
            </a:pathLst>
          </a:custGeom>
          <a:solidFill>
            <a:srgbClr val="4BACC6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 flipH="1">
            <a:off x="4409996" y="398165"/>
            <a:ext cx="4029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latin typeface="Arial Rounded MT Bold" pitchFamily="34" charset="0"/>
                <a:cs typeface="Times New Roman" panose="02020603050405020304" pitchFamily="18" charset="0"/>
              </a:rPr>
              <a:t>首</a:t>
            </a:r>
            <a:r>
              <a:rPr kumimoji="0" lang="zh-CN" altLang="en-US" sz="2000" b="1" i="0" u="none" strike="noStrike" kern="0" cap="none" spc="0" normalizeH="0" baseline="0" noProof="0" dirty="0" smtClean="0">
                <a:ln w="18415" cmpd="sng">
                  <a:noFill/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次引入</a:t>
            </a:r>
            <a:r>
              <a:rPr kumimoji="0" lang="en-US" altLang="zh-CN" sz="2000" b="1" i="0" u="none" strike="noStrike" kern="0" cap="none" spc="0" normalizeH="0" baseline="0" noProof="0" dirty="0" smtClean="0">
                <a:ln w="18415" cmpd="sng">
                  <a:noFill/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BBC</a:t>
            </a:r>
            <a:r>
              <a:rPr kumimoji="0" lang="zh-CN" altLang="en-US" sz="2000" b="1" i="0" u="none" strike="noStrike" kern="0" cap="none" spc="0" normalizeH="0" baseline="0" noProof="0" dirty="0" smtClean="0">
                <a:ln w="18415" cmpd="sng">
                  <a:noFill/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前期调研员</a:t>
            </a:r>
            <a:endParaRPr kumimoji="0" lang="zh-CN" altLang="en-US" sz="2000" b="1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 flipH="1">
            <a:off x="4265980" y="2011694"/>
            <a:ext cx="4029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 w="18415" cmpd="sng">
                  <a:noFill/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借鉴“慢食运动”理念</a:t>
            </a:r>
            <a:endParaRPr kumimoji="0" lang="zh-CN" altLang="en-US" sz="2000" b="1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 flipH="1">
            <a:off x="4139951" y="3784893"/>
            <a:ext cx="4177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zh-CN" altLang="en-US" sz="2000" dirty="0" smtClean="0">
                <a:solidFill>
                  <a:schemeClr val="tx1"/>
                </a:solidFill>
                <a:latin typeface="Arial Rounded MT Bold" pitchFamily="34" charset="0"/>
                <a:cs typeface="Times New Roman" panose="02020603050405020304" pitchFamily="18" charset="0"/>
              </a:rPr>
              <a:t>制作</a:t>
            </a:r>
            <a:r>
              <a:rPr lang="zh-CN" altLang="en-US" sz="2000" dirty="0">
                <a:solidFill>
                  <a:schemeClr val="tx1"/>
                </a:solidFill>
                <a:latin typeface="Arial Rounded MT Bold" pitchFamily="34" charset="0"/>
                <a:cs typeface="Times New Roman" panose="02020603050405020304" pitchFamily="18" charset="0"/>
              </a:rPr>
              <a:t>模式借鉴外媒</a:t>
            </a:r>
            <a:r>
              <a:rPr lang="zh-CN" altLang="en-US" sz="2000" dirty="0" smtClean="0">
                <a:solidFill>
                  <a:schemeClr val="tx1"/>
                </a:solidFill>
                <a:latin typeface="Arial Rounded MT Bold" pitchFamily="34" charset="0"/>
                <a:cs typeface="Times New Roman" panose="02020603050405020304" pitchFamily="18" charset="0"/>
              </a:rPr>
              <a:t>经验</a:t>
            </a:r>
            <a:endParaRPr lang="zh-CN" altLang="en-US" sz="2000" dirty="0">
              <a:solidFill>
                <a:schemeClr val="tx1"/>
              </a:solidFill>
              <a:latin typeface="Arial Rounded MT Bold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 flipH="1">
            <a:off x="4382675" y="761976"/>
            <a:ext cx="45098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16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《</a:t>
            </a:r>
            <a:r>
              <a:rPr lang="zh-CN" altLang="en-US" sz="16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舌尖</a:t>
            </a:r>
            <a:r>
              <a:rPr lang="en-US" altLang="zh-CN" sz="16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》</a:t>
            </a:r>
            <a:r>
              <a:rPr lang="zh-CN" altLang="en-US" sz="16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</a:t>
            </a:r>
            <a:r>
              <a:rPr lang="zh-CN" altLang="en-US" sz="1600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中国纪录片历史上第一次</a:t>
            </a:r>
            <a:r>
              <a:rPr lang="zh-CN" altLang="en-US" sz="16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引入了</a:t>
            </a:r>
            <a:r>
              <a:rPr lang="en-US" altLang="zh-CN" sz="16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16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个前期调研员，而这几乎是</a:t>
            </a:r>
            <a:r>
              <a:rPr lang="zh-CN" altLang="en-US" sz="1600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西方纪录片多年的惯例</a:t>
            </a:r>
            <a:r>
              <a:rPr lang="zh-CN" altLang="en-US" sz="1600" kern="0" dirty="0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r>
              <a:rPr lang="zh-CN" altLang="en-US" sz="1600" kern="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调研员</a:t>
            </a:r>
            <a:r>
              <a:rPr lang="zh-CN" altLang="en-US" sz="1600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的概念来自</a:t>
            </a:r>
            <a:r>
              <a:rPr lang="en-US" altLang="zh-CN" sz="1600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BBC</a:t>
            </a:r>
            <a:r>
              <a:rPr lang="zh-CN" altLang="en-US" sz="16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，提前去踩点、找景、找到合适的拍摄对象。</a:t>
            </a:r>
          </a:p>
        </p:txBody>
      </p:sp>
      <p:sp>
        <p:nvSpPr>
          <p:cNvPr id="41" name="TextBox 40"/>
          <p:cNvSpPr txBox="1"/>
          <p:nvPr/>
        </p:nvSpPr>
        <p:spPr>
          <a:xfrm flipH="1">
            <a:off x="4153112" y="2353444"/>
            <a:ext cx="47841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借鉴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“慢食运动”创始人卡罗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佩特里尼（意大利美食专栏作家和社会活动家）的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慢食运动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理念</a:t>
            </a:r>
            <a:r>
              <a:rPr lang="zh-CN" altLang="en-US" sz="16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以一种比较慢的节奏去吃东西、去生活，食物都是最本初的那种食物，最干净、最朴素、最具有自然韵味的”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 flipH="1">
            <a:off x="4065124" y="4081636"/>
            <a:ext cx="49713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陈晓卿说他们整个制作的模式是</a:t>
            </a:r>
            <a:r>
              <a:rPr lang="zh-CN" altLang="en-US" sz="1600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照着商业纪录片的套路</a:t>
            </a:r>
            <a:r>
              <a:rPr lang="zh-CN" altLang="en-US" sz="16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在做，无论是</a:t>
            </a:r>
            <a:r>
              <a:rPr lang="zh-CN" altLang="en-US" sz="1600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结构、影像的控制，都是发达国家媒体总结的经验</a:t>
            </a:r>
            <a:r>
              <a:rPr lang="zh-CN" altLang="en-US" sz="1600" kern="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，都是借鉴过来的，不是那么的夸张。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该片执行导演任长箴也愉快地承认了对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BBC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的模仿。</a:t>
            </a:r>
            <a:endParaRPr lang="zh-CN" altLang="en-US" sz="1600" dirty="0"/>
          </a:p>
        </p:txBody>
      </p:sp>
      <p:sp>
        <p:nvSpPr>
          <p:cNvPr id="44" name="矩形 43"/>
          <p:cNvSpPr/>
          <p:nvPr/>
        </p:nvSpPr>
        <p:spPr>
          <a:xfrm>
            <a:off x="70291" y="155958"/>
            <a:ext cx="2125445" cy="471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舌尖上的中国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被称为是一部“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隔着屏幕能闻到香气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”的纪录片，在国内引发了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口水与泪水齐飞现象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  <a:endParaRPr lang="en-US" altLang="zh-CN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海外反</a:t>
            </a:r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响也很强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烈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，一些国家和地区还发生了争抢该片的现象。几乎每一个看过这部纪录片的外国人都说：“世界太需要看到这样的中国。”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414" y="5233764"/>
            <a:ext cx="789904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kern="0" cap="none" spc="0" normalizeH="0" baseline="0">
                <a:ln w="18415" cmpd="sng">
                  <a:noFill/>
                  <a:prstDash val="solid"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rial Rounded MT Bold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zh-CN" altLang="en-US" sz="2000" dirty="0" smtClean="0">
                <a:solidFill>
                  <a:schemeClr val="tx1"/>
                </a:solidFill>
              </a:rPr>
              <a:t>探究三：上述材料启示我们文化创新应该怎样对待外来文化？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3" grpId="0" animBg="1"/>
      <p:bldP spid="25" grpId="0" animBg="1"/>
      <p:bldP spid="24" grpId="0" animBg="1"/>
      <p:bldP spid="26" grpId="0" animBg="1"/>
      <p:bldP spid="28" grpId="0" animBg="1"/>
      <p:bldP spid="29" grpId="0"/>
      <p:bldP spid="30" grpId="0"/>
      <p:bldP spid="31" grpId="0" animBg="1"/>
      <p:bldP spid="32" grpId="0" animBg="1"/>
      <p:bldP spid="33" grpId="0" animBg="1"/>
      <p:bldP spid="34" grpId="0"/>
      <p:bldP spid="35" grpId="0" animBg="1"/>
      <p:bldP spid="36" grpId="0" animBg="1"/>
      <p:bldP spid="37" grpId="0"/>
      <p:bldP spid="38" grpId="0"/>
      <p:bldP spid="39" grpId="0"/>
      <p:bldP spid="40" grpId="0"/>
      <p:bldP spid="41" grpId="0"/>
      <p:bldP spid="42" grpId="0"/>
      <p:bldP spid="44" grpId="0"/>
      <p:bldP spid="4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7"/>
          <p:cNvSpPr/>
          <p:nvPr/>
        </p:nvSpPr>
        <p:spPr>
          <a:xfrm>
            <a:off x="2555776" y="380244"/>
            <a:ext cx="4118522" cy="449370"/>
          </a:xfrm>
          <a:custGeom>
            <a:avLst/>
            <a:gdLst>
              <a:gd name="connsiteX0" fmla="*/ 0 w 5184367"/>
              <a:gd name="connsiteY0" fmla="*/ 0 h 678797"/>
              <a:gd name="connsiteX1" fmla="*/ 4852002 w 5184367"/>
              <a:gd name="connsiteY1" fmla="*/ 14067 h 678797"/>
              <a:gd name="connsiteX2" fmla="*/ 5184367 w 5184367"/>
              <a:gd name="connsiteY2" fmla="*/ 346432 h 678797"/>
              <a:gd name="connsiteX3" fmla="*/ 5184366 w 5184367"/>
              <a:gd name="connsiteY3" fmla="*/ 346432 h 678797"/>
              <a:gd name="connsiteX4" fmla="*/ 4852001 w 5184367"/>
              <a:gd name="connsiteY4" fmla="*/ 678797 h 678797"/>
              <a:gd name="connsiteX5" fmla="*/ 84406 w 5184367"/>
              <a:gd name="connsiteY5" fmla="*/ 678796 h 678797"/>
              <a:gd name="connsiteX6" fmla="*/ 0 w 5184367"/>
              <a:gd name="connsiteY6" fmla="*/ 0 h 678797"/>
              <a:gd name="connsiteX0-1" fmla="*/ 0 w 5184367"/>
              <a:gd name="connsiteY0-2" fmla="*/ 0 h 678797"/>
              <a:gd name="connsiteX1-3" fmla="*/ 4852002 w 5184367"/>
              <a:gd name="connsiteY1-4" fmla="*/ 14067 h 678797"/>
              <a:gd name="connsiteX2-5" fmla="*/ 5184367 w 5184367"/>
              <a:gd name="connsiteY2-6" fmla="*/ 346432 h 678797"/>
              <a:gd name="connsiteX3-7" fmla="*/ 5184366 w 5184367"/>
              <a:gd name="connsiteY3-8" fmla="*/ 346432 h 678797"/>
              <a:gd name="connsiteX4-9" fmla="*/ 4852001 w 5184367"/>
              <a:gd name="connsiteY4-10" fmla="*/ 678797 h 678797"/>
              <a:gd name="connsiteX5-11" fmla="*/ 84406 w 5184367"/>
              <a:gd name="connsiteY5-12" fmla="*/ 678796 h 678797"/>
              <a:gd name="connsiteX6-13" fmla="*/ 0 w 5184367"/>
              <a:gd name="connsiteY6-14" fmla="*/ 0 h 678797"/>
              <a:gd name="connsiteX0-15" fmla="*/ 0 w 5184367"/>
              <a:gd name="connsiteY0-16" fmla="*/ 0 h 678797"/>
              <a:gd name="connsiteX1-17" fmla="*/ 4852002 w 5184367"/>
              <a:gd name="connsiteY1-18" fmla="*/ 14067 h 678797"/>
              <a:gd name="connsiteX2-19" fmla="*/ 5184367 w 5184367"/>
              <a:gd name="connsiteY2-20" fmla="*/ 346432 h 678797"/>
              <a:gd name="connsiteX3-21" fmla="*/ 5184366 w 5184367"/>
              <a:gd name="connsiteY3-22" fmla="*/ 346432 h 678797"/>
              <a:gd name="connsiteX4-23" fmla="*/ 4852001 w 5184367"/>
              <a:gd name="connsiteY4-24" fmla="*/ 678797 h 678797"/>
              <a:gd name="connsiteX5-25" fmla="*/ 14068 w 5184367"/>
              <a:gd name="connsiteY5-26" fmla="*/ 664728 h 678797"/>
              <a:gd name="connsiteX6-27" fmla="*/ 0 w 5184367"/>
              <a:gd name="connsiteY6-28" fmla="*/ 0 h 678797"/>
              <a:gd name="connsiteX0-29" fmla="*/ 0 w 5184367"/>
              <a:gd name="connsiteY0-30" fmla="*/ 0 h 678797"/>
              <a:gd name="connsiteX1-31" fmla="*/ 4852002 w 5184367"/>
              <a:gd name="connsiteY1-32" fmla="*/ 14067 h 678797"/>
              <a:gd name="connsiteX2-33" fmla="*/ 5184367 w 5184367"/>
              <a:gd name="connsiteY2-34" fmla="*/ 346432 h 678797"/>
              <a:gd name="connsiteX3-35" fmla="*/ 5184366 w 5184367"/>
              <a:gd name="connsiteY3-36" fmla="*/ 346432 h 678797"/>
              <a:gd name="connsiteX4-37" fmla="*/ 4852001 w 5184367"/>
              <a:gd name="connsiteY4-38" fmla="*/ 678797 h 678797"/>
              <a:gd name="connsiteX5-39" fmla="*/ 14068 w 5184367"/>
              <a:gd name="connsiteY5-40" fmla="*/ 664728 h 678797"/>
              <a:gd name="connsiteX6-41" fmla="*/ 0 w 5184367"/>
              <a:gd name="connsiteY6-42" fmla="*/ 0 h 6787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5184367" h="678797">
                <a:moveTo>
                  <a:pt x="0" y="0"/>
                </a:moveTo>
                <a:lnTo>
                  <a:pt x="4852002" y="14067"/>
                </a:lnTo>
                <a:cubicBezTo>
                  <a:pt x="5035562" y="14067"/>
                  <a:pt x="5184367" y="162872"/>
                  <a:pt x="5184367" y="346432"/>
                </a:cubicBezTo>
                <a:lnTo>
                  <a:pt x="5184366" y="346432"/>
                </a:lnTo>
                <a:cubicBezTo>
                  <a:pt x="5184366" y="529992"/>
                  <a:pt x="5035561" y="678797"/>
                  <a:pt x="4852001" y="678797"/>
                </a:cubicBezTo>
                <a:lnTo>
                  <a:pt x="14068" y="664728"/>
                </a:lnTo>
                <a:cubicBezTo>
                  <a:pt x="126609" y="457220"/>
                  <a:pt x="112541" y="207508"/>
                  <a:pt x="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椭圆 1"/>
          <p:cNvSpPr/>
          <p:nvPr/>
        </p:nvSpPr>
        <p:spPr>
          <a:xfrm>
            <a:off x="1675106" y="233091"/>
            <a:ext cx="1037295" cy="868523"/>
          </a:xfrm>
          <a:custGeom>
            <a:avLst/>
            <a:gdLst/>
            <a:ahLst/>
            <a:cxnLst/>
            <a:rect l="l" t="t" r="r" b="b"/>
            <a:pathLst>
              <a:path w="1648346" h="1656184">
                <a:moveTo>
                  <a:pt x="820254" y="0"/>
                </a:moveTo>
                <a:cubicBezTo>
                  <a:pt x="1277597" y="0"/>
                  <a:pt x="1648346" y="370749"/>
                  <a:pt x="1648346" y="828092"/>
                </a:cubicBezTo>
                <a:cubicBezTo>
                  <a:pt x="1648346" y="1285435"/>
                  <a:pt x="1277597" y="1656184"/>
                  <a:pt x="820254" y="1656184"/>
                </a:cubicBezTo>
                <a:cubicBezTo>
                  <a:pt x="771082" y="1656184"/>
                  <a:pt x="722910" y="1651898"/>
                  <a:pt x="676238" y="1642851"/>
                </a:cubicBezTo>
                <a:lnTo>
                  <a:pt x="676238" y="1458836"/>
                </a:lnTo>
                <a:cubicBezTo>
                  <a:pt x="722365" y="1470593"/>
                  <a:pt x="770659" y="1476164"/>
                  <a:pt x="820254" y="1476164"/>
                </a:cubicBezTo>
                <a:cubicBezTo>
                  <a:pt x="1178174" y="1476164"/>
                  <a:pt x="1468326" y="1186012"/>
                  <a:pt x="1468326" y="828092"/>
                </a:cubicBezTo>
                <a:cubicBezTo>
                  <a:pt x="1468326" y="470172"/>
                  <a:pt x="1178174" y="180020"/>
                  <a:pt x="820254" y="180020"/>
                </a:cubicBezTo>
                <a:cubicBezTo>
                  <a:pt x="499245" y="180020"/>
                  <a:pt x="232748" y="413413"/>
                  <a:pt x="183071" y="720080"/>
                </a:cubicBezTo>
                <a:lnTo>
                  <a:pt x="0" y="720080"/>
                </a:lnTo>
                <a:cubicBezTo>
                  <a:pt x="52132" y="313716"/>
                  <a:pt x="399556" y="0"/>
                  <a:pt x="820254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椭圆 1"/>
          <p:cNvSpPr/>
          <p:nvPr/>
        </p:nvSpPr>
        <p:spPr>
          <a:xfrm>
            <a:off x="1580263" y="994722"/>
            <a:ext cx="521114" cy="868523"/>
          </a:xfrm>
          <a:custGeom>
            <a:avLst/>
            <a:gdLst/>
            <a:ahLst/>
            <a:cxnLst/>
            <a:rect l="l" t="t" r="r" b="b"/>
            <a:pathLst>
              <a:path w="828092" h="1656184">
                <a:moveTo>
                  <a:pt x="828092" y="0"/>
                </a:moveTo>
                <a:lnTo>
                  <a:pt x="828092" y="180020"/>
                </a:lnTo>
                <a:cubicBezTo>
                  <a:pt x="470172" y="180020"/>
                  <a:pt x="180020" y="470172"/>
                  <a:pt x="180020" y="828092"/>
                </a:cubicBezTo>
                <a:cubicBezTo>
                  <a:pt x="180020" y="1186012"/>
                  <a:pt x="470172" y="1476164"/>
                  <a:pt x="828092" y="1476164"/>
                </a:cubicBezTo>
                <a:lnTo>
                  <a:pt x="828092" y="1656184"/>
                </a:lnTo>
                <a:cubicBezTo>
                  <a:pt x="370749" y="1656184"/>
                  <a:pt x="0" y="1285435"/>
                  <a:pt x="0" y="828092"/>
                </a:cubicBezTo>
                <a:cubicBezTo>
                  <a:pt x="0" y="370749"/>
                  <a:pt x="370749" y="0"/>
                  <a:pt x="828092" y="0"/>
                </a:cubicBezTo>
                <a:close/>
              </a:path>
            </a:pathLst>
          </a:cu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椭圆 1"/>
          <p:cNvSpPr/>
          <p:nvPr/>
        </p:nvSpPr>
        <p:spPr>
          <a:xfrm rot="5400000">
            <a:off x="1661819" y="1748691"/>
            <a:ext cx="864413" cy="904925"/>
          </a:xfrm>
          <a:custGeom>
            <a:avLst/>
            <a:gdLst/>
            <a:ahLst/>
            <a:cxnLst/>
            <a:rect l="l" t="t" r="r" b="b"/>
            <a:pathLst>
              <a:path w="1183825" h="1032756">
                <a:moveTo>
                  <a:pt x="0" y="517154"/>
                </a:moveTo>
                <a:cubicBezTo>
                  <a:pt x="37441" y="225308"/>
                  <a:pt x="286957" y="0"/>
                  <a:pt x="589098" y="0"/>
                </a:cubicBezTo>
                <a:cubicBezTo>
                  <a:pt x="917557" y="0"/>
                  <a:pt x="1183825" y="266268"/>
                  <a:pt x="1183825" y="594727"/>
                </a:cubicBezTo>
                <a:cubicBezTo>
                  <a:pt x="1183825" y="768833"/>
                  <a:pt x="1109011" y="925466"/>
                  <a:pt x="988432" y="1032756"/>
                </a:cubicBezTo>
                <a:lnTo>
                  <a:pt x="914457" y="926940"/>
                </a:lnTo>
                <a:cubicBezTo>
                  <a:pt x="1001016" y="842771"/>
                  <a:pt x="1054537" y="724999"/>
                  <a:pt x="1054537" y="594727"/>
                </a:cubicBezTo>
                <a:cubicBezTo>
                  <a:pt x="1054537" y="337673"/>
                  <a:pt x="846153" y="129289"/>
                  <a:pt x="589098" y="129289"/>
                </a:cubicBezTo>
                <a:cubicBezTo>
                  <a:pt x="358553" y="129289"/>
                  <a:pt x="167157" y="296909"/>
                  <a:pt x="131480" y="51715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椭圆 1"/>
          <p:cNvSpPr/>
          <p:nvPr/>
        </p:nvSpPr>
        <p:spPr>
          <a:xfrm rot="10800000">
            <a:off x="747999" y="116769"/>
            <a:ext cx="1037295" cy="868523"/>
          </a:xfrm>
          <a:custGeom>
            <a:avLst/>
            <a:gdLst/>
            <a:ahLst/>
            <a:cxnLst/>
            <a:rect l="l" t="t" r="r" b="b"/>
            <a:pathLst>
              <a:path w="1648346" h="1656184">
                <a:moveTo>
                  <a:pt x="820254" y="0"/>
                </a:moveTo>
                <a:cubicBezTo>
                  <a:pt x="1277597" y="0"/>
                  <a:pt x="1648346" y="370749"/>
                  <a:pt x="1648346" y="828092"/>
                </a:cubicBezTo>
                <a:cubicBezTo>
                  <a:pt x="1648346" y="1285435"/>
                  <a:pt x="1277597" y="1656184"/>
                  <a:pt x="820254" y="1656184"/>
                </a:cubicBezTo>
                <a:cubicBezTo>
                  <a:pt x="771082" y="1656184"/>
                  <a:pt x="722910" y="1651898"/>
                  <a:pt x="676238" y="1642851"/>
                </a:cubicBezTo>
                <a:lnTo>
                  <a:pt x="676238" y="1458836"/>
                </a:lnTo>
                <a:cubicBezTo>
                  <a:pt x="722365" y="1470593"/>
                  <a:pt x="770659" y="1476164"/>
                  <a:pt x="820254" y="1476164"/>
                </a:cubicBezTo>
                <a:cubicBezTo>
                  <a:pt x="1178174" y="1476164"/>
                  <a:pt x="1468326" y="1186012"/>
                  <a:pt x="1468326" y="828092"/>
                </a:cubicBezTo>
                <a:cubicBezTo>
                  <a:pt x="1468326" y="470172"/>
                  <a:pt x="1178174" y="180020"/>
                  <a:pt x="820254" y="180020"/>
                </a:cubicBezTo>
                <a:cubicBezTo>
                  <a:pt x="499245" y="180020"/>
                  <a:pt x="232748" y="413413"/>
                  <a:pt x="183071" y="720080"/>
                </a:cubicBezTo>
                <a:lnTo>
                  <a:pt x="0" y="720080"/>
                </a:lnTo>
                <a:cubicBezTo>
                  <a:pt x="52132" y="313716"/>
                  <a:pt x="399556" y="0"/>
                  <a:pt x="820254" y="0"/>
                </a:cubicBezTo>
                <a:close/>
              </a:path>
            </a:pathLst>
          </a:cu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圆角矩形 27"/>
          <p:cNvSpPr/>
          <p:nvPr/>
        </p:nvSpPr>
        <p:spPr>
          <a:xfrm>
            <a:off x="2442399" y="1971099"/>
            <a:ext cx="4118522" cy="449370"/>
          </a:xfrm>
          <a:custGeom>
            <a:avLst/>
            <a:gdLst>
              <a:gd name="connsiteX0" fmla="*/ 0 w 5184367"/>
              <a:gd name="connsiteY0" fmla="*/ 0 h 678797"/>
              <a:gd name="connsiteX1" fmla="*/ 4852002 w 5184367"/>
              <a:gd name="connsiteY1" fmla="*/ 14067 h 678797"/>
              <a:gd name="connsiteX2" fmla="*/ 5184367 w 5184367"/>
              <a:gd name="connsiteY2" fmla="*/ 346432 h 678797"/>
              <a:gd name="connsiteX3" fmla="*/ 5184366 w 5184367"/>
              <a:gd name="connsiteY3" fmla="*/ 346432 h 678797"/>
              <a:gd name="connsiteX4" fmla="*/ 4852001 w 5184367"/>
              <a:gd name="connsiteY4" fmla="*/ 678797 h 678797"/>
              <a:gd name="connsiteX5" fmla="*/ 84406 w 5184367"/>
              <a:gd name="connsiteY5" fmla="*/ 678796 h 678797"/>
              <a:gd name="connsiteX6" fmla="*/ 0 w 5184367"/>
              <a:gd name="connsiteY6" fmla="*/ 0 h 678797"/>
              <a:gd name="connsiteX0-1" fmla="*/ 0 w 5184367"/>
              <a:gd name="connsiteY0-2" fmla="*/ 0 h 678797"/>
              <a:gd name="connsiteX1-3" fmla="*/ 4852002 w 5184367"/>
              <a:gd name="connsiteY1-4" fmla="*/ 14067 h 678797"/>
              <a:gd name="connsiteX2-5" fmla="*/ 5184367 w 5184367"/>
              <a:gd name="connsiteY2-6" fmla="*/ 346432 h 678797"/>
              <a:gd name="connsiteX3-7" fmla="*/ 5184366 w 5184367"/>
              <a:gd name="connsiteY3-8" fmla="*/ 346432 h 678797"/>
              <a:gd name="connsiteX4-9" fmla="*/ 4852001 w 5184367"/>
              <a:gd name="connsiteY4-10" fmla="*/ 678797 h 678797"/>
              <a:gd name="connsiteX5-11" fmla="*/ 84406 w 5184367"/>
              <a:gd name="connsiteY5-12" fmla="*/ 678796 h 678797"/>
              <a:gd name="connsiteX6-13" fmla="*/ 0 w 5184367"/>
              <a:gd name="connsiteY6-14" fmla="*/ 0 h 678797"/>
              <a:gd name="connsiteX0-15" fmla="*/ 0 w 5184367"/>
              <a:gd name="connsiteY0-16" fmla="*/ 0 h 678797"/>
              <a:gd name="connsiteX1-17" fmla="*/ 4852002 w 5184367"/>
              <a:gd name="connsiteY1-18" fmla="*/ 14067 h 678797"/>
              <a:gd name="connsiteX2-19" fmla="*/ 5184367 w 5184367"/>
              <a:gd name="connsiteY2-20" fmla="*/ 346432 h 678797"/>
              <a:gd name="connsiteX3-21" fmla="*/ 5184366 w 5184367"/>
              <a:gd name="connsiteY3-22" fmla="*/ 346432 h 678797"/>
              <a:gd name="connsiteX4-23" fmla="*/ 4852001 w 5184367"/>
              <a:gd name="connsiteY4-24" fmla="*/ 678797 h 678797"/>
              <a:gd name="connsiteX5-25" fmla="*/ 14068 w 5184367"/>
              <a:gd name="connsiteY5-26" fmla="*/ 664728 h 678797"/>
              <a:gd name="connsiteX6-27" fmla="*/ 0 w 5184367"/>
              <a:gd name="connsiteY6-28" fmla="*/ 0 h 678797"/>
              <a:gd name="connsiteX0-29" fmla="*/ 0 w 5184367"/>
              <a:gd name="connsiteY0-30" fmla="*/ 0 h 678797"/>
              <a:gd name="connsiteX1-31" fmla="*/ 4852002 w 5184367"/>
              <a:gd name="connsiteY1-32" fmla="*/ 14067 h 678797"/>
              <a:gd name="connsiteX2-33" fmla="*/ 5184367 w 5184367"/>
              <a:gd name="connsiteY2-34" fmla="*/ 346432 h 678797"/>
              <a:gd name="connsiteX3-35" fmla="*/ 5184366 w 5184367"/>
              <a:gd name="connsiteY3-36" fmla="*/ 346432 h 678797"/>
              <a:gd name="connsiteX4-37" fmla="*/ 4852001 w 5184367"/>
              <a:gd name="connsiteY4-38" fmla="*/ 678797 h 678797"/>
              <a:gd name="connsiteX5-39" fmla="*/ 14068 w 5184367"/>
              <a:gd name="connsiteY5-40" fmla="*/ 664728 h 678797"/>
              <a:gd name="connsiteX6-41" fmla="*/ 0 w 5184367"/>
              <a:gd name="connsiteY6-42" fmla="*/ 0 h 6787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5184367" h="678797">
                <a:moveTo>
                  <a:pt x="0" y="0"/>
                </a:moveTo>
                <a:lnTo>
                  <a:pt x="4852002" y="14067"/>
                </a:lnTo>
                <a:cubicBezTo>
                  <a:pt x="5035562" y="14067"/>
                  <a:pt x="5184367" y="162872"/>
                  <a:pt x="5184367" y="346432"/>
                </a:cubicBezTo>
                <a:lnTo>
                  <a:pt x="5184366" y="346432"/>
                </a:lnTo>
                <a:cubicBezTo>
                  <a:pt x="5184366" y="529992"/>
                  <a:pt x="5035561" y="678797"/>
                  <a:pt x="4852001" y="678797"/>
                </a:cubicBezTo>
                <a:lnTo>
                  <a:pt x="14068" y="664728"/>
                </a:lnTo>
                <a:cubicBezTo>
                  <a:pt x="126609" y="457220"/>
                  <a:pt x="112541" y="207508"/>
                  <a:pt x="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 flipH="1">
            <a:off x="1723430" y="453586"/>
            <a:ext cx="1007088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 smtClean="0">
                <a:ln w="18415" cmpd="sng">
                  <a:noFill/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 Rounded MT Bol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endParaRPr kumimoji="0" lang="zh-CN" altLang="en-US" sz="4400" b="1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 Rounded MT Bol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 flipH="1">
            <a:off x="1539399" y="1988699"/>
            <a:ext cx="1007088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 smtClean="0">
                <a:ln w="18415" cmpd="sng">
                  <a:noFill/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 Rounded MT Bol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endParaRPr kumimoji="0" lang="zh-CN" altLang="en-US" sz="4400" b="1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 Rounded MT Bol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 flipH="1">
            <a:off x="2771800" y="464530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 lvl="0">
              <a:defRPr/>
            </a:pPr>
            <a:r>
              <a:rPr lang="zh-CN" altLang="en-US" sz="2000" dirty="0" smtClean="0">
                <a:solidFill>
                  <a:schemeClr val="tx1"/>
                </a:solidFill>
                <a:latin typeface="Arial Rounded MT Bold" pitchFamily="34" charset="0"/>
                <a:cs typeface="Times New Roman" panose="02020603050405020304" pitchFamily="18" charset="0"/>
              </a:rPr>
              <a:t>突出中国</a:t>
            </a:r>
            <a:r>
              <a:rPr lang="zh-CN" altLang="en-US" sz="2000" dirty="0">
                <a:solidFill>
                  <a:schemeClr val="tx1"/>
                </a:solidFill>
                <a:latin typeface="Arial Rounded MT Bold" pitchFamily="34" charset="0"/>
                <a:cs typeface="Times New Roman" panose="02020603050405020304" pitchFamily="18" charset="0"/>
              </a:rPr>
              <a:t>传统饮食“主食”</a:t>
            </a:r>
            <a:endParaRPr kumimoji="0" lang="zh-CN" altLang="en-US" sz="2000" b="1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schemeClr val="tx1"/>
              </a:solidFill>
              <a:uLnTx/>
              <a:uFillTx/>
              <a:latin typeface="Arial Rounded MT Bold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90516" y="847392"/>
            <a:ext cx="59046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en-US" altLang="zh-CN" sz="16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“慢食”的概念里并没有“主食”</a:t>
            </a:r>
            <a:r>
              <a:rPr lang="zh-CN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舌尖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并没有硬搬教条，</a:t>
            </a:r>
            <a:r>
              <a:rPr lang="zh-CN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融进了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中国传统饮食的特点，</a:t>
            </a:r>
            <a:r>
              <a:rPr lang="zh-CN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吃</a:t>
            </a:r>
            <a:r>
              <a:rPr lang="zh-CN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食物的最根本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  <a:r>
              <a:rPr lang="zh-CN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就是吃饱</a:t>
            </a:r>
            <a:r>
              <a:rPr lang="zh-CN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把第二集安排成了“主食的故事”，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把主食的地位放得很高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。端午节吃的粽子就是主食之一。</a:t>
            </a:r>
            <a:endParaRPr lang="zh-CN" altLang="en-US" sz="1600" dirty="0"/>
          </a:p>
          <a:p>
            <a:pPr lvl="0">
              <a:defRPr/>
            </a:pPr>
            <a:endParaRPr lang="zh-CN" altLang="en-US" sz="1600" kern="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flipH="1">
            <a:off x="2690516" y="2031876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 dirty="0" smtClean="0">
                <a:solidFill>
                  <a:schemeClr val="tx1"/>
                </a:solidFill>
                <a:latin typeface="Arial Rounded MT Bold" pitchFamily="34" charset="0"/>
                <a:cs typeface="Times New Roman" panose="02020603050405020304" pitchFamily="18" charset="0"/>
              </a:rPr>
              <a:t>借鉴优秀文化，为我所用</a:t>
            </a:r>
            <a:endParaRPr kumimoji="0" lang="zh-CN" altLang="en-US" sz="2000" b="1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schemeClr val="tx1"/>
              </a:solidFill>
              <a:uLnTx/>
              <a:uFillTx/>
              <a:latin typeface="Arial Rounded MT Bol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19606" y="2439968"/>
            <a:ext cx="61950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运用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了大量远景、特写等镜头及富有故事情节的剪辑技巧让人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难忘，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加入了拍摄食物的小技巧，电影感十足的唯美画面成为该片一大亮点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16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创造性地用浓重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的民间味道和乡土视角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中国人的味觉记忆转化为视觉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影像，端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上的都是人物命运。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舌尖上的中国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推向国际，打造国际范儿。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7294" y="4225652"/>
            <a:ext cx="8595483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800" b="1" i="0" u="none" strike="noStrike" kern="0" cap="none" spc="0" normalizeH="0" baseline="0">
                <a:ln w="18415" cmpd="sng">
                  <a:noFill/>
                  <a:prstDash val="solid"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Arial Rounded MT Bold" pitchFamily="34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z="2400" dirty="0">
                <a:solidFill>
                  <a:schemeClr val="tx1"/>
                </a:solidFill>
              </a:rPr>
              <a:t>探究三：端午节礼俗的呈现形式给我们文化创新怎样的启示</a:t>
            </a:r>
            <a:r>
              <a:rPr lang="zh-CN" altLang="en-US" sz="2400" dirty="0" smtClean="0">
                <a:solidFill>
                  <a:schemeClr val="tx1"/>
                </a:solidFill>
              </a:rPr>
              <a:t>？</a:t>
            </a:r>
            <a:endParaRPr lang="en-US" altLang="zh-CN" sz="2400" dirty="0" smtClean="0">
              <a:solidFill>
                <a:schemeClr val="tx1"/>
              </a:solidFill>
            </a:endParaRPr>
          </a:p>
        </p:txBody>
      </p:sp>
      <p:sp>
        <p:nvSpPr>
          <p:cNvPr id="9" name="椭圆 1"/>
          <p:cNvSpPr/>
          <p:nvPr/>
        </p:nvSpPr>
        <p:spPr>
          <a:xfrm rot="13461722">
            <a:off x="936734" y="2215810"/>
            <a:ext cx="770715" cy="832587"/>
          </a:xfrm>
          <a:custGeom>
            <a:avLst/>
            <a:gdLst/>
            <a:ahLst/>
            <a:cxnLst/>
            <a:rect l="l" t="t" r="r" b="b"/>
            <a:pathLst>
              <a:path w="970695" h="1189454">
                <a:moveTo>
                  <a:pt x="869125" y="927245"/>
                </a:moveTo>
                <a:cubicBezTo>
                  <a:pt x="762248" y="1085443"/>
                  <a:pt x="581255" y="1189454"/>
                  <a:pt x="375968" y="1189454"/>
                </a:cubicBezTo>
                <a:cubicBezTo>
                  <a:pt x="340653" y="1189454"/>
                  <a:pt x="306057" y="1186376"/>
                  <a:pt x="272537" y="1179878"/>
                </a:cubicBezTo>
                <a:lnTo>
                  <a:pt x="272537" y="1047721"/>
                </a:lnTo>
                <a:cubicBezTo>
                  <a:pt x="305665" y="1056165"/>
                  <a:pt x="340350" y="1060166"/>
                  <a:pt x="375968" y="1060166"/>
                </a:cubicBezTo>
                <a:cubicBezTo>
                  <a:pt x="633023" y="1060166"/>
                  <a:pt x="841407" y="851782"/>
                  <a:pt x="841407" y="594727"/>
                </a:cubicBezTo>
                <a:cubicBezTo>
                  <a:pt x="841407" y="337673"/>
                  <a:pt x="633023" y="129289"/>
                  <a:pt x="375968" y="129288"/>
                </a:cubicBezTo>
                <a:cubicBezTo>
                  <a:pt x="275868" y="129289"/>
                  <a:pt x="183148" y="160888"/>
                  <a:pt x="108351" y="216085"/>
                </a:cubicBezTo>
                <a:lnTo>
                  <a:pt x="0" y="135948"/>
                </a:lnTo>
                <a:cubicBezTo>
                  <a:pt x="101571" y="50541"/>
                  <a:pt x="232867" y="0"/>
                  <a:pt x="375968" y="0"/>
                </a:cubicBezTo>
                <a:cubicBezTo>
                  <a:pt x="704427" y="0"/>
                  <a:pt x="970695" y="266268"/>
                  <a:pt x="970695" y="594727"/>
                </a:cubicBezTo>
                <a:cubicBezTo>
                  <a:pt x="970695" y="717899"/>
                  <a:pt x="933251" y="832326"/>
                  <a:pt x="869125" y="927245"/>
                </a:cubicBezTo>
                <a:close/>
              </a:path>
            </a:pathLst>
          </a:cu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59532" y="4762375"/>
            <a:ext cx="81009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kern="0" dirty="0" smtClean="0">
                <a:ln w="18415" cmpd="sng">
                  <a:noFill/>
                  <a:prstDash val="solid"/>
                </a:ln>
                <a:latin typeface="Arial Rounded MT Bol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2000" b="1" kern="0" dirty="0" smtClean="0">
                <a:ln w="18415" cmpd="sng">
                  <a:noFill/>
                  <a:prstDash val="solid"/>
                </a:ln>
                <a:latin typeface="Arial Rounded MT Bol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思考深化</a:t>
            </a:r>
            <a:r>
              <a:rPr lang="en-US" altLang="zh-CN" sz="2000" b="1" kern="0" dirty="0" smtClean="0">
                <a:ln w="18415" cmpd="sng">
                  <a:noFill/>
                  <a:prstDash val="solid"/>
                </a:ln>
                <a:latin typeface="Arial Rounded MT Bol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  <a:r>
              <a:rPr lang="zh-CN" altLang="en-US" sz="2000" b="1" kern="0" dirty="0">
                <a:ln w="18415" cmpd="sng">
                  <a:noFill/>
                  <a:prstDash val="solid"/>
                </a:ln>
                <a:latin typeface="Arial Rounded MT Bold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面向世界，博采众长就是指不同民族文化之间的交流、借鉴与融合，那交流、借鉴与融合的内容是什么呢？</a:t>
            </a:r>
            <a:endParaRPr lang="en-US" altLang="zh-CN" sz="2000" b="1" kern="0" dirty="0">
              <a:ln w="18415" cmpd="sng">
                <a:noFill/>
                <a:prstDash val="solid"/>
              </a:ln>
              <a:latin typeface="Arial Rounded MT Bold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2" grpId="0" animBg="1"/>
      <p:bldP spid="14" grpId="0"/>
      <p:bldP spid="15" grpId="0"/>
      <p:bldP spid="17" grpId="0"/>
      <p:bldP spid="18" grpId="0"/>
      <p:bldP spid="19" grpId="0"/>
      <p:bldP spid="20" grpId="0"/>
      <p:bldP spid="23" grpId="0"/>
      <p:bldP spid="9" grpId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47410" y="231630"/>
            <a:ext cx="8136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、文化创新 基本途径之二：</a:t>
            </a:r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面向世界 博采众长</a:t>
            </a:r>
            <a:endParaRPr lang="en-US" altLang="zh-CN" sz="28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7544" y="1545387"/>
            <a:ext cx="1415772" cy="461665"/>
          </a:xfrm>
          <a:prstGeom prst="rect">
            <a:avLst/>
          </a:prstGeom>
          <a:solidFill>
            <a:schemeClr val="accent2">
              <a:lumMod val="75000"/>
              <a:alpha val="38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文化创新</a:t>
            </a:r>
            <a:endParaRPr lang="zh-CN" altLang="zh-CN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7544" y="3388604"/>
            <a:ext cx="1415772" cy="461665"/>
          </a:xfrm>
          <a:prstGeom prst="rect">
            <a:avLst/>
          </a:prstGeom>
          <a:solidFill>
            <a:schemeClr val="tx2">
              <a:lumMod val="60000"/>
              <a:lumOff val="40000"/>
              <a:alpha val="38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社会实践</a:t>
            </a:r>
            <a:endParaRPr lang="zh-CN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1175430" y="2030072"/>
            <a:ext cx="0" cy="133032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31664" y="2454406"/>
            <a:ext cx="1287532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根本 途径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99992" y="1371345"/>
            <a:ext cx="1415772" cy="830997"/>
          </a:xfrm>
          <a:prstGeom prst="rect">
            <a:avLst/>
          </a:prstGeom>
          <a:solidFill>
            <a:schemeClr val="tx2">
              <a:lumMod val="60000"/>
              <a:lumOff val="40000"/>
              <a:alpha val="38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面向世界</a:t>
            </a:r>
            <a:endParaRPr lang="en-US" altLang="zh-CN" sz="2400" b="1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博采众长</a:t>
            </a:r>
            <a:endParaRPr lang="zh-CN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69340" y="1128835"/>
            <a:ext cx="2492990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海纳百川、吸收借鉴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/>
          <p:cNvCxnSpPr>
            <a:stCxn id="8" idx="3"/>
          </p:cNvCxnSpPr>
          <p:nvPr/>
        </p:nvCxnSpPr>
        <p:spPr>
          <a:xfrm>
            <a:off x="1883316" y="1776220"/>
            <a:ext cx="2616676" cy="0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084168" y="1413610"/>
            <a:ext cx="8384" cy="788732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3" idx="3"/>
          </p:cNvCxnSpPr>
          <p:nvPr/>
        </p:nvCxnSpPr>
        <p:spPr>
          <a:xfrm>
            <a:off x="5915764" y="1786844"/>
            <a:ext cx="176789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6092552" y="1427801"/>
            <a:ext cx="176788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092552" y="2202342"/>
            <a:ext cx="176788" cy="0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2340657" y="1417340"/>
            <a:ext cx="1723549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基本途径之二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269342" y="2002287"/>
            <a:ext cx="2492990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以我为主、为我所用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807949" y="1510834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外来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文化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6862228" y="2425452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发展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民族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文化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5236297" y="2202342"/>
            <a:ext cx="0" cy="133032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857164" y="3581827"/>
            <a:ext cx="3005951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封闭主义、民族虚无主义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788024" y="2563951"/>
            <a:ext cx="851515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  对</a:t>
            </a: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689593" y="4549162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拒绝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接受任何外来文化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4211960" y="3981937"/>
            <a:ext cx="0" cy="53953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5384600" y="4513694"/>
            <a:ext cx="21002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一味推崇外来文化 </a:t>
            </a:r>
          </a:p>
        </p:txBody>
      </p:sp>
      <p:cxnSp>
        <p:nvCxnSpPr>
          <p:cNvPr id="49" name="直接箭头连接符 48"/>
          <p:cNvCxnSpPr/>
          <p:nvPr/>
        </p:nvCxnSpPr>
        <p:spPr>
          <a:xfrm>
            <a:off x="6114399" y="4009628"/>
            <a:ext cx="0" cy="539534"/>
          </a:xfrm>
          <a:prstGeom prst="straightConnector1">
            <a:avLst/>
          </a:prstGeom>
          <a:ln w="508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2617948" y="104800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（横向</a:t>
            </a:r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251520" y="5073512"/>
            <a:ext cx="8743872" cy="40011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文化多样性是世界文化的基本特征，也是文化创新的重要基础</a:t>
            </a:r>
            <a:endParaRPr lang="zh-CN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1" grpId="0" animBg="1"/>
      <p:bldP spid="13" grpId="0" animBg="1"/>
      <p:bldP spid="14" grpId="0" animBg="1"/>
      <p:bldP spid="33" grpId="0" animBg="1"/>
      <p:bldP spid="34" grpId="0" animBg="1"/>
      <p:bldP spid="36" grpId="0"/>
      <p:bldP spid="40" grpId="0"/>
      <p:bldP spid="42" grpId="0" animBg="1"/>
      <p:bldP spid="43" grpId="0" animBg="1"/>
      <p:bldP spid="38" grpId="0"/>
      <p:bldP spid="48" grpId="0"/>
      <p:bldP spid="45" grpId="0"/>
      <p:bldP spid="5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34" b="2915"/>
          <a:stretch>
            <a:fillRect/>
          </a:stretch>
        </p:blipFill>
        <p:spPr bwMode="auto">
          <a:xfrm>
            <a:off x="-11946" y="432048"/>
            <a:ext cx="9145223" cy="530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-47235" y="455721"/>
            <a:ext cx="9180512" cy="5318920"/>
          </a:xfrm>
          <a:prstGeom prst="rect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73260" y="1860594"/>
            <a:ext cx="8564960" cy="315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纪录片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舌尖上的中国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借鉴了西方优秀的纪录片制作方式和叙事语言，较为容易让西方观众接受。其实，片名也体现出来了潜在的受众是国外观众。只是中国地域太广，纪录片的空间跳跃节奏快，不了解中国地理的观众，可能反应不过来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为此，有人认为，要扩大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舌尖上的中国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在国外的影响力，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应该按照外国人的饮食习惯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，以外国人的喜好为主，</a:t>
            </a:r>
            <a:r>
              <a:rPr lang="zh-CN" altLang="en-US" sz="24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全盘按照外国的制作方式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来制作。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9268" y="-22820"/>
            <a:ext cx="8568952" cy="1718227"/>
          </a:xfrm>
          <a:prstGeom prst="rect">
            <a:avLst/>
          </a:prstGeom>
          <a:solidFill>
            <a:schemeClr val="bg1">
              <a:alpha val="69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探究四：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若要进行海外推广，我们是否要全盘按照外国的制作方式来制作？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4" t="16533" r="14337" b="15916"/>
          <a:stretch>
            <a:fillRect/>
          </a:stretch>
        </p:blipFill>
        <p:spPr bwMode="auto">
          <a:xfrm rot="21241025">
            <a:off x="4482143" y="602573"/>
            <a:ext cx="4489450" cy="354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pic>
        <p:nvPicPr>
          <p:cNvPr id="309251" name="Picture 2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64" t="16533" r="14337" b="15916"/>
          <a:stretch>
            <a:fillRect/>
          </a:stretch>
        </p:blipFill>
        <p:spPr bwMode="auto">
          <a:xfrm rot="21241025">
            <a:off x="470673" y="460413"/>
            <a:ext cx="4489450" cy="354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sp>
        <p:nvSpPr>
          <p:cNvPr id="309252" name="TextBox 10"/>
          <p:cNvSpPr>
            <a:spLocks noChangeArrowheads="1"/>
          </p:cNvSpPr>
          <p:nvPr/>
        </p:nvSpPr>
        <p:spPr bwMode="auto">
          <a:xfrm flipH="1">
            <a:off x="1001249" y="1136184"/>
            <a:ext cx="3428297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altLang="zh-CN" sz="2400" b="1" dirty="0" smtClean="0">
                <a:solidFill>
                  <a:srgbClr val="002060"/>
                </a:solidFill>
                <a:latin typeface="Arial Rounded MT Bold" pitchFamily="34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Rounded MT Bold" pitchFamily="34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、吸收世界优秀文化</a:t>
            </a:r>
            <a:endParaRPr lang="zh-CN" altLang="en-US" sz="2400" b="1" dirty="0">
              <a:solidFill>
                <a:srgbClr val="002060"/>
              </a:solidFill>
              <a:latin typeface="Arial Rounded MT Bold" pitchFamily="34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09253" name="TextBox 11"/>
          <p:cNvSpPr>
            <a:spLocks noChangeArrowheads="1"/>
          </p:cNvSpPr>
          <p:nvPr/>
        </p:nvSpPr>
        <p:spPr bwMode="auto">
          <a:xfrm flipH="1">
            <a:off x="1182609" y="1866128"/>
            <a:ext cx="286226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b="1" dirty="0" smtClean="0">
                <a:solidFill>
                  <a:srgbClr val="3F3F3F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     必须</a:t>
            </a:r>
            <a:r>
              <a:rPr lang="zh-CN" altLang="en-US" sz="2000" b="1" dirty="0">
                <a:solidFill>
                  <a:srgbClr val="3F3F3F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以世界优秀文化为营养，充分</a:t>
            </a:r>
            <a:r>
              <a:rPr lang="zh-CN" altLang="en-US" sz="2000" b="1" dirty="0">
                <a:solidFill>
                  <a:srgbClr val="C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吸收</a:t>
            </a:r>
            <a:r>
              <a:rPr lang="zh-CN" altLang="en-US" sz="2000" b="1" dirty="0">
                <a:solidFill>
                  <a:srgbClr val="3F3F3F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外国文化的</a:t>
            </a:r>
            <a:r>
              <a:rPr lang="zh-CN" altLang="en-US" sz="2000" b="1" dirty="0">
                <a:solidFill>
                  <a:srgbClr val="C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有益成果</a:t>
            </a:r>
            <a:r>
              <a:rPr lang="zh-CN" altLang="en-US" sz="2000" b="1" dirty="0">
                <a:solidFill>
                  <a:srgbClr val="3F3F3F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</a:p>
        </p:txBody>
      </p:sp>
      <p:sp>
        <p:nvSpPr>
          <p:cNvPr id="309254" name="TextBox 12"/>
          <p:cNvSpPr>
            <a:spLocks noChangeArrowheads="1"/>
          </p:cNvSpPr>
          <p:nvPr/>
        </p:nvSpPr>
        <p:spPr bwMode="auto">
          <a:xfrm>
            <a:off x="199236" y="136078"/>
            <a:ext cx="91252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002060"/>
                </a:solidFill>
                <a:latin typeface="Arial Rounded MT Bold" pitchFamily="34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在不同民族文化交流、借鉴与融合的过程中，要</a:t>
            </a:r>
            <a:r>
              <a:rPr lang="zh-CN" altLang="en-US" sz="2800" b="1" dirty="0" smtClean="0">
                <a:solidFill>
                  <a:srgbClr val="002060"/>
                </a:solidFill>
                <a:latin typeface="Arial Rounded MT Bold" pitchFamily="34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注意：</a:t>
            </a:r>
            <a:endParaRPr lang="en-US" altLang="zh-CN" sz="2800" b="1" dirty="0">
              <a:solidFill>
                <a:srgbClr val="002060"/>
              </a:solidFill>
              <a:latin typeface="Arial Rounded MT Bold" pitchFamily="34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09255" name="TextBox 13"/>
          <p:cNvSpPr>
            <a:spLocks noChangeArrowheads="1"/>
          </p:cNvSpPr>
          <p:nvPr/>
        </p:nvSpPr>
        <p:spPr bwMode="auto">
          <a:xfrm rot="230309" flipH="1">
            <a:off x="5186540" y="1330083"/>
            <a:ext cx="3769195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CN" sz="2400" b="1" dirty="0" smtClean="0">
                <a:solidFill>
                  <a:srgbClr val="002060"/>
                </a:solidFill>
                <a:latin typeface="Arial Rounded MT Bold" pitchFamily="34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solidFill>
                  <a:srgbClr val="002060"/>
                </a:solidFill>
                <a:latin typeface="Arial Rounded MT Bold" pitchFamily="34" charset="0"/>
                <a:ea typeface="微软雅黑" panose="020B0503020204020204" pitchFamily="34" charset="-122"/>
                <a:sym typeface="Times New Roman" panose="02020603050405020304" pitchFamily="18" charset="0"/>
              </a:rPr>
              <a:t>、保持文化民族</a:t>
            </a:r>
            <a:r>
              <a:rPr lang="zh-CN" altLang="en-US" sz="2400" b="1" dirty="0">
                <a:solidFill>
                  <a:srgbClr val="002060"/>
                </a:solidFill>
                <a:latin typeface="Arial Rounded MT Bold" pitchFamily="34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特色</a:t>
            </a:r>
          </a:p>
        </p:txBody>
      </p:sp>
      <p:sp>
        <p:nvSpPr>
          <p:cNvPr id="309256" name="TextBox 14"/>
          <p:cNvSpPr>
            <a:spLocks noChangeArrowheads="1"/>
          </p:cNvSpPr>
          <p:nvPr/>
        </p:nvSpPr>
        <p:spPr bwMode="auto">
          <a:xfrm rot="202081" flipH="1">
            <a:off x="5235671" y="1969707"/>
            <a:ext cx="298147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遵循</a:t>
            </a:r>
            <a:r>
              <a:rPr lang="zh-CN" altLang="en-US" sz="2000" b="1" dirty="0">
                <a:solidFill>
                  <a:srgbClr val="C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以我为主，为我所用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的原则，保持文化的民族特色。</a:t>
            </a:r>
          </a:p>
        </p:txBody>
      </p:sp>
      <p:sp>
        <p:nvSpPr>
          <p:cNvPr id="2" name="矩形 1"/>
          <p:cNvSpPr/>
          <p:nvPr/>
        </p:nvSpPr>
        <p:spPr>
          <a:xfrm>
            <a:off x="298265" y="3812009"/>
            <a:ext cx="8552972" cy="830997"/>
          </a:xfrm>
          <a:prstGeom prst="rect">
            <a:avLst/>
          </a:prstGeom>
          <a:solidFill>
            <a:schemeClr val="accent5">
              <a:lumMod val="40000"/>
              <a:lumOff val="60000"/>
              <a:alpha val="69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“以我为主”：就是在对世界文化精华的吸取中，保持</a:t>
            </a:r>
            <a:r>
              <a:rPr lang="zh-CN" altLang="en-US" sz="2400" b="1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民族文化主体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意识和独立性</a:t>
            </a:r>
            <a:r>
              <a:rPr lang="zh-CN" altLang="en-US" sz="2000" b="1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9508" y="4801716"/>
            <a:ext cx="8552972" cy="769441"/>
          </a:xfrm>
          <a:prstGeom prst="rect">
            <a:avLst/>
          </a:prstGeom>
          <a:solidFill>
            <a:schemeClr val="accent5">
              <a:lumMod val="60000"/>
              <a:lumOff val="40000"/>
              <a:alpha val="64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“为我所用”：就是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辩证取舍、择善而从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，批判地吸收对我们有用的东西，并结合本国国情进行改造、整合和创新。</a:t>
            </a:r>
          </a:p>
        </p:txBody>
      </p:sp>
      <p:sp>
        <p:nvSpPr>
          <p:cNvPr id="12" name="TextBox 14"/>
          <p:cNvSpPr>
            <a:spLocks noChangeArrowheads="1"/>
          </p:cNvSpPr>
          <p:nvPr/>
        </p:nvSpPr>
        <p:spPr bwMode="auto">
          <a:xfrm rot="202081" flipH="1">
            <a:off x="4961903" y="1978286"/>
            <a:ext cx="3264531" cy="707886"/>
          </a:xfrm>
          <a:prstGeom prst="rect">
            <a:avLst/>
          </a:prstGeom>
          <a:solidFill>
            <a:schemeClr val="bg1">
              <a:alpha val="69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C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思考：以</a:t>
            </a:r>
            <a:r>
              <a:rPr lang="zh-CN" altLang="en-US" sz="2000" b="1" dirty="0">
                <a:solidFill>
                  <a:srgbClr val="C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我为主，为我所</a:t>
            </a:r>
            <a:r>
              <a:rPr lang="zh-CN" altLang="en-US" sz="2000" b="1" dirty="0" smtClean="0">
                <a:solidFill>
                  <a:srgbClr val="C00000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用怎么理解？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2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252" grpId="0"/>
      <p:bldP spid="309253" grpId="0"/>
      <p:bldP spid="309254" grpId="0"/>
      <p:bldP spid="309255" grpId="0"/>
      <p:bldP spid="309256" grpId="0"/>
      <p:bldP spid="2" grpId="0" animBg="1"/>
      <p:bldP spid="3" grpId="0" animBg="1"/>
      <p:bldP spid="12" grpId="0" animBg="1"/>
      <p:bldP spid="12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48" y="3505573"/>
            <a:ext cx="8444764" cy="213499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44" y="1022491"/>
            <a:ext cx="7734781" cy="232825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 flipH="1">
            <a:off x="3166280" y="1273324"/>
            <a:ext cx="1765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4000" b="1" i="0" u="none" strike="noStrike" kern="0" cap="none" spc="0" normalizeH="0" baseline="0">
                <a:ln w="18415" cmpd="sng">
                  <a:noFill/>
                  <a:prstDash val="solid"/>
                </a:ln>
                <a:solidFill>
                  <a:schemeClr val="bg1"/>
                </a:solidFill>
                <a:uLnTx/>
                <a:uFillTx/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 w="18415" cmpd="sng">
                  <a:noFill/>
                  <a:prstDash val="solid"/>
                </a:ln>
                <a:solidFill>
                  <a:srgbClr val="9BBB59">
                    <a:lumMod val="50000"/>
                  </a:srgbClr>
                </a:solidFill>
                <a:effectLst/>
                <a:uLnTx/>
                <a:uFillTx/>
                <a:latin typeface="Arial Rounded MT Bold" pitchFamily="34" charset="0"/>
                <a:ea typeface="微软雅黑" panose="020B0503020204020204" pitchFamily="34" charset="-122"/>
              </a:rPr>
              <a:t>正确方向</a:t>
            </a:r>
            <a:endParaRPr kumimoji="0" lang="zh-CN" altLang="en-US" sz="2000" b="1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srgbClr val="9BBB59">
                  <a:lumMod val="50000"/>
                </a:srgbClr>
              </a:solidFill>
              <a:effectLst/>
              <a:uLnTx/>
              <a:uFillTx/>
              <a:latin typeface="Arial Rounded MT Bold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3375" y="1832677"/>
            <a:ext cx="39870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2000" b="1" kern="0" dirty="0" smtClean="0">
                <a:solidFill>
                  <a:srgbClr val="0099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当代</a:t>
            </a:r>
            <a:r>
              <a:rPr lang="zh-CN" altLang="en-US" sz="2000" b="1" kern="0" dirty="0">
                <a:solidFill>
                  <a:srgbClr val="0099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文化与传统</a:t>
            </a:r>
            <a:r>
              <a:rPr lang="zh-CN" altLang="en-US" sz="2000" b="1" kern="0" dirty="0" smtClean="0">
                <a:solidFill>
                  <a:srgbClr val="0099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文化</a:t>
            </a:r>
            <a:endParaRPr lang="en-US" altLang="zh-CN" sz="2000" b="1" kern="0" dirty="0" smtClean="0">
              <a:solidFill>
                <a:srgbClr val="0099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zh-CN" altLang="en-US" sz="2000" b="1" kern="0" dirty="0" smtClean="0">
                <a:solidFill>
                  <a:srgbClr val="0099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民族文化</a:t>
            </a:r>
            <a:r>
              <a:rPr lang="zh-CN" altLang="en-US" sz="2000" b="1" kern="0" dirty="0">
                <a:solidFill>
                  <a:srgbClr val="0099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与外来</a:t>
            </a:r>
            <a:r>
              <a:rPr lang="zh-CN" altLang="en-US" sz="2000" b="1" kern="0" dirty="0" smtClean="0">
                <a:solidFill>
                  <a:srgbClr val="0099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文化</a:t>
            </a:r>
            <a:endParaRPr lang="zh-CN" altLang="en-US" sz="2000" b="1" kern="0" dirty="0">
              <a:solidFill>
                <a:srgbClr val="0099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 flipH="1">
            <a:off x="4716016" y="3574307"/>
            <a:ext cx="1443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4000" b="1" i="0" u="none" strike="noStrike" kern="0" cap="none" spc="0" normalizeH="0" baseline="0">
                <a:ln w="18415" cmpd="sng">
                  <a:noFill/>
                  <a:prstDash val="solid"/>
                </a:ln>
                <a:solidFill>
                  <a:schemeClr val="bg1"/>
                </a:solidFill>
                <a:uLnTx/>
                <a:uFillTx/>
                <a:latin typeface="Agency FB" pitchFamily="34" charset="0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 dirty="0" smtClean="0">
                <a:ln w="18415" cmpd="sng">
                  <a:noFill/>
                  <a:prstDash val="solid"/>
                </a:ln>
                <a:solidFill>
                  <a:srgbClr val="C00000"/>
                </a:solidFill>
                <a:uLnTx/>
                <a:uFillTx/>
                <a:latin typeface="Arial Rounded MT Bold" pitchFamily="34" charset="0"/>
              </a:rPr>
              <a:t>错误倾向</a:t>
            </a:r>
            <a:endParaRPr kumimoji="0" lang="zh-CN" altLang="en-US" sz="2000" b="1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srgbClr val="C00000"/>
              </a:solidFill>
              <a:uLnTx/>
              <a:uFillTx/>
              <a:latin typeface="Arial Rounded MT Bold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65206" y="4227393"/>
            <a:ext cx="36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b="1" kern="0" dirty="0" smtClean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“守旧主义” “历史虚无主义” “封闭主义” “民族虚无主义”</a:t>
            </a:r>
            <a:endParaRPr lang="zh-CN" altLang="en-US" b="1" kern="0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5961" y="199301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30000"/>
              </a:lnSpc>
              <a:defRPr sz="5400" b="1">
                <a:solidFill>
                  <a:schemeClr val="tx1">
                    <a:lumMod val="65000"/>
                    <a:lumOff val="35000"/>
                  </a:schemeClr>
                </a:solidFill>
                <a:latin typeface="Agency FB" pitchFamily="34" charset="0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pPr lvl="0" algn="ctr">
              <a:lnSpc>
                <a:spcPct val="100000"/>
              </a:lnSpc>
              <a:defRPr/>
            </a:pPr>
            <a:r>
              <a:rPr lang="en-US" altLang="zh-CN" sz="2800" kern="0" dirty="0">
                <a:solidFill>
                  <a:schemeClr val="tx1"/>
                </a:solidFill>
                <a:latin typeface="Arial Rounded MT Bold" pitchFamily="34" charset="0"/>
              </a:rPr>
              <a:t>4</a:t>
            </a:r>
            <a:r>
              <a:rPr lang="zh-CN" altLang="en-US" sz="2800" kern="0" dirty="0">
                <a:solidFill>
                  <a:schemeClr val="tx1"/>
                </a:solidFill>
                <a:latin typeface="Arial Rounded MT Bold" pitchFamily="34" charset="0"/>
              </a:rPr>
              <a:t>、坚持正确方向，克服错误倾向</a:t>
            </a:r>
          </a:p>
        </p:txBody>
      </p:sp>
      <p:sp>
        <p:nvSpPr>
          <p:cNvPr id="2" name="矩形 1"/>
          <p:cNvSpPr/>
          <p:nvPr/>
        </p:nvSpPr>
        <p:spPr>
          <a:xfrm>
            <a:off x="6660232" y="1984692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b="1" kern="0" dirty="0">
                <a:solidFill>
                  <a:srgbClr val="0099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的关系</a:t>
            </a:r>
          </a:p>
        </p:txBody>
      </p:sp>
      <p:sp>
        <p:nvSpPr>
          <p:cNvPr id="3" name="矩形 2"/>
          <p:cNvSpPr/>
          <p:nvPr/>
        </p:nvSpPr>
        <p:spPr>
          <a:xfrm>
            <a:off x="2693524" y="1955787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0" dirty="0">
                <a:solidFill>
                  <a:srgbClr val="0099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正确把握</a:t>
            </a:r>
            <a:endParaRPr lang="zh-CN" altLang="en-US" sz="2400" dirty="0">
              <a:solidFill>
                <a:srgbClr val="0099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36464" y="430498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克服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788024" y="4296073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b="1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的错误倾向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2" grpId="0"/>
      <p:bldP spid="3" grpId="0"/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932022" y="272103"/>
            <a:ext cx="5058461" cy="5017740"/>
            <a:chOff x="1932022" y="272103"/>
            <a:chExt cx="5058461" cy="5017740"/>
          </a:xfrm>
        </p:grpSpPr>
        <p:pic>
          <p:nvPicPr>
            <p:cNvPr id="2049" name="Picture 1" descr="C:\Users\Jane\AppData\Roaming\Tencent\Users\2067078253\QQ\WinTemp\RichOle\01[R9WQ6Z7G2KY`QKQ)_8}2.pn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746" t="9138" r="3010" b="-849"/>
            <a:stretch>
              <a:fillRect/>
            </a:stretch>
          </p:blipFill>
          <p:spPr bwMode="auto">
            <a:xfrm rot="13056574">
              <a:off x="1932022" y="728209"/>
              <a:ext cx="5058461" cy="4162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3206817" y="272103"/>
              <a:ext cx="2508870" cy="5017740"/>
            </a:xfrm>
            <a:prstGeom prst="rect">
              <a:avLst/>
            </a:prstGeom>
          </p:spPr>
        </p:pic>
      </p:grpSp>
      <p:sp>
        <p:nvSpPr>
          <p:cNvPr id="4" name="矩形 3"/>
          <p:cNvSpPr/>
          <p:nvPr/>
        </p:nvSpPr>
        <p:spPr>
          <a:xfrm>
            <a:off x="3650772" y="2497459"/>
            <a:ext cx="1620957" cy="523220"/>
          </a:xfrm>
          <a:prstGeom prst="rect">
            <a:avLst/>
          </a:prstGeom>
          <a:solidFill>
            <a:schemeClr val="bg1">
              <a:alpha val="94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社会实践</a:t>
            </a:r>
            <a:endParaRPr lang="zh-CN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979712" y="193204"/>
            <a:ext cx="5617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纵向</a:t>
            </a:r>
            <a:endParaRPr lang="en-US" altLang="zh-CN" b="1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95771" y="4336275"/>
            <a:ext cx="18743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推陈出新</a:t>
            </a:r>
            <a:endParaRPr lang="zh-CN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63131" y="115892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继承传统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89522" y="841014"/>
            <a:ext cx="2492990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取其精华、去其糟粕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084168" y="1241124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改造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传统文化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709605" y="4129358"/>
            <a:ext cx="2492990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推陈出新、革故鼎新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88285" y="4555474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创造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新文化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22170" y="8743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守旧主义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4594076" y="518419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历史虚无主义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79712" y="234142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面向世界</a:t>
            </a:r>
            <a:endParaRPr lang="en-US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715687" y="230350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博采众长</a:t>
            </a:r>
            <a:endParaRPr lang="zh-CN" altLang="zh-CN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03639" y="3058288"/>
            <a:ext cx="2492990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海纳百川、吸收借鉴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642248" y="3440287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外来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文化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577188" y="3020679"/>
            <a:ext cx="2492990" cy="4001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以我为主、为我所用</a:t>
            </a:r>
            <a:endParaRPr lang="zh-CN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170074" y="3443844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发展</a:t>
            </a:r>
            <a:r>
              <a:rPr lang="zh-CN" altLang="en-US" sz="16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民族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文化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3528" y="26728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封闭主义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7285348" y="251131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民族虚无主义</a:t>
            </a:r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19672" y="1921396"/>
            <a:ext cx="1314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</a:t>
            </a:r>
            <a:r>
              <a:rPr lang="zh-CN" altLang="en-US" b="1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   空间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9" grpId="0" animBg="1"/>
      <p:bldP spid="10" grpId="0"/>
      <p:bldP spid="11" grpId="0" animBg="1"/>
      <p:bldP spid="12" grpId="0"/>
      <p:bldP spid="8" grpId="0"/>
      <p:bldP spid="13" grpId="0"/>
      <p:bldP spid="14" grpId="0"/>
      <p:bldP spid="15" grpId="0"/>
      <p:bldP spid="17" grpId="0" animBg="1"/>
      <p:bldP spid="18" grpId="0"/>
      <p:bldP spid="19" grpId="0" animBg="1"/>
      <p:bldP spid="20" grpId="0"/>
      <p:bldP spid="16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5" t="5541" r="8676"/>
          <a:stretch>
            <a:fillRect/>
          </a:stretch>
        </p:blipFill>
        <p:spPr bwMode="auto">
          <a:xfrm>
            <a:off x="0" y="-27508"/>
            <a:ext cx="9144000" cy="5742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-17688" y="0"/>
            <a:ext cx="9179376" cy="5743567"/>
          </a:xfrm>
          <a:prstGeom prst="rect">
            <a:avLst/>
          </a:prstGeom>
          <a:solidFill>
            <a:srgbClr val="1E4473">
              <a:alpha val="6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323" tIns="35662" rIns="71323" bIns="35662" rtlCol="0" anchor="ctr"/>
          <a:lstStyle/>
          <a:p>
            <a:pPr algn="ctr"/>
            <a:endParaRPr lang="zh-CN" altLang="en-US" sz="1600"/>
          </a:p>
        </p:txBody>
      </p:sp>
      <p:sp>
        <p:nvSpPr>
          <p:cNvPr id="5" name="文本框 4"/>
          <p:cNvSpPr txBox="1"/>
          <p:nvPr/>
        </p:nvSpPr>
        <p:spPr>
          <a:xfrm>
            <a:off x="1475656" y="1789381"/>
            <a:ext cx="6696744" cy="36748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71323" tIns="35662" rIns="71323" bIns="35662" rtlCol="0">
            <a:spAutoFit/>
          </a:bodyPr>
          <a:lstStyle/>
          <a:p>
            <a:pPr algn="dist">
              <a:lnSpc>
                <a:spcPct val="12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Thank you for your comment. Your comment is highly appreciated.</a:t>
            </a:r>
            <a:endParaRPr lang="zh-CN" altLang="en-US" sz="16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08794" y="2282598"/>
            <a:ext cx="3391397" cy="2677656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endParaRPr lang="en-US" altLang="zh-CN" sz="2800" dirty="0" smtClean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dirty="0" smtClean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交流</a:t>
            </a:r>
            <a:r>
              <a:rPr lang="zh-CN" altLang="en-US" sz="2800" dirty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</a:t>
            </a:r>
            <a:r>
              <a:rPr lang="zh-CN" altLang="en-US" sz="2800" dirty="0" smtClean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需要，</a:t>
            </a:r>
            <a:endParaRPr lang="en-US" altLang="zh-CN" sz="2800" dirty="0" smtClean="0">
              <a:solidFill>
                <a:srgbClr val="FFFF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dirty="0" smtClean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借鉴</a:t>
            </a:r>
            <a:r>
              <a:rPr lang="zh-CN" altLang="en-US" sz="2800" dirty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是一种智慧</a:t>
            </a:r>
            <a:r>
              <a:rPr lang="zh-CN" altLang="en-US" sz="2800" dirty="0" smtClean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sz="2800" dirty="0" smtClean="0">
              <a:solidFill>
                <a:srgbClr val="FFFF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dirty="0" smtClean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</a:t>
            </a:r>
            <a:r>
              <a:rPr lang="zh-CN" altLang="en-US" sz="2800" dirty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</a:t>
            </a:r>
            <a:r>
              <a:rPr lang="zh-CN" altLang="en-US" sz="2800" dirty="0" smtClean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种互补，</a:t>
            </a:r>
            <a:endParaRPr lang="en-US" altLang="zh-CN" sz="2800" dirty="0" smtClean="0">
              <a:solidFill>
                <a:srgbClr val="FFFF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dirty="0" smtClean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</a:t>
            </a:r>
            <a:r>
              <a:rPr lang="zh-CN" altLang="en-US" sz="2800" dirty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是一种超越</a:t>
            </a:r>
            <a:r>
              <a:rPr lang="zh-CN" altLang="en-US" sz="2800" dirty="0" smtClean="0">
                <a:solidFill>
                  <a:srgbClr val="FFFF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 smtClean="0">
              <a:solidFill>
                <a:srgbClr val="FFFF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2800" dirty="0">
              <a:solidFill>
                <a:srgbClr val="FFFF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1268</Words>
  <Application>Microsoft Office PowerPoint</Application>
  <PresentationFormat>全屏显示(16:10)</PresentationFormat>
  <Paragraphs>130</Paragraphs>
  <Slides>14</Slides>
  <Notes>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caojin</dc:creator>
  <cp:lastModifiedBy>HP19</cp:lastModifiedBy>
  <cp:revision>160</cp:revision>
  <dcterms:created xsi:type="dcterms:W3CDTF">2017-03-15T06:46:00Z</dcterms:created>
  <dcterms:modified xsi:type="dcterms:W3CDTF">2020-09-21T08:01:59Z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