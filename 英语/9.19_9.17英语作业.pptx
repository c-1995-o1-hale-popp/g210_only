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6"/>
  </p:handoutMasterIdLst>
  <p:sldIdLst>
    <p:sldId id="256" r:id="rId2"/>
    <p:sldId id="258" r:id="rId3"/>
    <p:sldId id="259" r:id="rId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40" d="100"/>
          <a:sy n="40" d="100"/>
        </p:scale>
        <p:origin x="66" y="378"/>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2020/9/17</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2020/9/17</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2020/9/17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2020/9/17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2020/9/17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2020/9/17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t>2020/9/17</a:t>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2020/9/17</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cxnSp>
        <p:nvCxnSpPr>
          <p:cNvPr id="9" name="直接连接符 8"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t>2020/9/17</a:t>
            </a:fld>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600" y="274638"/>
            <a:ext cx="10972800" cy="1143000"/>
          </a:xfrm>
          <a:prstGeom prst="rect">
            <a:avLst/>
          </a:prstGeom>
          <a:noFill/>
          <a:ln w="9525">
            <a:noFill/>
          </a:ln>
        </p:spPr>
        <p:txBody>
          <a:bodyPr anchor="ctr" anchorCtr="0"/>
          <a:lstStyle/>
          <a:p>
            <a:pPr lvl="0"/>
            <a:r>
              <a:rPr lang="zh-CN" altLang="en-US"/>
              <a:t>单击此处编辑母版标题样式</a:t>
            </a:r>
          </a:p>
        </p:txBody>
      </p:sp>
      <p:sp>
        <p:nvSpPr>
          <p:cNvPr id="1027" name="Rectangle 3"/>
          <p:cNvSpPr>
            <a:spLocks noGrp="1"/>
          </p:cNvSpPr>
          <p:nvPr>
            <p:ph type="body" idx="1"/>
          </p:nvPr>
        </p:nvSpPr>
        <p:spPr>
          <a:xfrm>
            <a:off x="609600" y="1600200"/>
            <a:ext cx="10972800" cy="4525963"/>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760FBDFE-C587-4B4C-A407-44438C67B59E}" type="datetimeFigureOut">
              <a:rPr lang="zh-CN" altLang="en-US" smtClean="0"/>
              <a:t>2020/9/17</a:t>
            </a:fld>
            <a:endParaRPr lang="zh-CN" altLang="en-US"/>
          </a:p>
        </p:txBody>
      </p:sp>
      <p:sp>
        <p:nvSpPr>
          <p:cNvPr id="1029" name="Rectangle 5"/>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zh-CN" altLang="en-US"/>
          </a:p>
        </p:txBody>
      </p:sp>
      <p:sp>
        <p:nvSpPr>
          <p:cNvPr id="1030" name="Rectangle 6"/>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sp>
        <p:nvSpPr>
          <p:cNvPr id="100" name="文本框 99"/>
          <p:cNvSpPr txBox="1"/>
          <p:nvPr/>
        </p:nvSpPr>
        <p:spPr>
          <a:xfrm>
            <a:off x="-23495" y="-51435"/>
            <a:ext cx="12198985" cy="6985635"/>
          </a:xfrm>
          <a:prstGeom prst="rect">
            <a:avLst/>
          </a:prstGeom>
          <a:noFill/>
          <a:ln w="9525">
            <a:noFill/>
          </a:ln>
        </p:spPr>
        <p:txBody>
          <a:bodyPr wrap="square">
            <a:spAutoFit/>
          </a:bodyPr>
          <a:lstStyle/>
          <a:p>
            <a:pPr indent="0"/>
            <a:r>
              <a:rPr lang="en-US" sz="2800" b="1">
                <a:solidFill>
                  <a:schemeClr val="bg1"/>
                </a:solidFill>
                <a:latin typeface="等线" panose="02010600030101010101" charset="-122"/>
                <a:ea typeface="等线" panose="02010600030101010101" charset="-122"/>
                <a:cs typeface="等线" panose="02010600030101010101" charset="-122"/>
              </a:rPr>
              <a:t>1.</a:t>
            </a:r>
            <a:r>
              <a:rPr lang="en-US" sz="2800" b="0">
                <a:solidFill>
                  <a:schemeClr val="bg1"/>
                </a:solidFill>
                <a:latin typeface="等线" panose="02010600030101010101" charset="-122"/>
                <a:ea typeface="等线" panose="02010600030101010101" charset="-122"/>
                <a:cs typeface="等线" panose="02010600030101010101" charset="-122"/>
              </a:rPr>
              <a:t> </a:t>
            </a:r>
            <a:r>
              <a:rPr lang="zh-CN" sz="2800" b="1">
                <a:solidFill>
                  <a:schemeClr val="bg1"/>
                </a:solidFill>
                <a:latin typeface="等线" panose="02010600030101010101" charset="-122"/>
                <a:ea typeface="等线" panose="02010600030101010101" charset="-122"/>
                <a:cs typeface="等线" panose="02010600030101010101" charset="-122"/>
              </a:rPr>
              <a:t>提出索赔</a:t>
            </a:r>
            <a:r>
              <a:rPr lang="en-US" sz="2800" b="1">
                <a:solidFill>
                  <a:schemeClr val="bg1"/>
                </a:solidFill>
                <a:latin typeface="等线" panose="02010600030101010101" charset="-122"/>
                <a:ea typeface="等线" panose="02010600030101010101" charset="-122"/>
                <a:cs typeface="等线" panose="02010600030101010101" charset="-122"/>
              </a:rPr>
              <a:t>file a claim</a:t>
            </a:r>
          </a:p>
          <a:p>
            <a:pPr indent="0"/>
            <a:r>
              <a:rPr lang="en-US" sz="2800" b="1">
                <a:solidFill>
                  <a:schemeClr val="bg1"/>
                </a:solidFill>
                <a:latin typeface="等线" panose="02010600030101010101" charset="-122"/>
                <a:ea typeface="等线" panose="02010600030101010101" charset="-122"/>
                <a:cs typeface="等线" panose="02010600030101010101" charset="-122"/>
              </a:rPr>
              <a:t>2. </a:t>
            </a:r>
            <a:r>
              <a:rPr lang="zh-CN" sz="2800" b="1">
                <a:solidFill>
                  <a:schemeClr val="bg1"/>
                </a:solidFill>
                <a:latin typeface="等线" panose="02010600030101010101" charset="-122"/>
                <a:ea typeface="等线" panose="02010600030101010101" charset="-122"/>
                <a:cs typeface="等线" panose="02010600030101010101" charset="-122"/>
              </a:rPr>
              <a:t>我已用特殊记号标出我们需要更详细考虑的段落。</a:t>
            </a:r>
            <a:endParaRPr lang="en-US" sz="2800" b="1">
              <a:solidFill>
                <a:schemeClr val="bg1"/>
              </a:solidFill>
              <a:latin typeface="等线" panose="02010600030101010101" charset="-122"/>
              <a:ea typeface="等线" panose="02010600030101010101" charset="-122"/>
              <a:cs typeface="等线" panose="02010600030101010101" charset="-122"/>
            </a:endParaRPr>
          </a:p>
          <a:p>
            <a:pPr indent="0"/>
            <a:r>
              <a:rPr lang="en-US" sz="2800" b="1">
                <a:solidFill>
                  <a:schemeClr val="bg1"/>
                </a:solidFill>
                <a:latin typeface="等线" panose="02010600030101010101" charset="-122"/>
                <a:ea typeface="等线" panose="02010600030101010101" charset="-122"/>
                <a:cs typeface="等线" panose="02010600030101010101" charset="-122"/>
              </a:rPr>
              <a:t>I've flagged the paragraphs that we need to look at in more detail.  </a:t>
            </a:r>
          </a:p>
          <a:p>
            <a:pPr indent="0"/>
            <a:r>
              <a:rPr lang="en-US" sz="2800" b="1">
                <a:solidFill>
                  <a:schemeClr val="bg1"/>
                </a:solidFill>
                <a:latin typeface="等线" panose="02010600030101010101" charset="-122"/>
                <a:ea typeface="等线" panose="02010600030101010101" charset="-122"/>
                <a:cs typeface="等线" panose="02010600030101010101" charset="-122"/>
              </a:rPr>
              <a:t>3. </a:t>
            </a:r>
            <a:r>
              <a:rPr lang="zh-CN" sz="2800" b="1">
                <a:solidFill>
                  <a:schemeClr val="bg1"/>
                </a:solidFill>
                <a:latin typeface="等线" panose="02010600030101010101" charset="-122"/>
                <a:ea typeface="等线" panose="02010600030101010101" charset="-122"/>
                <a:cs typeface="等线" panose="02010600030101010101" charset="-122"/>
              </a:rPr>
              <a:t>这一天真漫长，孩子们都累得打起蔫来。</a:t>
            </a:r>
            <a:endParaRPr lang="en-US" sz="2800" b="1">
              <a:solidFill>
                <a:schemeClr val="bg1"/>
              </a:solidFill>
              <a:latin typeface="等线" panose="02010600030101010101" charset="-122"/>
              <a:ea typeface="等线" panose="02010600030101010101" charset="-122"/>
              <a:cs typeface="等线" panose="02010600030101010101" charset="-122"/>
            </a:endParaRPr>
          </a:p>
          <a:p>
            <a:pPr indent="0"/>
            <a:r>
              <a:rPr lang="en-US" sz="2800" b="1">
                <a:solidFill>
                  <a:schemeClr val="bg1"/>
                </a:solidFill>
                <a:latin typeface="等线" panose="02010600030101010101" charset="-122"/>
                <a:ea typeface="等线" panose="02010600030101010101" charset="-122"/>
                <a:cs typeface="等线" panose="02010600030101010101" charset="-122"/>
              </a:rPr>
              <a:t>It had been a long day and the children were beginning to flag.</a:t>
            </a:r>
          </a:p>
          <a:p>
            <a:pPr indent="0"/>
            <a:r>
              <a:rPr lang="en-US" sz="2800" b="1">
                <a:solidFill>
                  <a:schemeClr val="bg1"/>
                </a:solidFill>
                <a:latin typeface="等线" panose="02010600030101010101" charset="-122"/>
                <a:ea typeface="等线" panose="02010600030101010101" charset="-122"/>
                <a:cs typeface="等线" panose="02010600030101010101" charset="-122"/>
              </a:rPr>
              <a:t>4. </a:t>
            </a:r>
            <a:r>
              <a:rPr lang="zh-CN" sz="2800" b="1">
                <a:solidFill>
                  <a:schemeClr val="bg1"/>
                </a:solidFill>
                <a:latin typeface="等线" panose="02010600030101010101" charset="-122"/>
                <a:ea typeface="等线" panose="02010600030101010101" charset="-122"/>
                <a:cs typeface="等线" panose="02010600030101010101" charset="-122"/>
              </a:rPr>
              <a:t>他被指控把与案件有关的文件用碎纸机销毁了。</a:t>
            </a:r>
            <a:endParaRPr lang="en-US" sz="2800" b="1">
              <a:solidFill>
                <a:schemeClr val="bg1"/>
              </a:solidFill>
              <a:latin typeface="等线" panose="02010600030101010101" charset="-122"/>
              <a:ea typeface="等线" panose="02010600030101010101" charset="-122"/>
              <a:cs typeface="等线" panose="02010600030101010101" charset="-122"/>
            </a:endParaRPr>
          </a:p>
          <a:p>
            <a:pPr indent="0"/>
            <a:r>
              <a:rPr lang="en-US" sz="2800" b="1">
                <a:solidFill>
                  <a:schemeClr val="bg1"/>
                </a:solidFill>
                <a:latin typeface="等线" panose="02010600030101010101" charset="-122"/>
                <a:ea typeface="等线" panose="02010600030101010101" charset="-122"/>
                <a:cs typeface="等线" panose="02010600030101010101" charset="-122"/>
              </a:rPr>
              <a:t>He was accused of shredding documents relating to the case (= putting them in a shredder ) . </a:t>
            </a:r>
          </a:p>
          <a:p>
            <a:pPr indent="0"/>
            <a:r>
              <a:rPr lang="en-US" sz="2800" b="1">
                <a:solidFill>
                  <a:schemeClr val="bg1"/>
                </a:solidFill>
                <a:latin typeface="等线" panose="02010600030101010101" charset="-122"/>
                <a:ea typeface="等线" panose="02010600030101010101" charset="-122"/>
                <a:cs typeface="等线" panose="02010600030101010101" charset="-122"/>
              </a:rPr>
              <a:t>5.  </a:t>
            </a:r>
            <a:r>
              <a:rPr lang="zh-CN" sz="2800" b="1">
                <a:solidFill>
                  <a:schemeClr val="bg1"/>
                </a:solidFill>
                <a:latin typeface="等线" panose="02010600030101010101" charset="-122"/>
                <a:ea typeface="等线" panose="02010600030101010101" charset="-122"/>
                <a:cs typeface="等线" panose="02010600030101010101" charset="-122"/>
              </a:rPr>
              <a:t>为。。。早做准备，未雨绸缪</a:t>
            </a:r>
            <a:r>
              <a:rPr lang="en-US" sz="2800" b="1">
                <a:solidFill>
                  <a:schemeClr val="bg1"/>
                </a:solidFill>
                <a:latin typeface="等线" panose="02010600030101010101" charset="-122"/>
                <a:ea typeface="等线" panose="02010600030101010101" charset="-122"/>
                <a:cs typeface="等线" panose="02010600030101010101" charset="-122"/>
              </a:rPr>
              <a:t>take precautions for</a:t>
            </a:r>
          </a:p>
          <a:p>
            <a:pPr indent="0"/>
            <a:r>
              <a:rPr lang="en-US" sz="2800" b="1">
                <a:solidFill>
                  <a:schemeClr val="bg1"/>
                </a:solidFill>
                <a:latin typeface="等线" panose="02010600030101010101" charset="-122"/>
                <a:ea typeface="等线" panose="02010600030101010101" charset="-122"/>
                <a:cs typeface="等线" panose="02010600030101010101" charset="-122"/>
              </a:rPr>
              <a:t>6. </a:t>
            </a:r>
            <a:r>
              <a:rPr lang="zh-CN" sz="2800" b="1">
                <a:solidFill>
                  <a:schemeClr val="bg1"/>
                </a:solidFill>
                <a:latin typeface="等线" panose="02010600030101010101" charset="-122"/>
                <a:ea typeface="等线" panose="02010600030101010101" charset="-122"/>
                <a:cs typeface="等线" panose="02010600030101010101" charset="-122"/>
              </a:rPr>
              <a:t>楼下的响声使他警觉，他坐起来打开灯</a:t>
            </a:r>
            <a:r>
              <a:rPr lang="en-US" sz="2800" b="1">
                <a:solidFill>
                  <a:schemeClr val="bg1"/>
                </a:solidFill>
                <a:latin typeface="等线" panose="02010600030101010101" charset="-122"/>
                <a:ea typeface="等线" panose="02010600030101010101" charset="-122"/>
                <a:cs typeface="等线" panose="02010600030101010101" charset="-122"/>
              </a:rPr>
              <a:t>Alerted by a noise downstairs, he sat up and turned on the light.</a:t>
            </a:r>
          </a:p>
          <a:p>
            <a:pPr indent="0"/>
            <a:r>
              <a:rPr lang="en-US" sz="2800" b="1">
                <a:solidFill>
                  <a:schemeClr val="bg1"/>
                </a:solidFill>
                <a:latin typeface="等线" panose="02010600030101010101" charset="-122"/>
                <a:ea typeface="等线" panose="02010600030101010101" charset="-122"/>
                <a:cs typeface="等线" panose="02010600030101010101" charset="-122"/>
              </a:rPr>
              <a:t>7. </a:t>
            </a:r>
            <a:r>
              <a:rPr lang="zh-CN" sz="2800" b="1">
                <a:solidFill>
                  <a:schemeClr val="bg1"/>
                </a:solidFill>
                <a:latin typeface="等线" panose="02010600030101010101" charset="-122"/>
                <a:ea typeface="等线" panose="02010600030101010101" charset="-122"/>
                <a:cs typeface="等线" panose="02010600030101010101" charset="-122"/>
              </a:rPr>
              <a:t>我们必须认识到危险的可能性。（没有）</a:t>
            </a:r>
            <a:endParaRPr lang="en-US" sz="2800" b="1">
              <a:solidFill>
                <a:schemeClr val="bg1"/>
              </a:solidFill>
              <a:latin typeface="等线" panose="02010600030101010101" charset="-122"/>
              <a:ea typeface="等线" panose="02010600030101010101" charset="-122"/>
              <a:cs typeface="等线" panose="02010600030101010101" charset="-122"/>
            </a:endParaRPr>
          </a:p>
          <a:p>
            <a:pPr indent="0"/>
            <a:r>
              <a:rPr lang="en-US" sz="2800" b="1">
                <a:solidFill>
                  <a:schemeClr val="bg1"/>
                </a:solidFill>
                <a:latin typeface="等线" panose="02010600030101010101" charset="-122"/>
                <a:ea typeface="等线" panose="02010600030101010101" charset="-122"/>
                <a:cs typeface="等线" panose="02010600030101010101" charset="-122"/>
              </a:rPr>
              <a:t>8 .</a:t>
            </a:r>
            <a:r>
              <a:rPr lang="zh-CN" sz="2800" b="1">
                <a:solidFill>
                  <a:schemeClr val="bg1"/>
                </a:solidFill>
                <a:latin typeface="等线" panose="02010600030101010101" charset="-122"/>
                <a:ea typeface="等线" panose="02010600030101010101" charset="-122"/>
                <a:cs typeface="等线" panose="02010600030101010101" charset="-122"/>
              </a:rPr>
              <a:t>他生气地冲出房间。</a:t>
            </a:r>
            <a:r>
              <a:rPr lang="en-US" sz="2800" b="1">
                <a:solidFill>
                  <a:schemeClr val="bg1"/>
                </a:solidFill>
                <a:latin typeface="等线" panose="02010600030101010101" charset="-122"/>
                <a:ea typeface="等线" panose="02010600030101010101" charset="-122"/>
                <a:cs typeface="等线" panose="02010600030101010101" charset="-122"/>
              </a:rPr>
              <a:t>Sue stormed out of the room in a rage.</a:t>
            </a:r>
          </a:p>
          <a:p>
            <a:pPr indent="0"/>
            <a:r>
              <a:rPr lang="en-US" sz="2800" b="1">
                <a:solidFill>
                  <a:schemeClr val="bg1"/>
                </a:solidFill>
                <a:latin typeface="等线" panose="02010600030101010101" charset="-122"/>
                <a:ea typeface="等线" panose="02010600030101010101" charset="-122"/>
                <a:cs typeface="等线" panose="02010600030101010101" charset="-122"/>
              </a:rPr>
              <a:t>9. </a:t>
            </a:r>
            <a:r>
              <a:rPr lang="zh-CN" sz="2800" b="1">
                <a:solidFill>
                  <a:schemeClr val="bg1"/>
                </a:solidFill>
                <a:latin typeface="等线" panose="02010600030101010101" charset="-122"/>
                <a:ea typeface="等线" panose="02010600030101010101" charset="-122"/>
                <a:cs typeface="等线" panose="02010600030101010101" charset="-122"/>
              </a:rPr>
              <a:t>一股怒火燃遍她的全身。</a:t>
            </a:r>
            <a:r>
              <a:rPr lang="en-US" sz="2800" b="1">
                <a:solidFill>
                  <a:schemeClr val="bg1"/>
                </a:solidFill>
                <a:latin typeface="等线" panose="02010600030101010101" charset="-122"/>
                <a:ea typeface="等线" panose="02010600030101010101" charset="-122"/>
                <a:cs typeface="等线" panose="02010600030101010101" charset="-122"/>
              </a:rPr>
              <a:t>A tide of rage surged through her. </a:t>
            </a:r>
          </a:p>
          <a:p>
            <a:pPr indent="0"/>
            <a:r>
              <a:rPr lang="en-US" sz="2800" b="1">
                <a:solidFill>
                  <a:schemeClr val="bg1"/>
                </a:solidFill>
                <a:latin typeface="等线" panose="02010600030101010101" charset="-122"/>
                <a:ea typeface="等线" panose="02010600030101010101" charset="-122"/>
                <a:cs typeface="等线" panose="02010600030101010101" charset="-122"/>
              </a:rPr>
              <a:t>10. </a:t>
            </a:r>
            <a:r>
              <a:rPr lang="zh-CN" sz="2800" b="1">
                <a:solidFill>
                  <a:schemeClr val="bg1"/>
                </a:solidFill>
                <a:latin typeface="等线" panose="02010600030101010101" charset="-122"/>
                <a:ea typeface="等线" panose="02010600030101010101" charset="-122"/>
                <a:cs typeface="等线" panose="02010600030101010101" charset="-122"/>
              </a:rPr>
              <a:t>这篇报道使人们将关注的目光投向街头犯罪激增的问题。</a:t>
            </a:r>
            <a:r>
              <a:rPr lang="en-US" sz="2800" b="1">
                <a:solidFill>
                  <a:schemeClr val="bg1"/>
                </a:solidFill>
                <a:latin typeface="等线" panose="02010600030101010101" charset="-122"/>
                <a:ea typeface="等线" panose="02010600030101010101" charset="-122"/>
                <a:cs typeface="等线" panose="02010600030101010101" charset="-122"/>
              </a:rPr>
              <a:t>The report has turned the spotlight on the startling rise in street crime. </a:t>
            </a:r>
            <a:endParaRPr lang="en-US" altLang="en-US" sz="2800" b="1">
              <a:solidFill>
                <a:schemeClr val="bg1"/>
              </a:solidFill>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文本框 3"/>
          <p:cNvSpPr txBox="1"/>
          <p:nvPr/>
        </p:nvSpPr>
        <p:spPr>
          <a:xfrm>
            <a:off x="71120" y="26670"/>
            <a:ext cx="12237720" cy="6800850"/>
          </a:xfrm>
          <a:prstGeom prst="rect">
            <a:avLst/>
          </a:prstGeom>
          <a:noFill/>
        </p:spPr>
        <p:txBody>
          <a:bodyPr wrap="square" rtlCol="0" anchor="t">
            <a:spAutoFit/>
          </a:bodyPr>
          <a:lstStyle/>
          <a:p>
            <a:r>
              <a:rPr lang="zh-CN" altLang="en-US" sz="3200" dirty="0">
                <a:solidFill>
                  <a:schemeClr val="bg1"/>
                </a:solidFill>
                <a:latin typeface="等线" panose="02010600030101010101" charset="-122"/>
                <a:ea typeface="等线" panose="02010600030101010101" charset="-122"/>
                <a:cs typeface="等线" panose="02010600030101010101" charset="-122"/>
                <a:sym typeface="+mn-ea"/>
              </a:rPr>
              <a:t>    假定你是李华，在新冠状病毒肺炎疫情如此严峻的时刻，有少数不良商家以</a:t>
            </a:r>
            <a:r>
              <a:rPr lang="zh-CN" altLang="en-US" sz="3200" b="1" dirty="0">
                <a:solidFill>
                  <a:schemeClr val="bg1"/>
                </a:solidFill>
                <a:latin typeface="等线" panose="02010600030101010101" charset="-122"/>
                <a:ea typeface="等线" panose="02010600030101010101" charset="-122"/>
                <a:cs typeface="等线" panose="02010600030101010101" charset="-122"/>
                <a:sym typeface="+mn-ea"/>
              </a:rPr>
              <a:t>原价数倍</a:t>
            </a:r>
            <a:r>
              <a:rPr lang="zh-CN" altLang="en-US" sz="3200" dirty="0">
                <a:solidFill>
                  <a:schemeClr val="bg1"/>
                </a:solidFill>
                <a:latin typeface="等线" panose="02010600030101010101" charset="-122"/>
                <a:ea typeface="等线" panose="02010600030101010101" charset="-122"/>
                <a:cs typeface="等线" panose="02010600030101010101" charset="-122"/>
                <a:sym typeface="+mn-ea"/>
              </a:rPr>
              <a:t>的价格销售口罩。针对这</a:t>
            </a:r>
            <a:r>
              <a:rPr lang="zh-CN" altLang="en-US" sz="3200" b="1" dirty="0">
                <a:solidFill>
                  <a:schemeClr val="bg1"/>
                </a:solidFill>
                <a:latin typeface="等线" panose="02010600030101010101" charset="-122"/>
                <a:ea typeface="等线" panose="02010600030101010101" charset="-122"/>
                <a:cs typeface="等线" panose="02010600030101010101" charset="-122"/>
                <a:sym typeface="+mn-ea"/>
              </a:rPr>
              <a:t>现象</a:t>
            </a:r>
            <a:r>
              <a:rPr lang="zh-CN" altLang="en-US" sz="3200" dirty="0">
                <a:solidFill>
                  <a:schemeClr val="bg1"/>
                </a:solidFill>
                <a:latin typeface="等线" panose="02010600030101010101" charset="-122"/>
                <a:ea typeface="等线" panose="02010600030101010101" charset="-122"/>
                <a:cs typeface="等线" panose="02010600030101010101" charset="-122"/>
                <a:sym typeface="+mn-ea"/>
              </a:rPr>
              <a:t>，老师让你们用英语给消费者协会写一封</a:t>
            </a:r>
            <a:r>
              <a:rPr lang="zh-CN" altLang="en-US" sz="3200" b="1" dirty="0">
                <a:solidFill>
                  <a:schemeClr val="bg1"/>
                </a:solidFill>
                <a:latin typeface="等线" panose="02010600030101010101" charset="-122"/>
                <a:ea typeface="等线" panose="02010600030101010101" charset="-122"/>
                <a:cs typeface="等线" panose="02010600030101010101" charset="-122"/>
                <a:sym typeface="+mn-ea"/>
              </a:rPr>
              <a:t>投诉信</a:t>
            </a:r>
            <a:r>
              <a:rPr lang="zh-CN" altLang="en-US" sz="3200" dirty="0">
                <a:solidFill>
                  <a:schemeClr val="bg1"/>
                </a:solidFill>
                <a:latin typeface="等线" panose="02010600030101010101" charset="-122"/>
                <a:ea typeface="等线" panose="02010600030101010101" charset="-122"/>
                <a:cs typeface="等线" panose="02010600030101010101" charset="-122"/>
                <a:sym typeface="+mn-ea"/>
              </a:rPr>
              <a:t>。要点如下： </a:t>
            </a:r>
            <a:r>
              <a:rPr lang="en-US" altLang="zh-CN" sz="3200" dirty="0">
                <a:solidFill>
                  <a:schemeClr val="bg1"/>
                </a:solidFill>
                <a:latin typeface="等线" panose="02010600030101010101" charset="-122"/>
                <a:ea typeface="等线" panose="02010600030101010101" charset="-122"/>
                <a:cs typeface="等线" panose="02010600030101010101" charset="-122"/>
                <a:sym typeface="+mn-ea"/>
              </a:rPr>
              <a:t>1. </a:t>
            </a:r>
            <a:r>
              <a:rPr lang="zh-CN" altLang="en-US" sz="3200" dirty="0">
                <a:solidFill>
                  <a:schemeClr val="bg1"/>
                </a:solidFill>
                <a:latin typeface="等线" panose="02010600030101010101" charset="-122"/>
                <a:ea typeface="等线" panose="02010600030101010101" charset="-122"/>
                <a:cs typeface="等线" panose="02010600030101010101" charset="-122"/>
                <a:sym typeface="+mn-ea"/>
              </a:rPr>
              <a:t>介绍自己，写信目的。</a:t>
            </a:r>
            <a:r>
              <a:rPr lang="en-US" altLang="zh-CN" sz="3200" dirty="0">
                <a:solidFill>
                  <a:schemeClr val="bg1"/>
                </a:solidFill>
                <a:latin typeface="等线" panose="02010600030101010101" charset="-122"/>
                <a:ea typeface="等线" panose="02010600030101010101" charset="-122"/>
                <a:cs typeface="等线" panose="02010600030101010101" charset="-122"/>
                <a:sym typeface="+mn-ea"/>
              </a:rPr>
              <a:t>2. </a:t>
            </a:r>
            <a:r>
              <a:rPr lang="zh-CN" altLang="en-US" sz="3200" dirty="0">
                <a:solidFill>
                  <a:schemeClr val="bg1"/>
                </a:solidFill>
                <a:latin typeface="等线" panose="02010600030101010101" charset="-122"/>
                <a:ea typeface="等线" panose="02010600030101010101" charset="-122"/>
                <a:cs typeface="等线" panose="02010600030101010101" charset="-122"/>
                <a:sym typeface="+mn-ea"/>
              </a:rPr>
              <a:t>说明情况，表示气愤。</a:t>
            </a:r>
            <a:r>
              <a:rPr lang="en-US" altLang="zh-CN" sz="3200" dirty="0">
                <a:solidFill>
                  <a:schemeClr val="bg1"/>
                </a:solidFill>
                <a:latin typeface="等线" panose="02010600030101010101" charset="-122"/>
                <a:ea typeface="等线" panose="02010600030101010101" charset="-122"/>
                <a:cs typeface="等线" panose="02010600030101010101" charset="-122"/>
                <a:sym typeface="+mn-ea"/>
              </a:rPr>
              <a:t>3. </a:t>
            </a:r>
            <a:r>
              <a:rPr lang="zh-CN" altLang="en-US" sz="3200" dirty="0">
                <a:solidFill>
                  <a:schemeClr val="bg1"/>
                </a:solidFill>
                <a:latin typeface="等线" panose="02010600030101010101" charset="-122"/>
                <a:ea typeface="等线" panose="02010600030101010101" charset="-122"/>
                <a:cs typeface="等线" panose="02010600030101010101" charset="-122"/>
                <a:sym typeface="+mn-ea"/>
              </a:rPr>
              <a:t>希望重视，尽快解决。</a:t>
            </a:r>
            <a:endParaRPr lang="en-US" altLang="zh-CN" sz="2800" b="1" dirty="0">
              <a:solidFill>
                <a:schemeClr val="bg1"/>
              </a:solidFill>
              <a:latin typeface="等线" panose="02010600030101010101" charset="-122"/>
              <a:ea typeface="等线" panose="02010600030101010101" charset="-122"/>
              <a:cs typeface="等线" panose="02010600030101010101" charset="-122"/>
              <a:sym typeface="+mn-ea"/>
            </a:endParaRPr>
          </a:p>
          <a:p>
            <a:r>
              <a:rPr lang="en-US" altLang="zh-CN" sz="2800" b="1" dirty="0">
                <a:solidFill>
                  <a:schemeClr val="bg1"/>
                </a:solidFill>
                <a:latin typeface="等线" panose="02010600030101010101" charset="-122"/>
                <a:ea typeface="等线" panose="02010600030101010101" charset="-122"/>
                <a:cs typeface="等线" panose="02010600030101010101" charset="-122"/>
                <a:sym typeface="+mn-ea"/>
              </a:rPr>
              <a:t>	I am Li Hua, a student with a sense of justice and responsibility. I feel bad to trouble you but I am afraid that I have to complain about the immoral acts of some wicked businessmen.</a:t>
            </a:r>
          </a:p>
          <a:p>
            <a:r>
              <a:rPr lang="en-US" altLang="zh-CN" sz="2800" b="1" dirty="0">
                <a:solidFill>
                  <a:schemeClr val="bg1"/>
                </a:solidFill>
                <a:latin typeface="等线" panose="02010600030101010101" charset="-122"/>
                <a:ea typeface="等线" panose="02010600030101010101" charset="-122"/>
                <a:cs typeface="等线" panose="02010600030101010101" charset="-122"/>
                <a:sym typeface="+mn-ea"/>
              </a:rPr>
              <a:t>    	As is known to all, we Chinese are now faced with an extremely severe situation fighting against the COVID-19. What makes me shocked and furious is that some mean merchants are selling face masks at an illegal high price to make profits, which not only puts numerous people’ lives at risk but has a serious impact on society.  </a:t>
            </a:r>
          </a:p>
          <a:p>
            <a:r>
              <a:rPr lang="en-US" altLang="zh-CN" sz="2800" b="1" dirty="0">
                <a:solidFill>
                  <a:schemeClr val="bg1"/>
                </a:solidFill>
                <a:latin typeface="等线" panose="02010600030101010101" charset="-122"/>
                <a:ea typeface="等线" panose="02010600030101010101" charset="-122"/>
                <a:cs typeface="等线" panose="02010600030101010101" charset="-122"/>
                <a:sym typeface="+mn-ea"/>
              </a:rPr>
              <a:t>    	I would appreciate it if the Consumers' Association takes it seriously. Looking forward to your early reply.(110words)</a:t>
            </a:r>
          </a:p>
          <a:p>
            <a:endParaRPr lang="en-US" altLang="zh-CN" sz="2800" b="1" dirty="0">
              <a:solidFill>
                <a:schemeClr val="bg1"/>
              </a:solidFill>
              <a:latin typeface="等线" panose="02010600030101010101" charset="-122"/>
              <a:ea typeface="等线" panose="02010600030101010101" charset="-122"/>
              <a:cs typeface="等线" panose="02010600030101010101"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3DE301-E170-4134-AD60-B053F3F2D5D3}"/>
              </a:ext>
            </a:extLst>
          </p:cNvPr>
          <p:cNvSpPr>
            <a:spLocks noGrp="1"/>
          </p:cNvSpPr>
          <p:nvPr>
            <p:ph type="title"/>
          </p:nvPr>
        </p:nvSpPr>
        <p:spPr/>
        <p:txBody>
          <a:bodyPr/>
          <a:lstStyle/>
          <a:p>
            <a:r>
              <a:rPr lang="zh-CN" altLang="en-US" dirty="0">
                <a:solidFill>
                  <a:schemeClr val="bg1"/>
                </a:solidFill>
              </a:rPr>
              <a:t>其他课件见</a:t>
            </a:r>
            <a:r>
              <a:rPr lang="en-US" altLang="zh-CN" dirty="0">
                <a:solidFill>
                  <a:schemeClr val="bg1"/>
                </a:solidFill>
              </a:rPr>
              <a:t>http://c1995o4halepopp.ys168.com/</a:t>
            </a:r>
            <a:endParaRPr lang="zh-CN" altLang="en-US" dirty="0">
              <a:solidFill>
                <a:schemeClr val="bg1"/>
              </a:solidFill>
            </a:endParaRPr>
          </a:p>
        </p:txBody>
      </p:sp>
      <p:sp>
        <p:nvSpPr>
          <p:cNvPr id="3" name="内容占位符 2">
            <a:extLst>
              <a:ext uri="{FF2B5EF4-FFF2-40B4-BE49-F238E27FC236}">
                <a16:creationId xmlns:a16="http://schemas.microsoft.com/office/drawing/2014/main" id="{B5142162-716C-4844-8D33-96D8362EC299}"/>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3043277357"/>
      </p:ext>
    </p:extLst>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446</Words>
  <Application>Microsoft Office PowerPoint</Application>
  <PresentationFormat>宽屏</PresentationFormat>
  <Paragraphs>18</Paragraphs>
  <Slides>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vt:i4>
      </vt:variant>
    </vt:vector>
  </HeadingPairs>
  <TitlesOfParts>
    <vt:vector size="8" baseType="lpstr">
      <vt:lpstr>等线</vt:lpstr>
      <vt:lpstr>微软雅黑</vt:lpstr>
      <vt:lpstr>Arial</vt:lpstr>
      <vt:lpstr>Calibri</vt:lpstr>
      <vt:lpstr>默认设计模板</vt:lpstr>
      <vt:lpstr>PowerPoint 演示文稿</vt:lpstr>
      <vt:lpstr>PowerPoint 演示文稿</vt:lpstr>
      <vt:lpstr>其他课件见http://c1995o4halepopp.ys168.com/</vt:lpstr>
    </vt:vector>
  </TitlesOfParts>
  <Company>珠海市航空管委会</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G210</dc:creator>
  <cp:lastModifiedBy>shen minyan</cp:lastModifiedBy>
  <cp:revision>3</cp:revision>
  <dcterms:created xsi:type="dcterms:W3CDTF">2020-09-17T11:16:41Z</dcterms:created>
  <dcterms:modified xsi:type="dcterms:W3CDTF">2020-09-17T14:08:09Z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2052-11.8.2.8506</vt:lpwstr>
  </property>
</Properties>
</file>