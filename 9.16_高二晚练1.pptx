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6" r:id="rId6"/>
    <p:sldId id="267" r:id="rId7"/>
    <p:sldId id="258" r:id="rId8"/>
    <p:sldId id="259" r:id="rId9"/>
    <p:sldId id="262" r:id="rId10"/>
    <p:sldId id="263"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50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1600262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880369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56533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1455624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2641695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3116678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4240194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203854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2570534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4103756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3617351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2BC18-BB19-4021-98A6-784F51C0A88E}" type="datetimeFigureOut">
              <a:rPr lang="zh-CN" altLang="en-US" smtClean="0"/>
              <a:t>2020-09-16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E86462-D594-4573-B0CD-51D23D783E07}" type="slidenum">
              <a:rPr lang="zh-CN" altLang="en-US" smtClean="0"/>
              <a:t>‹#›</a:t>
            </a:fld>
            <a:endParaRPr lang="zh-CN" altLang="en-US"/>
          </a:p>
        </p:txBody>
      </p:sp>
    </p:spTree>
    <p:extLst>
      <p:ext uri="{BB962C8B-B14F-4D97-AF65-F5344CB8AC3E}">
        <p14:creationId xmlns:p14="http://schemas.microsoft.com/office/powerpoint/2010/main" val="375955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file:///E:\&#24536;&#35760;&#20320;\&#35838;&#20214;\2012&#24180;&#39640;&#19977;&#19968;&#36718;\&#22823;&#26679;\&#26032;&#35838;&#26631;\&#19977;&#32500;\&#20154;&#25945;&#22320;&#29702;\1-72.TI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zh-CN" altLang="en-US" sz="6600" dirty="0" smtClean="0"/>
              <a:t>高二晚练</a:t>
            </a:r>
            <a:r>
              <a:rPr lang="en-US" altLang="zh-CN" sz="6600" dirty="0" smtClean="0"/>
              <a:t>1  </a:t>
            </a:r>
            <a:r>
              <a:rPr lang="en-US" altLang="zh-CN" dirty="0" smtClean="0"/>
              <a:t/>
            </a:r>
            <a:br>
              <a:rPr lang="en-US" altLang="zh-CN" dirty="0" smtClean="0"/>
            </a:br>
            <a:r>
              <a:rPr lang="zh-CN" altLang="en-US" dirty="0" smtClean="0"/>
              <a:t>（</a:t>
            </a:r>
            <a:r>
              <a:rPr lang="en-US" altLang="zh-CN" dirty="0" smtClean="0"/>
              <a:t>9</a:t>
            </a:r>
            <a:r>
              <a:rPr lang="zh-CN" altLang="en-US" dirty="0" smtClean="0"/>
              <a:t>月</a:t>
            </a:r>
            <a:r>
              <a:rPr lang="en-US" altLang="zh-CN" dirty="0" smtClean="0"/>
              <a:t>16</a:t>
            </a:r>
            <a:r>
              <a:rPr lang="zh-CN" altLang="en-US" dirty="0" smtClean="0"/>
              <a:t>日）</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507876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9144000" cy="6858000"/>
          </a:xfrm>
        </p:spPr>
        <p:txBody>
          <a:bodyPr>
            <a:normAutofit lnSpcReduction="10000"/>
          </a:bodyPr>
          <a:lstStyle/>
          <a:p>
            <a:pPr marL="0" indent="0">
              <a:buNone/>
            </a:pPr>
            <a:r>
              <a:rPr lang="zh-CN" altLang="zh-CN" dirty="0"/>
              <a:t>图中所示照片是摄影师在夜晚采用连续曝光技术拍摄的。照片中的弧线为恒星视运动轨迹。读图回答</a:t>
            </a:r>
            <a:r>
              <a:rPr lang="en-US" altLang="zh-CN" dirty="0"/>
              <a:t>1</a:t>
            </a:r>
            <a:r>
              <a:rPr lang="zh-CN" altLang="zh-CN" dirty="0"/>
              <a:t>～</a:t>
            </a:r>
            <a:r>
              <a:rPr lang="en-US" altLang="zh-CN" dirty="0"/>
              <a:t>2</a:t>
            </a:r>
            <a:r>
              <a:rPr lang="zh-CN" altLang="zh-CN" dirty="0"/>
              <a:t>题。</a:t>
            </a:r>
          </a:p>
          <a:p>
            <a:pPr marL="0" indent="0">
              <a:buNone/>
            </a:pPr>
            <a:r>
              <a:rPr lang="en-US" altLang="zh-CN" dirty="0" smtClean="0"/>
              <a:t>1</a:t>
            </a:r>
            <a:r>
              <a:rPr lang="en-US" altLang="zh-CN" dirty="0"/>
              <a:t>.</a:t>
            </a:r>
            <a:r>
              <a:rPr lang="zh-CN" altLang="zh-CN" dirty="0"/>
              <a:t>据图判断</a:t>
            </a:r>
            <a:r>
              <a:rPr lang="en-US" altLang="zh-CN" dirty="0"/>
              <a:t>,</a:t>
            </a:r>
            <a:r>
              <a:rPr lang="zh-CN" altLang="zh-CN" dirty="0" smtClean="0"/>
              <a:t>摄影师</a:t>
            </a:r>
            <a:endParaRPr lang="en-US" altLang="zh-CN" dirty="0" smtClean="0"/>
          </a:p>
          <a:p>
            <a:pPr marL="0" indent="0">
              <a:buNone/>
            </a:pPr>
            <a:r>
              <a:rPr lang="zh-CN" altLang="zh-CN" dirty="0" smtClean="0"/>
              <a:t>拍摄</a:t>
            </a:r>
            <a:r>
              <a:rPr lang="zh-CN" altLang="zh-CN" dirty="0"/>
              <a:t>的地点</a:t>
            </a:r>
            <a:r>
              <a:rPr lang="zh-CN" altLang="zh-CN" dirty="0" smtClean="0"/>
              <a:t>位于　（</a:t>
            </a:r>
            <a:r>
              <a:rPr lang="zh-CN" altLang="zh-CN" dirty="0"/>
              <a:t>　　）</a:t>
            </a:r>
          </a:p>
          <a:p>
            <a:pPr marL="0" indent="0">
              <a:buNone/>
            </a:pPr>
            <a:r>
              <a:rPr lang="en-US" altLang="zh-CN" b="1" dirty="0" smtClean="0"/>
              <a:t>    A</a:t>
            </a:r>
            <a:r>
              <a:rPr lang="en-US" altLang="zh-CN" b="1" dirty="0"/>
              <a:t>.</a:t>
            </a:r>
            <a:r>
              <a:rPr lang="zh-CN" altLang="zh-CN" b="1" dirty="0"/>
              <a:t>低纬</a:t>
            </a:r>
            <a:r>
              <a:rPr lang="zh-CN" altLang="zh-CN" b="1" dirty="0" smtClean="0"/>
              <a:t>地区</a:t>
            </a:r>
            <a:endParaRPr lang="en-US" altLang="zh-CN" b="1" dirty="0" smtClean="0"/>
          </a:p>
          <a:p>
            <a:pPr marL="0" indent="0">
              <a:buNone/>
            </a:pPr>
            <a:r>
              <a:rPr lang="en-US" altLang="zh-CN" dirty="0" smtClean="0"/>
              <a:t>    B</a:t>
            </a:r>
            <a:r>
              <a:rPr lang="en-US" altLang="zh-CN" dirty="0"/>
              <a:t>.</a:t>
            </a:r>
            <a:r>
              <a:rPr lang="zh-CN" altLang="zh-CN" dirty="0"/>
              <a:t>中纬地区</a:t>
            </a:r>
          </a:p>
          <a:p>
            <a:pPr marL="0" indent="0">
              <a:buNone/>
            </a:pPr>
            <a:r>
              <a:rPr lang="en-US" altLang="zh-CN" dirty="0" smtClean="0"/>
              <a:t>    C</a:t>
            </a:r>
            <a:r>
              <a:rPr lang="en-US" altLang="zh-CN" dirty="0"/>
              <a:t>.</a:t>
            </a:r>
            <a:r>
              <a:rPr lang="zh-CN" altLang="zh-CN" dirty="0"/>
              <a:t>北极</a:t>
            </a:r>
            <a:r>
              <a:rPr lang="zh-CN" altLang="zh-CN" dirty="0" smtClean="0"/>
              <a:t>附近</a:t>
            </a:r>
            <a:endParaRPr lang="en-US" altLang="zh-CN" dirty="0" smtClean="0"/>
          </a:p>
          <a:p>
            <a:pPr marL="0" indent="0">
              <a:buNone/>
            </a:pPr>
            <a:r>
              <a:rPr lang="en-US" altLang="zh-CN" dirty="0" smtClean="0"/>
              <a:t>    D</a:t>
            </a:r>
            <a:r>
              <a:rPr lang="en-US" altLang="zh-CN" dirty="0"/>
              <a:t>.</a:t>
            </a:r>
            <a:r>
              <a:rPr lang="zh-CN" altLang="zh-CN" dirty="0"/>
              <a:t>南极附近</a:t>
            </a:r>
          </a:p>
          <a:p>
            <a:pPr marL="0" indent="0">
              <a:buNone/>
            </a:pPr>
            <a:r>
              <a:rPr lang="en-US" altLang="zh-CN" dirty="0"/>
              <a:t>2.</a:t>
            </a:r>
            <a:r>
              <a:rPr lang="zh-CN" altLang="zh-CN" dirty="0"/>
              <a:t>图中</a:t>
            </a:r>
            <a:r>
              <a:rPr lang="en-US" altLang="zh-CN" dirty="0"/>
              <a:t>a</a:t>
            </a:r>
            <a:r>
              <a:rPr lang="zh-CN" altLang="zh-CN" dirty="0"/>
              <a:t>恒星视运动转过的角度约为</a:t>
            </a:r>
            <a:r>
              <a:rPr lang="en-US" altLang="zh-CN" dirty="0"/>
              <a:t>50</a:t>
            </a:r>
            <a:r>
              <a:rPr lang="zh-CN" altLang="zh-CN" dirty="0"/>
              <a:t>°</a:t>
            </a:r>
            <a:r>
              <a:rPr lang="en-US" altLang="zh-CN" dirty="0"/>
              <a:t>,</a:t>
            </a:r>
            <a:r>
              <a:rPr lang="zh-CN" altLang="zh-CN" dirty="0"/>
              <a:t>据此判断摄影师连续拍摄的时间为　（　　）</a:t>
            </a:r>
          </a:p>
          <a:p>
            <a:pPr marL="0" indent="0">
              <a:buNone/>
            </a:pPr>
            <a:r>
              <a:rPr lang="en-US" altLang="zh-CN" dirty="0" smtClean="0"/>
              <a:t>    A.1</a:t>
            </a:r>
            <a:r>
              <a:rPr lang="zh-CN" altLang="zh-CN" dirty="0"/>
              <a:t>个多小时</a:t>
            </a:r>
            <a:r>
              <a:rPr lang="en-US" altLang="zh-CN" dirty="0"/>
              <a:t>         	</a:t>
            </a:r>
            <a:r>
              <a:rPr lang="en-US" altLang="zh-CN" b="1" dirty="0"/>
              <a:t>B.3</a:t>
            </a:r>
            <a:r>
              <a:rPr lang="zh-CN" altLang="zh-CN" b="1" dirty="0"/>
              <a:t>个多小时</a:t>
            </a:r>
          </a:p>
          <a:p>
            <a:pPr marL="0" indent="0">
              <a:buNone/>
            </a:pPr>
            <a:r>
              <a:rPr lang="en-US" altLang="zh-CN" dirty="0" smtClean="0"/>
              <a:t>    C.5</a:t>
            </a:r>
            <a:r>
              <a:rPr lang="zh-CN" altLang="zh-CN" dirty="0"/>
              <a:t>个多小时</a:t>
            </a:r>
            <a:r>
              <a:rPr lang="en-US" altLang="zh-CN" dirty="0"/>
              <a:t>	          </a:t>
            </a:r>
            <a:r>
              <a:rPr lang="en-US" altLang="zh-CN" dirty="0" smtClean="0"/>
              <a:t>D.7</a:t>
            </a:r>
            <a:r>
              <a:rPr lang="zh-CN" altLang="zh-CN" dirty="0"/>
              <a:t>个多小时</a:t>
            </a:r>
          </a:p>
        </p:txBody>
      </p:sp>
      <p:pic>
        <p:nvPicPr>
          <p:cNvPr id="1026" name="图片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53396" y="1236152"/>
            <a:ext cx="4211092" cy="348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582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8964488" cy="6858000"/>
          </a:xfrm>
        </p:spPr>
        <p:txBody>
          <a:bodyPr>
            <a:normAutofit/>
          </a:bodyPr>
          <a:lstStyle/>
          <a:p>
            <a:pPr marL="0" indent="0">
              <a:buNone/>
            </a:pPr>
            <a:r>
              <a:rPr lang="en-US" altLang="zh-CN" dirty="0" smtClean="0"/>
              <a:t>3.</a:t>
            </a:r>
            <a:r>
              <a:rPr lang="zh-CN" altLang="zh-CN" dirty="0" smtClean="0"/>
              <a:t>右</a:t>
            </a:r>
            <a:r>
              <a:rPr lang="zh-CN" altLang="zh-CN" dirty="0"/>
              <a:t>图为某摄影爱好者在左图中广袤草原上拍摄的“日出”美景</a:t>
            </a:r>
            <a:r>
              <a:rPr lang="zh-CN" altLang="zh-CN" dirty="0" smtClean="0"/>
              <a:t>。摄影</a:t>
            </a:r>
            <a:r>
              <a:rPr lang="zh-CN" altLang="zh-CN" dirty="0"/>
              <a:t>爱好者拍摄“日出”美景的方向和北京时间分别是　（　　）</a:t>
            </a:r>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r>
              <a:rPr lang="en-US" altLang="zh-CN" dirty="0" smtClean="0"/>
              <a:t>    A</a:t>
            </a:r>
            <a:r>
              <a:rPr lang="en-US" altLang="zh-CN" dirty="0"/>
              <a:t>.</a:t>
            </a:r>
            <a:r>
              <a:rPr lang="zh-CN" altLang="zh-CN" dirty="0"/>
              <a:t>东南　</a:t>
            </a:r>
            <a:r>
              <a:rPr lang="en-US" altLang="zh-CN" dirty="0"/>
              <a:t>7</a:t>
            </a:r>
            <a:r>
              <a:rPr lang="zh-CN" altLang="zh-CN" dirty="0"/>
              <a:t>月</a:t>
            </a:r>
            <a:r>
              <a:rPr lang="en-US" altLang="zh-CN" dirty="0"/>
              <a:t>1</a:t>
            </a:r>
            <a:r>
              <a:rPr lang="zh-CN" altLang="zh-CN" dirty="0"/>
              <a:t>日</a:t>
            </a:r>
            <a:r>
              <a:rPr lang="en-US" altLang="zh-CN" dirty="0"/>
              <a:t>06</a:t>
            </a:r>
            <a:r>
              <a:rPr lang="zh-CN" altLang="zh-CN" dirty="0" smtClean="0"/>
              <a:t>时</a:t>
            </a:r>
            <a:r>
              <a:rPr lang="en-US" altLang="zh-CN" dirty="0" smtClean="0"/>
              <a:t>    B</a:t>
            </a:r>
            <a:r>
              <a:rPr lang="en-US" altLang="zh-CN" dirty="0"/>
              <a:t>.</a:t>
            </a:r>
            <a:r>
              <a:rPr lang="zh-CN" altLang="zh-CN" dirty="0"/>
              <a:t>东北　</a:t>
            </a:r>
            <a:r>
              <a:rPr lang="en-US" altLang="zh-CN" dirty="0"/>
              <a:t>7</a:t>
            </a:r>
            <a:r>
              <a:rPr lang="zh-CN" altLang="zh-CN" dirty="0"/>
              <a:t>月</a:t>
            </a:r>
            <a:r>
              <a:rPr lang="en-US" altLang="zh-CN" dirty="0"/>
              <a:t>1</a:t>
            </a:r>
            <a:r>
              <a:rPr lang="zh-CN" altLang="zh-CN" dirty="0"/>
              <a:t>日</a:t>
            </a:r>
            <a:r>
              <a:rPr lang="en-US" altLang="zh-CN" dirty="0"/>
              <a:t>06</a:t>
            </a:r>
            <a:r>
              <a:rPr lang="zh-CN" altLang="zh-CN" dirty="0"/>
              <a:t>时</a:t>
            </a:r>
          </a:p>
          <a:p>
            <a:pPr marL="0" indent="0">
              <a:buNone/>
            </a:pPr>
            <a:r>
              <a:rPr lang="en-US" altLang="zh-CN" dirty="0" smtClean="0"/>
              <a:t>    C</a:t>
            </a:r>
            <a:r>
              <a:rPr lang="en-US" altLang="zh-CN" dirty="0"/>
              <a:t>.</a:t>
            </a:r>
            <a:r>
              <a:rPr lang="zh-CN" altLang="zh-CN" dirty="0"/>
              <a:t>东北　</a:t>
            </a:r>
            <a:r>
              <a:rPr lang="en-US" altLang="zh-CN" dirty="0"/>
              <a:t>1</a:t>
            </a:r>
            <a:r>
              <a:rPr lang="zh-CN" altLang="zh-CN" dirty="0"/>
              <a:t>月</a:t>
            </a:r>
            <a:r>
              <a:rPr lang="en-US" altLang="zh-CN" dirty="0"/>
              <a:t>1</a:t>
            </a:r>
            <a:r>
              <a:rPr lang="zh-CN" altLang="zh-CN" dirty="0"/>
              <a:t>日</a:t>
            </a:r>
            <a:r>
              <a:rPr lang="en-US" altLang="zh-CN" dirty="0"/>
              <a:t>12</a:t>
            </a:r>
            <a:r>
              <a:rPr lang="zh-CN" altLang="zh-CN" dirty="0" smtClean="0"/>
              <a:t>时</a:t>
            </a:r>
            <a:r>
              <a:rPr lang="en-US" altLang="zh-CN" dirty="0" smtClean="0"/>
              <a:t>    </a:t>
            </a:r>
            <a:r>
              <a:rPr lang="en-US" altLang="zh-CN" b="1" dirty="0" smtClean="0"/>
              <a:t>D</a:t>
            </a:r>
            <a:r>
              <a:rPr lang="en-US" altLang="zh-CN" b="1" dirty="0"/>
              <a:t>.</a:t>
            </a:r>
            <a:r>
              <a:rPr lang="zh-CN" altLang="zh-CN" b="1" dirty="0"/>
              <a:t>东南　</a:t>
            </a:r>
            <a:r>
              <a:rPr lang="en-US" altLang="zh-CN" b="1" dirty="0"/>
              <a:t>1</a:t>
            </a:r>
            <a:r>
              <a:rPr lang="zh-CN" altLang="zh-CN" b="1" dirty="0"/>
              <a:t>月</a:t>
            </a:r>
            <a:r>
              <a:rPr lang="en-US" altLang="zh-CN" b="1" dirty="0"/>
              <a:t>1</a:t>
            </a:r>
            <a:r>
              <a:rPr lang="zh-CN" altLang="zh-CN" b="1" dirty="0"/>
              <a:t>日</a:t>
            </a:r>
            <a:r>
              <a:rPr lang="en-US" altLang="zh-CN" b="1" dirty="0"/>
              <a:t>12</a:t>
            </a:r>
            <a:r>
              <a:rPr lang="zh-CN" altLang="zh-CN" b="1" dirty="0"/>
              <a:t>时</a:t>
            </a:r>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755267"/>
            <a:ext cx="7344816" cy="304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0895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9144000" cy="6858000"/>
          </a:xfrm>
        </p:spPr>
        <p:txBody>
          <a:bodyPr>
            <a:normAutofit lnSpcReduction="10000"/>
          </a:bodyPr>
          <a:lstStyle/>
          <a:p>
            <a:pPr marL="0" indent="0">
              <a:buNone/>
            </a:pPr>
            <a:r>
              <a:rPr lang="zh-CN" altLang="zh-CN" dirty="0"/>
              <a:t>下图表示一年中大气上界单位面积水平面上每日接收到的太阳辐射随纬度的变化，单位为</a:t>
            </a:r>
            <a:r>
              <a:rPr lang="en-US" altLang="zh-CN" dirty="0"/>
              <a:t>MJ</a:t>
            </a:r>
            <a:r>
              <a:rPr lang="zh-CN" altLang="zh-CN" dirty="0"/>
              <a:t>／</a:t>
            </a:r>
            <a:r>
              <a:rPr lang="en-US" altLang="zh-CN" dirty="0"/>
              <a:t>m2</a:t>
            </a:r>
            <a:r>
              <a:rPr lang="zh-CN" altLang="zh-CN" dirty="0"/>
              <a:t>，图中阴影部分表示没有太阳辐射。</a:t>
            </a:r>
            <a:r>
              <a:rPr lang="zh-CN" altLang="zh-CN" dirty="0" smtClean="0"/>
              <a:t>完成</a:t>
            </a:r>
            <a:r>
              <a:rPr lang="en-US" altLang="zh-CN" dirty="0" smtClean="0"/>
              <a:t>4</a:t>
            </a:r>
            <a:r>
              <a:rPr lang="zh-CN" altLang="zh-CN" dirty="0" smtClean="0"/>
              <a:t>～</a:t>
            </a:r>
            <a:r>
              <a:rPr lang="en-US" altLang="zh-CN" dirty="0" smtClean="0"/>
              <a:t>5</a:t>
            </a:r>
            <a:r>
              <a:rPr lang="zh-CN" altLang="zh-CN" dirty="0" smtClean="0"/>
              <a:t>题</a:t>
            </a:r>
            <a:r>
              <a:rPr lang="zh-CN" altLang="zh-CN" dirty="0"/>
              <a:t>。</a:t>
            </a:r>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r>
              <a:rPr lang="en-US" altLang="zh-CN" dirty="0" smtClean="0"/>
              <a:t>4.</a:t>
            </a:r>
            <a:r>
              <a:rPr lang="zh-CN" altLang="zh-CN" dirty="0"/>
              <a:t>图中</a:t>
            </a:r>
            <a:r>
              <a:rPr lang="en-US" altLang="zh-CN" dirty="0"/>
              <a:t>M</a:t>
            </a:r>
            <a:r>
              <a:rPr lang="zh-CN" altLang="zh-CN" dirty="0"/>
              <a:t>日最接近</a:t>
            </a:r>
          </a:p>
          <a:p>
            <a:pPr marL="0" indent="0">
              <a:buNone/>
            </a:pPr>
            <a:r>
              <a:rPr lang="en-US" altLang="zh-CN" dirty="0" smtClean="0"/>
              <a:t>    A</a:t>
            </a:r>
            <a:r>
              <a:rPr lang="en-US" altLang="zh-CN" dirty="0"/>
              <a:t>.</a:t>
            </a:r>
            <a:r>
              <a:rPr lang="zh-CN" altLang="zh-CN" dirty="0"/>
              <a:t>春分日</a:t>
            </a:r>
            <a:r>
              <a:rPr lang="en-US" altLang="zh-CN" dirty="0"/>
              <a:t>       </a:t>
            </a:r>
            <a:r>
              <a:rPr lang="en-US" altLang="zh-CN" b="1" dirty="0"/>
              <a:t>B.</a:t>
            </a:r>
            <a:r>
              <a:rPr lang="zh-CN" altLang="zh-CN" b="1" dirty="0"/>
              <a:t>夏至日</a:t>
            </a:r>
            <a:r>
              <a:rPr lang="en-US" altLang="zh-CN" dirty="0"/>
              <a:t>      C.</a:t>
            </a:r>
            <a:r>
              <a:rPr lang="zh-CN" altLang="zh-CN" dirty="0"/>
              <a:t>秋分日</a:t>
            </a:r>
            <a:r>
              <a:rPr lang="en-US" altLang="zh-CN" dirty="0"/>
              <a:t>      D.</a:t>
            </a:r>
            <a:r>
              <a:rPr lang="zh-CN" altLang="zh-CN" dirty="0"/>
              <a:t>冬至日</a:t>
            </a:r>
            <a:r>
              <a:rPr lang="en-US" altLang="zh-CN" dirty="0"/>
              <a:t> </a:t>
            </a:r>
            <a:endParaRPr lang="zh-CN" altLang="zh-CN" dirty="0"/>
          </a:p>
          <a:p>
            <a:pPr marL="0" indent="0">
              <a:buNone/>
            </a:pPr>
            <a:r>
              <a:rPr lang="en-US" altLang="zh-CN" dirty="0"/>
              <a:t>5</a:t>
            </a:r>
            <a:r>
              <a:rPr lang="en-US" altLang="zh-CN" dirty="0" smtClean="0"/>
              <a:t>.a</a:t>
            </a:r>
            <a:r>
              <a:rPr lang="zh-CN" altLang="zh-CN" dirty="0"/>
              <a:t>、</a:t>
            </a:r>
            <a:r>
              <a:rPr lang="en-US" altLang="zh-CN" dirty="0"/>
              <a:t>b</a:t>
            </a:r>
            <a:r>
              <a:rPr lang="zh-CN" altLang="zh-CN" dirty="0"/>
              <a:t>两点太阳辐射差异的影响因素主要为</a:t>
            </a:r>
          </a:p>
          <a:p>
            <a:pPr marL="0" indent="0">
              <a:buNone/>
            </a:pPr>
            <a:r>
              <a:rPr lang="en-US" altLang="zh-CN" b="1" dirty="0" smtClean="0"/>
              <a:t>    A</a:t>
            </a:r>
            <a:r>
              <a:rPr lang="en-US" altLang="zh-CN" b="1" dirty="0"/>
              <a:t>.</a:t>
            </a:r>
            <a:r>
              <a:rPr lang="zh-CN" altLang="zh-CN" b="1" dirty="0"/>
              <a:t>太阳高度</a:t>
            </a:r>
            <a:r>
              <a:rPr lang="en-US" altLang="zh-CN" dirty="0"/>
              <a:t>     </a:t>
            </a:r>
            <a:r>
              <a:rPr lang="en-US" altLang="zh-CN" dirty="0" smtClean="0"/>
              <a:t>       B</a:t>
            </a:r>
            <a:r>
              <a:rPr lang="en-US" altLang="zh-CN" dirty="0"/>
              <a:t>.</a:t>
            </a:r>
            <a:r>
              <a:rPr lang="zh-CN" altLang="zh-CN" dirty="0"/>
              <a:t>白昼</a:t>
            </a:r>
            <a:r>
              <a:rPr lang="zh-CN" altLang="zh-CN" dirty="0" smtClean="0"/>
              <a:t>长短</a:t>
            </a:r>
            <a:endParaRPr lang="en-US" altLang="zh-CN" dirty="0" smtClean="0"/>
          </a:p>
          <a:p>
            <a:pPr marL="0" indent="0">
              <a:buNone/>
            </a:pPr>
            <a:r>
              <a:rPr lang="en-US" altLang="zh-CN" dirty="0" smtClean="0"/>
              <a:t>    C</a:t>
            </a:r>
            <a:r>
              <a:rPr lang="en-US" altLang="zh-CN" dirty="0"/>
              <a:t>.</a:t>
            </a:r>
            <a:r>
              <a:rPr lang="zh-CN" altLang="zh-CN" dirty="0"/>
              <a:t>海陆位置</a:t>
            </a:r>
            <a:r>
              <a:rPr lang="en-US" altLang="zh-CN" dirty="0"/>
              <a:t>    </a:t>
            </a:r>
            <a:r>
              <a:rPr lang="en-US" altLang="zh-CN" dirty="0" smtClean="0"/>
              <a:t>         D</a:t>
            </a:r>
            <a:r>
              <a:rPr lang="en-US" altLang="zh-CN" dirty="0"/>
              <a:t>.</a:t>
            </a:r>
            <a:r>
              <a:rPr lang="zh-CN" altLang="zh-CN" dirty="0"/>
              <a:t>天气状况</a:t>
            </a:r>
            <a:r>
              <a:rPr lang="en-US" altLang="zh-CN" dirty="0"/>
              <a:t> </a:t>
            </a:r>
            <a:endParaRPr lang="zh-CN" altLang="zh-CN" dirty="0"/>
          </a:p>
          <a:p>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1340768"/>
            <a:ext cx="4366419" cy="2591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021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9036496" cy="6858000"/>
          </a:xfrm>
        </p:spPr>
        <p:txBody>
          <a:bodyPr/>
          <a:lstStyle/>
          <a:p>
            <a:pPr marL="0" indent="0">
              <a:buNone/>
            </a:pPr>
            <a:r>
              <a:rPr lang="en-US" altLang="zh-CN" dirty="0" smtClean="0"/>
              <a:t>6.</a:t>
            </a:r>
            <a:r>
              <a:rPr lang="zh-CN" altLang="zh-CN" dirty="0" smtClean="0"/>
              <a:t>大</a:t>
            </a:r>
            <a:r>
              <a:rPr lang="zh-CN" altLang="zh-CN" dirty="0"/>
              <a:t>数据显示，城市机动车流量变化在一定程度上可体现城市的生活节奏。机动车流量百分比是指某时段机动车流量占当日机动车总流量的比例。下图为甲城市工作日机动车流量变化图。读图</a:t>
            </a:r>
            <a:r>
              <a:rPr lang="zh-CN" altLang="zh-CN" dirty="0" smtClean="0"/>
              <a:t>，</a:t>
            </a:r>
            <a:r>
              <a:rPr lang="zh-CN" altLang="en-US" dirty="0" smtClean="0"/>
              <a:t>推断</a:t>
            </a:r>
            <a:r>
              <a:rPr lang="zh-CN" altLang="zh-CN" dirty="0" smtClean="0"/>
              <a:t>甲</a:t>
            </a:r>
            <a:r>
              <a:rPr lang="zh-CN" altLang="zh-CN" dirty="0"/>
              <a:t>城市所处时区是</a:t>
            </a:r>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r>
              <a:rPr lang="en-US" altLang="zh-CN" dirty="0" smtClean="0"/>
              <a:t>    A</a:t>
            </a:r>
            <a:r>
              <a:rPr lang="zh-CN" altLang="zh-CN" dirty="0"/>
              <a:t>．西二区</a:t>
            </a:r>
            <a:r>
              <a:rPr lang="en-US" altLang="zh-CN" dirty="0"/>
              <a:t> </a:t>
            </a:r>
            <a:r>
              <a:rPr lang="en-US" altLang="zh-CN" b="1" dirty="0"/>
              <a:t>B</a:t>
            </a:r>
            <a:r>
              <a:rPr lang="zh-CN" altLang="zh-CN" b="1" dirty="0"/>
              <a:t>．西十区</a:t>
            </a:r>
            <a:r>
              <a:rPr lang="en-US" altLang="zh-CN" dirty="0"/>
              <a:t> C</a:t>
            </a:r>
            <a:r>
              <a:rPr lang="zh-CN" altLang="zh-CN" dirty="0"/>
              <a:t>．东十区</a:t>
            </a:r>
            <a:r>
              <a:rPr lang="en-US" altLang="zh-CN" dirty="0"/>
              <a:t> D</a:t>
            </a:r>
            <a:r>
              <a:rPr lang="zh-CN" altLang="zh-CN" dirty="0"/>
              <a:t>．东二区</a:t>
            </a:r>
          </a:p>
          <a:p>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587" y="2708920"/>
            <a:ext cx="7598835"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967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0"/>
            <a:ext cx="9144000" cy="6858000"/>
          </a:xfrm>
        </p:spPr>
        <p:txBody>
          <a:bodyPr>
            <a:normAutofit fontScale="62500" lnSpcReduction="20000"/>
          </a:bodyPr>
          <a:lstStyle/>
          <a:p>
            <a:pPr marL="0" indent="0">
              <a:buNone/>
            </a:pPr>
            <a:r>
              <a:rPr lang="zh-CN" altLang="zh-CN" b="1" dirty="0"/>
              <a:t>下图为我国北京、广州、武汉、哈尔滨四个城市的季节分配示意图。读图</a:t>
            </a:r>
            <a:r>
              <a:rPr lang="zh-CN" altLang="zh-CN" b="1" dirty="0" smtClean="0"/>
              <a:t>回答</a:t>
            </a:r>
            <a:r>
              <a:rPr lang="en-US" altLang="zh-CN" b="1" dirty="0" smtClean="0"/>
              <a:t>7</a:t>
            </a:r>
            <a:r>
              <a:rPr lang="zh-CN" altLang="zh-CN" b="1" dirty="0" smtClean="0"/>
              <a:t>～</a:t>
            </a:r>
            <a:r>
              <a:rPr lang="en-US" altLang="zh-CN" b="1" dirty="0" smtClean="0"/>
              <a:t>8</a:t>
            </a:r>
            <a:r>
              <a:rPr lang="zh-CN" altLang="zh-CN" b="1" dirty="0" smtClean="0"/>
              <a:t>题</a:t>
            </a:r>
            <a:r>
              <a:rPr lang="zh-CN" altLang="zh-CN" b="1" dirty="0"/>
              <a:t>。</a:t>
            </a:r>
            <a:endParaRPr lang="zh-CN" altLang="zh-CN" dirty="0"/>
          </a:p>
          <a:p>
            <a:pPr marL="0" indent="0">
              <a:buNone/>
            </a:pPr>
            <a:endParaRPr lang="en-US" altLang="zh-CN" b="1" dirty="0" smtClean="0"/>
          </a:p>
          <a:p>
            <a:pPr marL="0" indent="0">
              <a:buNone/>
            </a:pPr>
            <a:endParaRPr lang="en-US" altLang="zh-CN" b="1" dirty="0"/>
          </a:p>
          <a:p>
            <a:pPr marL="0" indent="0">
              <a:buNone/>
            </a:pPr>
            <a:endParaRPr lang="en-US" altLang="zh-CN" b="1" dirty="0" smtClean="0"/>
          </a:p>
          <a:p>
            <a:pPr marL="0" indent="0">
              <a:buNone/>
            </a:pPr>
            <a:endParaRPr lang="en-US" altLang="zh-CN" b="1" dirty="0"/>
          </a:p>
          <a:p>
            <a:pPr marL="0" indent="0">
              <a:buNone/>
            </a:pPr>
            <a:endParaRPr lang="en-US" altLang="zh-CN" b="1" dirty="0" smtClean="0"/>
          </a:p>
          <a:p>
            <a:pPr marL="0" indent="0">
              <a:buNone/>
            </a:pPr>
            <a:endParaRPr lang="en-US" altLang="zh-CN" b="1" dirty="0"/>
          </a:p>
          <a:p>
            <a:pPr marL="0" indent="0">
              <a:buNone/>
            </a:pPr>
            <a:endParaRPr lang="en-US" altLang="zh-CN" b="1" dirty="0" smtClean="0"/>
          </a:p>
          <a:p>
            <a:pPr marL="0" indent="0">
              <a:buNone/>
            </a:pPr>
            <a:endParaRPr lang="en-US" altLang="zh-CN" b="1" dirty="0" smtClean="0"/>
          </a:p>
          <a:p>
            <a:pPr marL="0" indent="0">
              <a:buNone/>
            </a:pPr>
            <a:endParaRPr lang="en-US" altLang="zh-CN" b="1" dirty="0"/>
          </a:p>
          <a:p>
            <a:pPr marL="0" indent="0">
              <a:buNone/>
            </a:pPr>
            <a:endParaRPr lang="en-US" altLang="zh-CN" b="1" dirty="0" smtClean="0"/>
          </a:p>
          <a:p>
            <a:pPr marL="0" indent="0">
              <a:buNone/>
            </a:pPr>
            <a:r>
              <a:rPr lang="en-US" altLang="zh-CN" b="1" dirty="0" smtClean="0"/>
              <a:t>7</a:t>
            </a:r>
            <a:r>
              <a:rPr lang="zh-CN" altLang="zh-CN" b="1" dirty="0" smtClean="0"/>
              <a:t>．</a:t>
            </a:r>
            <a:r>
              <a:rPr lang="zh-CN" altLang="zh-CN" b="1" dirty="0"/>
              <a:t>图示季节分配自上而下依次为</a:t>
            </a:r>
            <a:r>
              <a:rPr lang="en-US" altLang="zh-CN" b="1" dirty="0"/>
              <a:t> </a:t>
            </a:r>
            <a:r>
              <a:rPr lang="en-US" altLang="zh-CN" b="1" dirty="0" smtClean="0"/>
              <a:t>(</a:t>
            </a:r>
            <a:r>
              <a:rPr lang="zh-CN" altLang="zh-CN" b="1" dirty="0"/>
              <a:t>　　</a:t>
            </a:r>
            <a:r>
              <a:rPr lang="en-US" altLang="zh-CN" b="1" dirty="0"/>
              <a:t>)</a:t>
            </a:r>
            <a:endParaRPr lang="zh-CN" altLang="zh-CN" dirty="0"/>
          </a:p>
          <a:p>
            <a:pPr marL="0" indent="0">
              <a:buNone/>
            </a:pPr>
            <a:r>
              <a:rPr lang="en-US" altLang="zh-CN" b="1" dirty="0" smtClean="0"/>
              <a:t>    A</a:t>
            </a:r>
            <a:r>
              <a:rPr lang="zh-CN" altLang="zh-CN" b="1" dirty="0"/>
              <a:t>．北京、广州、武汉、哈尔滨</a:t>
            </a:r>
            <a:endParaRPr lang="zh-CN" altLang="zh-CN" dirty="0"/>
          </a:p>
          <a:p>
            <a:pPr marL="0" indent="0">
              <a:buNone/>
            </a:pPr>
            <a:r>
              <a:rPr lang="en-US" altLang="zh-CN" b="1" dirty="0" smtClean="0"/>
              <a:t>    B</a:t>
            </a:r>
            <a:r>
              <a:rPr lang="zh-CN" altLang="zh-CN" b="1" dirty="0"/>
              <a:t>．北京、武汉、哈尔滨、广州</a:t>
            </a:r>
            <a:endParaRPr lang="zh-CN" altLang="zh-CN" dirty="0"/>
          </a:p>
          <a:p>
            <a:pPr marL="0" indent="0">
              <a:buNone/>
            </a:pPr>
            <a:r>
              <a:rPr lang="en-US" altLang="zh-CN" b="1" dirty="0" smtClean="0"/>
              <a:t>    C</a:t>
            </a:r>
            <a:r>
              <a:rPr lang="zh-CN" altLang="zh-CN" b="1" dirty="0"/>
              <a:t>．广州、武汉、哈尔滨、北京</a:t>
            </a:r>
            <a:endParaRPr lang="zh-CN" altLang="zh-CN" dirty="0"/>
          </a:p>
          <a:p>
            <a:pPr marL="0" indent="0">
              <a:buNone/>
            </a:pPr>
            <a:r>
              <a:rPr lang="en-US" altLang="zh-CN" b="1" dirty="0" smtClean="0"/>
              <a:t>    D</a:t>
            </a:r>
            <a:r>
              <a:rPr lang="zh-CN" altLang="zh-CN" b="1" dirty="0"/>
              <a:t>．广州、北京、哈尔滨、武汉</a:t>
            </a:r>
            <a:endParaRPr lang="zh-CN" altLang="zh-CN" dirty="0"/>
          </a:p>
          <a:p>
            <a:pPr marL="0" indent="0">
              <a:buNone/>
            </a:pPr>
            <a:r>
              <a:rPr lang="en-US" altLang="zh-CN" b="1" dirty="0"/>
              <a:t>8</a:t>
            </a:r>
            <a:r>
              <a:rPr lang="zh-CN" altLang="zh-CN" b="1" dirty="0" smtClean="0"/>
              <a:t>．</a:t>
            </a:r>
            <a:r>
              <a:rPr lang="zh-CN" altLang="zh-CN" b="1" dirty="0"/>
              <a:t>关于季节更替的叙述错误的</a:t>
            </a:r>
            <a:r>
              <a:rPr lang="zh-CN" altLang="zh-CN" b="1" dirty="0" smtClean="0"/>
              <a:t>是</a:t>
            </a:r>
            <a:r>
              <a:rPr lang="zh-CN" altLang="zh-CN" b="1" dirty="0"/>
              <a:t>　　</a:t>
            </a:r>
            <a:r>
              <a:rPr lang="en-US" altLang="zh-CN" b="1" dirty="0"/>
              <a:t>)</a:t>
            </a:r>
            <a:endParaRPr lang="zh-CN" altLang="zh-CN" dirty="0"/>
          </a:p>
          <a:p>
            <a:pPr marL="0" indent="0">
              <a:buNone/>
            </a:pPr>
            <a:r>
              <a:rPr lang="en-US" altLang="zh-CN" b="1" dirty="0" smtClean="0"/>
              <a:t>    A</a:t>
            </a:r>
            <a:r>
              <a:rPr lang="zh-CN" altLang="zh-CN" b="1" dirty="0"/>
              <a:t>．低纬度地区季节更替不明显</a:t>
            </a:r>
            <a:endParaRPr lang="zh-CN" altLang="zh-CN" dirty="0"/>
          </a:p>
          <a:p>
            <a:pPr marL="0" indent="0">
              <a:buNone/>
            </a:pPr>
            <a:r>
              <a:rPr lang="en-US" altLang="zh-CN" b="1" dirty="0" smtClean="0"/>
              <a:t>    B</a:t>
            </a:r>
            <a:r>
              <a:rPr lang="zh-CN" altLang="zh-CN" b="1" dirty="0"/>
              <a:t>．中纬度地区季节更替明显</a:t>
            </a:r>
            <a:endParaRPr lang="zh-CN" altLang="zh-CN" dirty="0"/>
          </a:p>
          <a:p>
            <a:pPr marL="0" indent="0">
              <a:buNone/>
            </a:pPr>
            <a:r>
              <a:rPr lang="en-US" altLang="zh-CN" b="1" dirty="0" smtClean="0"/>
              <a:t>    C</a:t>
            </a:r>
            <a:r>
              <a:rPr lang="zh-CN" altLang="zh-CN" b="1" dirty="0"/>
              <a:t>．高纬度地区季节更替明显</a:t>
            </a:r>
            <a:endParaRPr lang="zh-CN" altLang="zh-CN" dirty="0"/>
          </a:p>
          <a:p>
            <a:pPr marL="0" indent="0">
              <a:buNone/>
            </a:pPr>
            <a:r>
              <a:rPr lang="en-US" altLang="zh-CN" b="1" dirty="0" smtClean="0"/>
              <a:t>    D</a:t>
            </a:r>
            <a:r>
              <a:rPr lang="zh-CN" altLang="zh-CN" b="1" dirty="0"/>
              <a:t>．季节更替取决于昼夜长短和正午太阳高度的季节变化</a:t>
            </a:r>
            <a:endParaRPr lang="zh-CN" altLang="zh-CN" dirty="0"/>
          </a:p>
          <a:p>
            <a:endParaRPr lang="zh-CN" altLang="en-US" dirty="0"/>
          </a:p>
        </p:txBody>
      </p:sp>
      <p:pic>
        <p:nvPicPr>
          <p:cNvPr id="5122" name="Picture 2" descr="E:\忘记你\课件\2012年高三一轮\大样\新课标\三维\人教地理\1-72.T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2915816" y="332656"/>
            <a:ext cx="4152461" cy="30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03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fld id="{6C0CE0BD-D106-4A35-8458-2D7B6B7F6CC4}" type="slidenum">
              <a:rPr lang="zh-CN" altLang="en-US"/>
              <a:pPr/>
              <a:t>7</a:t>
            </a:fld>
            <a:endParaRPr lang="en-US" altLang="zh-CN"/>
          </a:p>
        </p:txBody>
      </p:sp>
      <p:sp>
        <p:nvSpPr>
          <p:cNvPr id="346123" name="Text Box 11"/>
          <p:cNvSpPr txBox="1">
            <a:spLocks noChangeArrowheads="1"/>
          </p:cNvSpPr>
          <p:nvPr/>
        </p:nvSpPr>
        <p:spPr bwMode="auto">
          <a:xfrm>
            <a:off x="0" y="0"/>
            <a:ext cx="8915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800" i="0" dirty="0" smtClean="0"/>
              <a:t>9.</a:t>
            </a:r>
            <a:r>
              <a:rPr lang="zh-CN" altLang="en-US" sz="2800" i="0" dirty="0" smtClean="0"/>
              <a:t>阅读</a:t>
            </a:r>
            <a:r>
              <a:rPr lang="zh-CN" altLang="en-US" sz="2800" i="0" dirty="0"/>
              <a:t>材料，完成下列问题</a:t>
            </a:r>
            <a:r>
              <a:rPr lang="zh-CN" altLang="en-US" sz="2800" i="0" dirty="0" smtClean="0"/>
              <a:t>。</a:t>
            </a:r>
            <a:endParaRPr lang="en-US" altLang="zh-CN" sz="2800" dirty="0"/>
          </a:p>
          <a:p>
            <a:pPr algn="l"/>
            <a:r>
              <a:rPr lang="zh-CN" altLang="en-US" sz="2800" i="0" dirty="0" smtClean="0"/>
              <a:t>材料</a:t>
            </a:r>
            <a:r>
              <a:rPr lang="zh-CN" altLang="en-US" sz="2800" i="0" dirty="0"/>
              <a:t>一：图</a:t>
            </a:r>
            <a:r>
              <a:rPr lang="en-US" altLang="zh-CN" sz="2800" i="0" dirty="0"/>
              <a:t>1</a:t>
            </a:r>
            <a:r>
              <a:rPr lang="zh-CN" altLang="en-US" sz="2800" i="0" dirty="0"/>
              <a:t>为非洲某区域略图。</a:t>
            </a:r>
          </a:p>
          <a:p>
            <a:pPr algn="l"/>
            <a:r>
              <a:rPr lang="en-US" altLang="zh-CN" sz="2800" i="0" dirty="0"/>
              <a:t>(3)</a:t>
            </a:r>
            <a:r>
              <a:rPr lang="zh-CN" altLang="en-US" sz="2800" i="0" dirty="0"/>
              <a:t>当乞力马扎罗山迎来一年内日出最早的那天，请计算③地</a:t>
            </a:r>
            <a:r>
              <a:rPr lang="en-US" altLang="zh-CN" sz="2800" i="0" dirty="0"/>
              <a:t>(12</a:t>
            </a:r>
            <a:r>
              <a:rPr lang="en-US" altLang="zh-CN" sz="2800" i="0" baseline="30000" dirty="0"/>
              <a:t>0</a:t>
            </a:r>
            <a:r>
              <a:rPr lang="en-US" altLang="zh-CN" sz="2800" i="0" dirty="0"/>
              <a:t>N)</a:t>
            </a:r>
            <a:r>
              <a:rPr lang="zh-CN" altLang="en-US" sz="2800" i="0" dirty="0"/>
              <a:t>的正午太阳高度角，并比较该日①、②两地日落时的地方时差异。</a:t>
            </a:r>
            <a:r>
              <a:rPr lang="en-US" altLang="zh-CN" sz="2800" i="0" dirty="0"/>
              <a:t>(4</a:t>
            </a:r>
            <a:r>
              <a:rPr lang="zh-CN" altLang="en-US" sz="2800" i="0" dirty="0"/>
              <a:t>分</a:t>
            </a:r>
            <a:r>
              <a:rPr lang="en-US" altLang="zh-CN" sz="2800" i="0" dirty="0"/>
              <a:t>)</a:t>
            </a:r>
            <a:endParaRPr lang="zh-CN" altLang="en-US" sz="2800" i="0" dirty="0"/>
          </a:p>
        </p:txBody>
      </p:sp>
      <p:pic>
        <p:nvPicPr>
          <p:cNvPr id="346124" name="Picture 12" descr="14"/>
          <p:cNvPicPr>
            <a:picLocks noChangeAspect="1" noChangeArrowheads="1"/>
          </p:cNvPicPr>
          <p:nvPr/>
        </p:nvPicPr>
        <p:blipFill rotWithShape="1">
          <a:blip r:embed="rId2">
            <a:extLst>
              <a:ext uri="{28A0092B-C50C-407E-A947-70E740481C1C}">
                <a14:useLocalDpi xmlns:a14="http://schemas.microsoft.com/office/drawing/2010/main" val="0"/>
              </a:ext>
            </a:extLst>
          </a:blip>
          <a:srcRect b="8201"/>
          <a:stretch/>
        </p:blipFill>
        <p:spPr bwMode="auto">
          <a:xfrm>
            <a:off x="827584" y="2561839"/>
            <a:ext cx="7469479" cy="4281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32461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C948345B-F861-4E4D-A26A-BE581D8822CD}" type="slidenum">
              <a:rPr lang="zh-CN" altLang="en-US"/>
              <a:pPr/>
              <a:t>8</a:t>
            </a:fld>
            <a:endParaRPr lang="en-US" altLang="zh-CN"/>
          </a:p>
        </p:txBody>
      </p:sp>
      <p:sp>
        <p:nvSpPr>
          <p:cNvPr id="364548" name="Text Box 4"/>
          <p:cNvSpPr txBox="1">
            <a:spLocks noChangeArrowheads="1"/>
          </p:cNvSpPr>
          <p:nvPr/>
        </p:nvSpPr>
        <p:spPr bwMode="auto">
          <a:xfrm>
            <a:off x="0" y="0"/>
            <a:ext cx="91440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zh-CN" sz="2000" i="0" dirty="0" smtClean="0">
                <a:latin typeface="+mn-ea"/>
              </a:rPr>
              <a:t>10.</a:t>
            </a:r>
            <a:r>
              <a:rPr lang="zh-CN" altLang="en-US" sz="2000" i="0" dirty="0" smtClean="0">
                <a:latin typeface="+mn-ea"/>
              </a:rPr>
              <a:t>阅读</a:t>
            </a:r>
            <a:r>
              <a:rPr lang="zh-CN" altLang="en-US" sz="2000" i="0" dirty="0">
                <a:latin typeface="+mn-ea"/>
              </a:rPr>
              <a:t>材料，完成下列问题。</a:t>
            </a:r>
            <a:r>
              <a:rPr lang="en-US" altLang="zh-CN" sz="2000" i="0" dirty="0">
                <a:latin typeface="+mn-ea"/>
              </a:rPr>
              <a:t>(15</a:t>
            </a:r>
            <a:r>
              <a:rPr lang="zh-CN" altLang="en-US" sz="2000" i="0" dirty="0">
                <a:latin typeface="+mn-ea"/>
              </a:rPr>
              <a:t>分</a:t>
            </a:r>
            <a:r>
              <a:rPr lang="en-US" altLang="zh-CN" sz="2000" i="0" dirty="0">
                <a:latin typeface="+mn-ea"/>
              </a:rPr>
              <a:t>)</a:t>
            </a:r>
          </a:p>
          <a:p>
            <a:r>
              <a:rPr lang="zh-CN" altLang="en-US" sz="2000" i="0" dirty="0">
                <a:latin typeface="+mn-ea"/>
              </a:rPr>
              <a:t>材料</a:t>
            </a:r>
            <a:r>
              <a:rPr lang="zh-CN" altLang="en-US" sz="2000" i="0" dirty="0" smtClean="0">
                <a:latin typeface="+mn-ea"/>
              </a:rPr>
              <a:t>一：   图</a:t>
            </a:r>
            <a:r>
              <a:rPr lang="en-US" altLang="zh-CN" sz="2000" i="0" dirty="0">
                <a:latin typeface="+mn-ea"/>
              </a:rPr>
              <a:t>1</a:t>
            </a:r>
            <a:r>
              <a:rPr lang="zh-CN" altLang="en-US" sz="2000" i="0" dirty="0">
                <a:latin typeface="+mn-ea"/>
              </a:rPr>
              <a:t>为美国西部略图。图中</a:t>
            </a:r>
            <a:r>
              <a:rPr lang="en-US" altLang="zh-CN" sz="2000" i="0" dirty="0">
                <a:latin typeface="+mn-ea"/>
              </a:rPr>
              <a:t>85</a:t>
            </a:r>
            <a:r>
              <a:rPr lang="zh-CN" altLang="en-US" sz="2000" i="0" dirty="0">
                <a:latin typeface="+mn-ea"/>
              </a:rPr>
              <a:t>号州际公路沿线是美国重要的制造业带，分布众多的纺织工业基地，</a:t>
            </a:r>
            <a:r>
              <a:rPr lang="zh-CN" altLang="en-US" sz="2000" dirty="0">
                <a:latin typeface="+mn-ea"/>
              </a:rPr>
              <a:t>但近年来纺织工业发展缓慢，棉花大量出口到其他国家。</a:t>
            </a:r>
            <a:r>
              <a:rPr lang="zh-CN" altLang="en-US" sz="2000" u="sng" dirty="0">
                <a:latin typeface="+mn-ea"/>
              </a:rPr>
              <a:t>图</a:t>
            </a:r>
            <a:r>
              <a:rPr lang="en-US" altLang="zh-CN" sz="2000" u="sng" dirty="0">
                <a:latin typeface="+mn-ea"/>
              </a:rPr>
              <a:t>2</a:t>
            </a:r>
            <a:r>
              <a:rPr lang="zh-CN" altLang="en-US" sz="2000" u="sng" dirty="0">
                <a:latin typeface="+mn-ea"/>
              </a:rPr>
              <a:t>为</a:t>
            </a:r>
            <a:r>
              <a:rPr lang="en-US" altLang="zh-CN" sz="2000" u="sng" dirty="0">
                <a:latin typeface="+mn-ea"/>
              </a:rPr>
              <a:t>85</a:t>
            </a:r>
            <a:r>
              <a:rPr lang="zh-CN" altLang="en-US" sz="2000" u="sng" dirty="0">
                <a:latin typeface="+mn-ea"/>
              </a:rPr>
              <a:t>号州际公路在洛杉矶市的一块标志碑</a:t>
            </a:r>
            <a:r>
              <a:rPr lang="en-US" altLang="zh-CN" sz="2000" u="sng" dirty="0">
                <a:latin typeface="+mn-ea"/>
              </a:rPr>
              <a:t>(</a:t>
            </a:r>
            <a:r>
              <a:rPr lang="zh-CN" altLang="en-US" sz="2000" u="sng" dirty="0">
                <a:latin typeface="+mn-ea"/>
              </a:rPr>
              <a:t>南北朝向</a:t>
            </a:r>
            <a:r>
              <a:rPr lang="en-US" altLang="zh-CN" sz="2000" u="sng" dirty="0">
                <a:latin typeface="+mn-ea"/>
              </a:rPr>
              <a:t>)</a:t>
            </a:r>
            <a:r>
              <a:rPr lang="zh-CN" altLang="en-US" sz="2000" dirty="0">
                <a:latin typeface="+mn-ea"/>
              </a:rPr>
              <a:t>。</a:t>
            </a:r>
            <a:endParaRPr lang="en-US" altLang="zh-CN" sz="2000" dirty="0">
              <a:latin typeface="+mn-ea"/>
            </a:endParaRPr>
          </a:p>
          <a:p>
            <a:r>
              <a:rPr lang="en-US" altLang="zh-CN" sz="2000" dirty="0">
                <a:latin typeface="+mn-ea"/>
              </a:rPr>
              <a:t>(3)6</a:t>
            </a:r>
            <a:r>
              <a:rPr lang="zh-CN" altLang="en-US" sz="2000" dirty="0">
                <a:latin typeface="+mn-ea"/>
              </a:rPr>
              <a:t>月</a:t>
            </a:r>
            <a:r>
              <a:rPr lang="en-US" altLang="zh-CN" sz="2000" dirty="0">
                <a:latin typeface="+mn-ea"/>
              </a:rPr>
              <a:t>22</a:t>
            </a:r>
            <a:r>
              <a:rPr lang="zh-CN" altLang="en-US" sz="2000" dirty="0">
                <a:latin typeface="+mn-ea"/>
              </a:rPr>
              <a:t>日，某观测者测得图</a:t>
            </a:r>
            <a:r>
              <a:rPr lang="en-US" altLang="zh-CN" sz="2000" dirty="0">
                <a:latin typeface="+mn-ea"/>
              </a:rPr>
              <a:t>2</a:t>
            </a:r>
            <a:r>
              <a:rPr lang="zh-CN" altLang="en-US" sz="2000" dirty="0">
                <a:latin typeface="+mn-ea"/>
              </a:rPr>
              <a:t>中标志碑影子的最小面积是</a:t>
            </a:r>
            <a:r>
              <a:rPr lang="en-US" altLang="zh-CN" sz="2000" dirty="0">
                <a:latin typeface="+mn-ea"/>
              </a:rPr>
              <a:t>0</a:t>
            </a:r>
            <a:r>
              <a:rPr lang="zh-CN" altLang="en-US" sz="2000" dirty="0">
                <a:latin typeface="+mn-ea"/>
              </a:rPr>
              <a:t>．</a:t>
            </a:r>
            <a:r>
              <a:rPr lang="en-US" altLang="zh-CN" sz="2000" dirty="0">
                <a:latin typeface="+mn-ea"/>
              </a:rPr>
              <a:t>3</a:t>
            </a:r>
            <a:r>
              <a:rPr lang="zh-CN" altLang="en-US" sz="2000" dirty="0">
                <a:latin typeface="+mn-ea"/>
              </a:rPr>
              <a:t>平方米；另于该日某时</a:t>
            </a:r>
            <a:r>
              <a:rPr lang="en-US" altLang="zh-CN" sz="2000" dirty="0">
                <a:latin typeface="+mn-ea"/>
              </a:rPr>
              <a:t>(</a:t>
            </a:r>
            <a:r>
              <a:rPr lang="zh-CN" altLang="en-US" sz="2000" dirty="0">
                <a:latin typeface="+mn-ea"/>
              </a:rPr>
              <a:t>北京时间</a:t>
            </a:r>
            <a:r>
              <a:rPr lang="en-US" altLang="zh-CN" sz="2000" dirty="0">
                <a:latin typeface="+mn-ea"/>
              </a:rPr>
              <a:t>10</a:t>
            </a:r>
            <a:r>
              <a:rPr lang="zh-CN" altLang="en-US" sz="2000" dirty="0">
                <a:latin typeface="+mn-ea"/>
              </a:rPr>
              <a:t>：</a:t>
            </a:r>
            <a:r>
              <a:rPr lang="en-US" altLang="zh-CN" sz="2000" dirty="0">
                <a:latin typeface="+mn-ea"/>
              </a:rPr>
              <a:t>30)</a:t>
            </a:r>
            <a:r>
              <a:rPr lang="zh-CN" altLang="en-US" sz="2000" dirty="0">
                <a:latin typeface="+mn-ea"/>
              </a:rPr>
              <a:t>观测到该碑影子朝向东南。判断上述两种观测结果是否正确，并分别说明理由。</a:t>
            </a:r>
            <a:r>
              <a:rPr lang="en-US" altLang="zh-CN" sz="2000" dirty="0">
                <a:latin typeface="+mn-ea"/>
              </a:rPr>
              <a:t>(4</a:t>
            </a:r>
            <a:r>
              <a:rPr lang="zh-CN" altLang="en-US" sz="2000" dirty="0">
                <a:latin typeface="+mn-ea"/>
              </a:rPr>
              <a:t>分</a:t>
            </a:r>
            <a:r>
              <a:rPr lang="en-US" altLang="zh-CN" sz="2000" dirty="0" smtClean="0">
                <a:latin typeface="+mn-ea"/>
              </a:rPr>
              <a:t>)</a:t>
            </a:r>
            <a:endParaRPr lang="en-US" altLang="zh-CN" sz="2000" i="0" dirty="0">
              <a:latin typeface="+mn-ea"/>
            </a:endParaRPr>
          </a:p>
        </p:txBody>
      </p:sp>
      <p:pic>
        <p:nvPicPr>
          <p:cNvPr id="364557" name="Picture 13" descr="无标题"/>
          <p:cNvPicPr>
            <a:picLocks noChangeAspect="1" noChangeArrowheads="1"/>
          </p:cNvPicPr>
          <p:nvPr/>
        </p:nvPicPr>
        <p:blipFill rotWithShape="1">
          <a:blip r:embed="rId2">
            <a:extLst>
              <a:ext uri="{28A0092B-C50C-407E-A947-70E740481C1C}">
                <a14:useLocalDpi xmlns:a14="http://schemas.microsoft.com/office/drawing/2010/main" val="0"/>
              </a:ext>
            </a:extLst>
          </a:blip>
          <a:srcRect l="1340" t="-1" r="1845" b="61240"/>
          <a:stretch/>
        </p:blipFill>
        <p:spPr bwMode="auto">
          <a:xfrm>
            <a:off x="958347" y="2564904"/>
            <a:ext cx="7839262" cy="3762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83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3"/>
          <p:cNvSpPr>
            <a:spLocks noGrp="1"/>
          </p:cNvSpPr>
          <p:nvPr>
            <p:ph type="sldNum" sz="quarter" idx="12"/>
          </p:nvPr>
        </p:nvSpPr>
        <p:spPr/>
        <p:txBody>
          <a:bodyPr/>
          <a:lstStyle/>
          <a:p>
            <a:fld id="{FDD1CA3E-4E2C-425E-9C4A-5072AF882EE0}" type="slidenum">
              <a:rPr lang="zh-CN" altLang="en-US"/>
              <a:pPr/>
              <a:t>9</a:t>
            </a:fld>
            <a:endParaRPr lang="en-US" altLang="zh-CN"/>
          </a:p>
        </p:txBody>
      </p:sp>
      <p:sp>
        <p:nvSpPr>
          <p:cNvPr id="367620" name="Text Box 4"/>
          <p:cNvSpPr txBox="1">
            <a:spLocks noChangeArrowheads="1"/>
          </p:cNvSpPr>
          <p:nvPr/>
        </p:nvSpPr>
        <p:spPr bwMode="auto">
          <a:xfrm>
            <a:off x="0" y="7257"/>
            <a:ext cx="8610600"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charset="-122"/>
              </a:defRPr>
            </a:lvl1pPr>
            <a:lvl2pPr marL="800100" indent="-342900" algn="l">
              <a:defRPr>
                <a:solidFill>
                  <a:schemeClr val="tx1"/>
                </a:solidFill>
                <a:latin typeface="Arial" charset="0"/>
                <a:ea typeface="宋体" charset="-122"/>
              </a:defRPr>
            </a:lvl2pPr>
            <a:lvl3pPr marL="1257300" indent="-342900" algn="l">
              <a:defRPr>
                <a:solidFill>
                  <a:schemeClr val="tx1"/>
                </a:solidFill>
                <a:latin typeface="Arial" charset="0"/>
                <a:ea typeface="宋体" charset="-122"/>
              </a:defRPr>
            </a:lvl3pPr>
            <a:lvl4pPr marL="1714500" indent="-342900" algn="l">
              <a:defRPr>
                <a:solidFill>
                  <a:schemeClr val="tx1"/>
                </a:solidFill>
                <a:latin typeface="Arial" charset="0"/>
                <a:ea typeface="宋体" charset="-122"/>
              </a:defRPr>
            </a:lvl4pPr>
            <a:lvl5pPr marL="2171700" indent="-342900" algn="l">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r>
              <a:rPr lang="en-US" altLang="zh-CN" sz="2800" i="0" dirty="0" smtClean="0">
                <a:latin typeface="+mn-ea"/>
                <a:ea typeface="+mn-ea"/>
              </a:rPr>
              <a:t>11.</a:t>
            </a:r>
            <a:r>
              <a:rPr lang="zh-CN" altLang="en-US" sz="2800" i="0" dirty="0" smtClean="0">
                <a:latin typeface="+mn-ea"/>
                <a:ea typeface="+mn-ea"/>
              </a:rPr>
              <a:t>材料</a:t>
            </a:r>
            <a:r>
              <a:rPr lang="zh-CN" altLang="en-US" sz="2800" i="0" dirty="0">
                <a:latin typeface="+mn-ea"/>
                <a:ea typeface="+mn-ea"/>
              </a:rPr>
              <a:t>一：图</a:t>
            </a:r>
            <a:r>
              <a:rPr lang="en-US" altLang="zh-CN" sz="2800" i="0" dirty="0">
                <a:latin typeface="+mn-ea"/>
                <a:ea typeface="+mn-ea"/>
              </a:rPr>
              <a:t>1</a:t>
            </a:r>
            <a:r>
              <a:rPr lang="zh-CN" altLang="en-US" sz="2800" i="0" dirty="0">
                <a:latin typeface="+mn-ea"/>
                <a:ea typeface="+mn-ea"/>
              </a:rPr>
              <a:t>为赤峰市及附近区域略图</a:t>
            </a:r>
            <a:r>
              <a:rPr lang="zh-CN" altLang="en-US" sz="2800" i="0" dirty="0" smtClean="0">
                <a:latin typeface="+mn-ea"/>
                <a:ea typeface="+mn-ea"/>
              </a:rPr>
              <a:t>。</a:t>
            </a:r>
            <a:endParaRPr lang="en-US" altLang="zh-CN" sz="2800" i="0" dirty="0" smtClean="0">
              <a:latin typeface="+mn-ea"/>
              <a:ea typeface="+mn-ea"/>
            </a:endParaRPr>
          </a:p>
          <a:p>
            <a:r>
              <a:rPr lang="zh-CN" altLang="en-US" sz="2800" dirty="0">
                <a:latin typeface="+mn-ea"/>
                <a:ea typeface="+mn-ea"/>
              </a:rPr>
              <a:t>材料三：某地理兴趣小组在图</a:t>
            </a:r>
            <a:r>
              <a:rPr lang="en-US" altLang="zh-CN" sz="2800" dirty="0">
                <a:latin typeface="+mn-ea"/>
                <a:ea typeface="+mn-ea"/>
              </a:rPr>
              <a:t>1</a:t>
            </a:r>
            <a:r>
              <a:rPr lang="zh-CN" altLang="en-US" sz="2800" dirty="0">
                <a:latin typeface="+mn-ea"/>
                <a:ea typeface="+mn-ea"/>
              </a:rPr>
              <a:t>中</a:t>
            </a:r>
            <a:r>
              <a:rPr lang="zh-CN" altLang="en-US" sz="2800" u="sng" dirty="0">
                <a:latin typeface="+mn-ea"/>
                <a:ea typeface="+mn-ea"/>
              </a:rPr>
              <a:t>某地</a:t>
            </a:r>
            <a:r>
              <a:rPr lang="zh-CN" altLang="en-US" sz="2800" dirty="0">
                <a:latin typeface="+mn-ea"/>
                <a:ea typeface="+mn-ea"/>
              </a:rPr>
              <a:t>进行天文观测。图</a:t>
            </a:r>
            <a:r>
              <a:rPr lang="en-US" altLang="zh-CN" sz="2800" dirty="0">
                <a:latin typeface="+mn-ea"/>
                <a:ea typeface="+mn-ea"/>
              </a:rPr>
              <a:t>2</a:t>
            </a:r>
            <a:r>
              <a:rPr lang="zh-CN" altLang="en-US" sz="2800" dirty="0">
                <a:latin typeface="+mn-ea"/>
                <a:ea typeface="+mn-ea"/>
              </a:rPr>
              <a:t>为地轴与北极星关系示意图。图</a:t>
            </a:r>
            <a:r>
              <a:rPr lang="en-US" altLang="zh-CN" sz="2800" dirty="0">
                <a:latin typeface="+mn-ea"/>
                <a:ea typeface="+mn-ea"/>
              </a:rPr>
              <a:t>3</a:t>
            </a:r>
            <a:r>
              <a:rPr lang="zh-CN" altLang="en-US" sz="2800" dirty="0">
                <a:latin typeface="+mn-ea"/>
                <a:ea typeface="+mn-ea"/>
              </a:rPr>
              <a:t>为该地测得的北极星高度。在北京时间</a:t>
            </a:r>
            <a:r>
              <a:rPr lang="en-US" altLang="zh-CN" sz="2800" dirty="0">
                <a:latin typeface="+mn-ea"/>
                <a:ea typeface="+mn-ea"/>
              </a:rPr>
              <a:t>12</a:t>
            </a:r>
            <a:r>
              <a:rPr lang="zh-CN" altLang="en-US" sz="2800" dirty="0">
                <a:latin typeface="+mn-ea"/>
                <a:ea typeface="+mn-ea"/>
              </a:rPr>
              <a:t>时</a:t>
            </a:r>
            <a:r>
              <a:rPr lang="en-US" altLang="zh-CN" sz="2800" dirty="0">
                <a:latin typeface="+mn-ea"/>
                <a:ea typeface="+mn-ea"/>
              </a:rPr>
              <a:t>16</a:t>
            </a:r>
            <a:r>
              <a:rPr lang="zh-CN" altLang="en-US" sz="2800" dirty="0">
                <a:latin typeface="+mn-ea"/>
                <a:ea typeface="+mn-ea"/>
              </a:rPr>
              <a:t>分测得当地正午太阳高度。</a:t>
            </a:r>
          </a:p>
          <a:p>
            <a:r>
              <a:rPr lang="zh-CN" altLang="en-US" sz="2800" dirty="0">
                <a:latin typeface="+mn-ea"/>
                <a:ea typeface="+mn-ea"/>
              </a:rPr>
              <a:t>（</a:t>
            </a:r>
            <a:r>
              <a:rPr lang="en-US" altLang="zh-CN" sz="2800" dirty="0">
                <a:latin typeface="+mn-ea"/>
                <a:ea typeface="+mn-ea"/>
              </a:rPr>
              <a:t>4</a:t>
            </a:r>
            <a:r>
              <a:rPr lang="zh-CN" altLang="en-US" sz="2800" dirty="0">
                <a:latin typeface="+mn-ea"/>
                <a:ea typeface="+mn-ea"/>
              </a:rPr>
              <a:t>）根据图</a:t>
            </a:r>
            <a:r>
              <a:rPr lang="en-US" altLang="zh-CN" sz="2800" dirty="0">
                <a:latin typeface="+mn-ea"/>
                <a:ea typeface="+mn-ea"/>
              </a:rPr>
              <a:t>3</a:t>
            </a:r>
            <a:r>
              <a:rPr lang="zh-CN" altLang="en-US" sz="2800" dirty="0">
                <a:latin typeface="+mn-ea"/>
                <a:ea typeface="+mn-ea"/>
              </a:rPr>
              <a:t>用实线绘出观测春分日的正午太阳高度，说出观测地相对于赤峰市的方位。（</a:t>
            </a:r>
            <a:r>
              <a:rPr lang="en-US" altLang="zh-CN" sz="2800" dirty="0">
                <a:latin typeface="+mn-ea"/>
                <a:ea typeface="+mn-ea"/>
              </a:rPr>
              <a:t>3</a:t>
            </a:r>
            <a:r>
              <a:rPr lang="zh-CN" altLang="en-US" sz="2800" dirty="0">
                <a:latin typeface="+mn-ea"/>
                <a:ea typeface="+mn-ea"/>
              </a:rPr>
              <a:t>分）</a:t>
            </a:r>
          </a:p>
          <a:p>
            <a:endParaRPr lang="zh-CN" altLang="en-US" i="0" dirty="0">
              <a:ea typeface="黑体" pitchFamily="49" charset="-122"/>
            </a:endParaRPr>
          </a:p>
        </p:txBody>
      </p:sp>
      <p:grpSp>
        <p:nvGrpSpPr>
          <p:cNvPr id="2" name="组合 1"/>
          <p:cNvGrpSpPr/>
          <p:nvPr/>
        </p:nvGrpSpPr>
        <p:grpSpPr>
          <a:xfrm>
            <a:off x="-252536" y="3326884"/>
            <a:ext cx="9144000" cy="3404632"/>
            <a:chOff x="0" y="1981200"/>
            <a:chExt cx="9144000" cy="3404632"/>
          </a:xfrm>
        </p:grpSpPr>
        <p:pic>
          <p:nvPicPr>
            <p:cNvPr id="367626"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9000" y="2286000"/>
              <a:ext cx="2360613" cy="2693988"/>
            </a:xfrm>
            <a:prstGeom prst="rect">
              <a:avLst/>
            </a:prstGeom>
            <a:noFill/>
            <a:extLst>
              <a:ext uri="{909E8E84-426E-40DD-AFC4-6F175D3DCCD1}">
                <a14:hiddenFill xmlns:a14="http://schemas.microsoft.com/office/drawing/2010/main">
                  <a:solidFill>
                    <a:srgbClr val="FFFFFF"/>
                  </a:solidFill>
                </a14:hiddenFill>
              </a:ext>
            </a:extLst>
          </p:spPr>
        </p:pic>
        <p:pic>
          <p:nvPicPr>
            <p:cNvPr id="36762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5588" y="3124200"/>
              <a:ext cx="3808412" cy="1751013"/>
            </a:xfrm>
            <a:prstGeom prst="rect">
              <a:avLst/>
            </a:prstGeom>
            <a:noFill/>
            <a:extLst>
              <a:ext uri="{909E8E84-426E-40DD-AFC4-6F175D3DCCD1}">
                <a14:hiddenFill xmlns:a14="http://schemas.microsoft.com/office/drawing/2010/main">
                  <a:solidFill>
                    <a:srgbClr val="FFFFFF"/>
                  </a:solidFill>
                </a14:hiddenFill>
              </a:ext>
            </a:extLst>
          </p:spPr>
        </p:pic>
        <p:sp>
          <p:nvSpPr>
            <p:cNvPr id="367629" name="Text Box 13"/>
            <p:cNvSpPr txBox="1">
              <a:spLocks noChangeArrowheads="1"/>
            </p:cNvSpPr>
            <p:nvPr/>
          </p:nvSpPr>
          <p:spPr bwMode="auto">
            <a:xfrm>
              <a:off x="0" y="501650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lang="zh-CN" altLang="en-US" i="0" dirty="0"/>
            </a:p>
          </p:txBody>
        </p:sp>
        <p:pic>
          <p:nvPicPr>
            <p:cNvPr id="367630"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 y="1981200"/>
              <a:ext cx="2070100" cy="2949575"/>
            </a:xfrm>
            <a:prstGeom prst="rect">
              <a:avLst/>
            </a:prstGeom>
            <a:noFill/>
            <a:extLst>
              <a:ext uri="{909E8E84-426E-40DD-AFC4-6F175D3DCCD1}">
                <a14:hiddenFill xmlns:a14="http://schemas.microsoft.com/office/drawing/2010/main">
                  <a:solidFill>
                    <a:srgbClr val="FFFFFF"/>
                  </a:solidFill>
                </a14:hiddenFill>
              </a:ext>
            </a:extLst>
          </p:spPr>
        </p:pic>
        <p:sp>
          <p:nvSpPr>
            <p:cNvPr id="367631" name="Text Box 15"/>
            <p:cNvSpPr txBox="1">
              <a:spLocks noChangeArrowheads="1"/>
            </p:cNvSpPr>
            <p:nvPr/>
          </p:nvSpPr>
          <p:spPr bwMode="auto">
            <a:xfrm>
              <a:off x="2667000" y="22860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i="0"/>
                <a:t>图</a:t>
              </a:r>
              <a:r>
                <a:rPr lang="en-US" altLang="zh-CN" i="0"/>
                <a:t>1</a:t>
              </a:r>
            </a:p>
          </p:txBody>
        </p:sp>
        <p:sp>
          <p:nvSpPr>
            <p:cNvPr id="367632" name="Text Box 16"/>
            <p:cNvSpPr txBox="1">
              <a:spLocks noChangeArrowheads="1"/>
            </p:cNvSpPr>
            <p:nvPr/>
          </p:nvSpPr>
          <p:spPr bwMode="auto">
            <a:xfrm>
              <a:off x="4343400" y="4495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i="0"/>
                <a:t>图</a:t>
              </a:r>
              <a:r>
                <a:rPr lang="en-US" altLang="zh-CN" i="0"/>
                <a:t>2</a:t>
              </a:r>
            </a:p>
          </p:txBody>
        </p:sp>
        <p:sp>
          <p:nvSpPr>
            <p:cNvPr id="367633" name="Text Box 17"/>
            <p:cNvSpPr txBox="1">
              <a:spLocks noChangeArrowheads="1"/>
            </p:cNvSpPr>
            <p:nvPr/>
          </p:nvSpPr>
          <p:spPr bwMode="auto">
            <a:xfrm>
              <a:off x="6934200" y="23622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i="0"/>
                <a:t>图</a:t>
              </a:r>
              <a:r>
                <a:rPr lang="en-US" altLang="zh-CN" i="0"/>
                <a:t>3</a:t>
              </a:r>
            </a:p>
          </p:txBody>
        </p:sp>
        <p:sp>
          <p:nvSpPr>
            <p:cNvPr id="367634" name="Line 18"/>
            <p:cNvSpPr>
              <a:spLocks noChangeShapeType="1"/>
            </p:cNvSpPr>
            <p:nvPr/>
          </p:nvSpPr>
          <p:spPr bwMode="auto">
            <a:xfrm flipH="1" flipV="1">
              <a:off x="6019800" y="3429000"/>
              <a:ext cx="1219200" cy="12192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9628010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fld id="{213C77FB-8496-43CF-9A11-8783EC7D09F3}" type="slidenum">
              <a:rPr lang="zh-CN" altLang="en-US"/>
              <a:pPr/>
              <a:t>10</a:t>
            </a:fld>
            <a:endParaRPr lang="en-US" altLang="zh-CN"/>
          </a:p>
        </p:txBody>
      </p:sp>
      <p:sp>
        <p:nvSpPr>
          <p:cNvPr id="370692" name="Text Box 4"/>
          <p:cNvSpPr txBox="1">
            <a:spLocks noChangeArrowheads="1"/>
          </p:cNvSpPr>
          <p:nvPr/>
        </p:nvSpPr>
        <p:spPr bwMode="auto">
          <a:xfrm>
            <a:off x="0" y="0"/>
            <a:ext cx="8610600"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charset="-122"/>
              </a:defRPr>
            </a:lvl1pPr>
            <a:lvl2pPr marL="800100" indent="-342900" algn="l">
              <a:defRPr>
                <a:solidFill>
                  <a:schemeClr val="tx1"/>
                </a:solidFill>
                <a:latin typeface="Arial" charset="0"/>
                <a:ea typeface="宋体" charset="-122"/>
              </a:defRPr>
            </a:lvl2pPr>
            <a:lvl3pPr marL="1257300" indent="-342900" algn="l">
              <a:defRPr>
                <a:solidFill>
                  <a:schemeClr val="tx1"/>
                </a:solidFill>
                <a:latin typeface="Arial" charset="0"/>
                <a:ea typeface="宋体" charset="-122"/>
              </a:defRPr>
            </a:lvl3pPr>
            <a:lvl4pPr marL="1714500" indent="-342900" algn="l">
              <a:defRPr>
                <a:solidFill>
                  <a:schemeClr val="tx1"/>
                </a:solidFill>
                <a:latin typeface="Arial" charset="0"/>
                <a:ea typeface="宋体" charset="-122"/>
              </a:defRPr>
            </a:lvl4pPr>
            <a:lvl5pPr marL="2171700" indent="-342900" algn="l">
              <a:defRPr>
                <a:solidFill>
                  <a:schemeClr val="tx1"/>
                </a:solidFill>
                <a:latin typeface="Arial" charset="0"/>
                <a:ea typeface="宋体" charset="-122"/>
              </a:defRPr>
            </a:lvl5pPr>
            <a:lvl6pPr marL="2628900" indent="-342900" fontAlgn="base">
              <a:spcBef>
                <a:spcPct val="0"/>
              </a:spcBef>
              <a:spcAft>
                <a:spcPct val="0"/>
              </a:spcAft>
              <a:defRPr>
                <a:solidFill>
                  <a:schemeClr val="tx1"/>
                </a:solidFill>
                <a:latin typeface="Arial" charset="0"/>
                <a:ea typeface="宋体" charset="-122"/>
              </a:defRPr>
            </a:lvl6pPr>
            <a:lvl7pPr marL="3086100" indent="-342900" fontAlgn="base">
              <a:spcBef>
                <a:spcPct val="0"/>
              </a:spcBef>
              <a:spcAft>
                <a:spcPct val="0"/>
              </a:spcAft>
              <a:defRPr>
                <a:solidFill>
                  <a:schemeClr val="tx1"/>
                </a:solidFill>
                <a:latin typeface="Arial" charset="0"/>
                <a:ea typeface="宋体" charset="-122"/>
              </a:defRPr>
            </a:lvl7pPr>
            <a:lvl8pPr marL="3543300" indent="-342900" fontAlgn="base">
              <a:spcBef>
                <a:spcPct val="0"/>
              </a:spcBef>
              <a:spcAft>
                <a:spcPct val="0"/>
              </a:spcAft>
              <a:defRPr>
                <a:solidFill>
                  <a:schemeClr val="tx1"/>
                </a:solidFill>
                <a:latin typeface="Arial" charset="0"/>
                <a:ea typeface="宋体" charset="-122"/>
              </a:defRPr>
            </a:lvl8pPr>
            <a:lvl9pPr marL="4000500" indent="-342900" fontAlgn="base">
              <a:spcBef>
                <a:spcPct val="0"/>
              </a:spcBef>
              <a:spcAft>
                <a:spcPct val="0"/>
              </a:spcAft>
              <a:defRPr>
                <a:solidFill>
                  <a:schemeClr val="tx1"/>
                </a:solidFill>
                <a:latin typeface="Arial" charset="0"/>
                <a:ea typeface="宋体" charset="-122"/>
              </a:defRPr>
            </a:lvl9pPr>
          </a:lstStyle>
          <a:p>
            <a:r>
              <a:rPr lang="en-US" altLang="zh-CN" sz="2800" dirty="0" smtClean="0">
                <a:latin typeface="+mn-ea"/>
                <a:ea typeface="+mn-ea"/>
              </a:rPr>
              <a:t>12</a:t>
            </a:r>
            <a:r>
              <a:rPr lang="zh-CN" altLang="en-US" sz="2800" i="0" dirty="0" smtClean="0">
                <a:latin typeface="+mn-ea"/>
                <a:ea typeface="+mn-ea"/>
              </a:rPr>
              <a:t>．根据</a:t>
            </a:r>
            <a:r>
              <a:rPr lang="zh-CN" altLang="en-US" sz="2800" i="0" dirty="0">
                <a:latin typeface="+mn-ea"/>
                <a:ea typeface="+mn-ea"/>
              </a:rPr>
              <a:t>材料</a:t>
            </a:r>
            <a:r>
              <a:rPr lang="en-US" altLang="zh-CN" sz="2800" i="0" dirty="0">
                <a:latin typeface="+mn-ea"/>
                <a:ea typeface="+mn-ea"/>
              </a:rPr>
              <a:t>, </a:t>
            </a:r>
            <a:r>
              <a:rPr lang="zh-CN" altLang="en-US" sz="2800" i="0" dirty="0">
                <a:latin typeface="+mn-ea"/>
                <a:ea typeface="+mn-ea"/>
              </a:rPr>
              <a:t>完成下列问题</a:t>
            </a:r>
            <a:r>
              <a:rPr lang="zh-CN" altLang="en-US" sz="2800" i="0" dirty="0" smtClean="0">
                <a:latin typeface="+mn-ea"/>
                <a:ea typeface="+mn-ea"/>
              </a:rPr>
              <a:t>。</a:t>
            </a:r>
            <a:endParaRPr lang="en-US" altLang="zh-CN" sz="2800" dirty="0">
              <a:latin typeface="+mn-ea"/>
              <a:ea typeface="+mn-ea"/>
            </a:endParaRPr>
          </a:p>
          <a:p>
            <a:r>
              <a:rPr lang="zh-CN" altLang="en-US" sz="2800" i="0" dirty="0" smtClean="0">
                <a:latin typeface="+mn-ea"/>
                <a:ea typeface="+mn-ea"/>
              </a:rPr>
              <a:t>图</a:t>
            </a:r>
            <a:r>
              <a:rPr lang="en-US" altLang="zh-CN" sz="2800" i="0" dirty="0">
                <a:latin typeface="+mn-ea"/>
                <a:ea typeface="+mn-ea"/>
              </a:rPr>
              <a:t>1</a:t>
            </a:r>
            <a:r>
              <a:rPr lang="zh-CN" altLang="en-US" sz="2800" i="0" dirty="0">
                <a:latin typeface="+mn-ea"/>
                <a:ea typeface="+mn-ea"/>
              </a:rPr>
              <a:t>为欧洲西部某区域略图。及附近区域略图</a:t>
            </a:r>
            <a:r>
              <a:rPr lang="zh-CN" altLang="en-US" sz="2800" i="0" dirty="0" smtClean="0">
                <a:latin typeface="+mn-ea"/>
                <a:ea typeface="+mn-ea"/>
              </a:rPr>
              <a:t>。</a:t>
            </a:r>
            <a:endParaRPr lang="en-US" altLang="zh-CN" sz="2800" i="0" dirty="0" smtClean="0">
              <a:latin typeface="+mn-ea"/>
              <a:ea typeface="+mn-ea"/>
            </a:endParaRPr>
          </a:p>
          <a:p>
            <a:r>
              <a:rPr lang="en-US" altLang="zh-CN" sz="2800" dirty="0" smtClean="0">
                <a:latin typeface="+mn-ea"/>
                <a:ea typeface="+mn-ea"/>
              </a:rPr>
              <a:t> </a:t>
            </a:r>
            <a:r>
              <a:rPr lang="en-US" altLang="zh-CN" sz="2800" dirty="0">
                <a:latin typeface="+mn-ea"/>
                <a:ea typeface="+mn-ea"/>
              </a:rPr>
              <a:t>1</a:t>
            </a:r>
            <a:r>
              <a:rPr lang="zh-CN" altLang="en-US" sz="2800" dirty="0">
                <a:latin typeface="+mn-ea"/>
                <a:ea typeface="+mn-ea"/>
              </a:rPr>
              <a:t>月初</a:t>
            </a:r>
            <a:r>
              <a:rPr lang="en-US" altLang="zh-CN" sz="2800" dirty="0">
                <a:latin typeface="+mn-ea"/>
                <a:ea typeface="+mn-ea"/>
              </a:rPr>
              <a:t>, A </a:t>
            </a:r>
            <a:r>
              <a:rPr lang="zh-CN" altLang="en-US" sz="2800" dirty="0">
                <a:latin typeface="+mn-ea"/>
                <a:ea typeface="+mn-ea"/>
              </a:rPr>
              <a:t>地与上海两所学校学生进行地理观测</a:t>
            </a:r>
            <a:r>
              <a:rPr lang="en-US" altLang="zh-CN" sz="2800" dirty="0">
                <a:latin typeface="+mn-ea"/>
                <a:ea typeface="+mn-ea"/>
              </a:rPr>
              <a:t>, </a:t>
            </a:r>
            <a:r>
              <a:rPr lang="zh-CN" altLang="en-US" sz="2800" dirty="0">
                <a:latin typeface="+mn-ea"/>
                <a:ea typeface="+mn-ea"/>
              </a:rPr>
              <a:t>当 </a:t>
            </a:r>
            <a:r>
              <a:rPr lang="en-US" altLang="zh-CN" sz="2800" dirty="0">
                <a:latin typeface="+mn-ea"/>
                <a:ea typeface="+mn-ea"/>
              </a:rPr>
              <a:t>A </a:t>
            </a:r>
            <a:r>
              <a:rPr lang="zh-CN" altLang="en-US" sz="2800" dirty="0">
                <a:latin typeface="+mn-ea"/>
                <a:ea typeface="+mn-ea"/>
              </a:rPr>
              <a:t>地学生迎着朝阳走进校门时</a:t>
            </a:r>
            <a:r>
              <a:rPr lang="en-US" altLang="zh-CN" sz="2800" dirty="0">
                <a:latin typeface="+mn-ea"/>
                <a:ea typeface="+mn-ea"/>
              </a:rPr>
              <a:t>, </a:t>
            </a:r>
            <a:r>
              <a:rPr lang="zh-CN" altLang="en-US" sz="2800" dirty="0">
                <a:latin typeface="+mn-ea"/>
                <a:ea typeface="+mn-ea"/>
              </a:rPr>
              <a:t>上海某校学生迎着太阳走出校门，请说出两所学校校门的朝向。</a:t>
            </a:r>
            <a:r>
              <a:rPr lang="en-US" altLang="zh-CN" sz="2800" dirty="0">
                <a:latin typeface="+mn-ea"/>
                <a:ea typeface="+mn-ea"/>
              </a:rPr>
              <a:t>( 4</a:t>
            </a:r>
            <a:r>
              <a:rPr lang="zh-CN" altLang="en-US" sz="2800" dirty="0">
                <a:latin typeface="+mn-ea"/>
                <a:ea typeface="+mn-ea"/>
              </a:rPr>
              <a:t>分</a:t>
            </a:r>
            <a:r>
              <a:rPr lang="en-US" altLang="zh-CN" sz="2800" dirty="0">
                <a:latin typeface="+mn-ea"/>
                <a:ea typeface="+mn-ea"/>
              </a:rPr>
              <a:t>)</a:t>
            </a:r>
            <a:endParaRPr lang="zh-CN" altLang="en-US" sz="2800" dirty="0">
              <a:latin typeface="+mn-ea"/>
              <a:ea typeface="+mn-ea"/>
            </a:endParaRPr>
          </a:p>
          <a:p>
            <a:pPr algn="ctr"/>
            <a:endParaRPr lang="zh-CN" altLang="en-US" i="0" dirty="0">
              <a:ea typeface="黑体" pitchFamily="49" charset="-122"/>
            </a:endParaRPr>
          </a:p>
        </p:txBody>
      </p:sp>
      <p:pic>
        <p:nvPicPr>
          <p:cNvPr id="370703" name="Picture 15"/>
          <p:cNvPicPr>
            <a:picLocks noChangeAspect="1" noChangeArrowheads="1"/>
          </p:cNvPicPr>
          <p:nvPr/>
        </p:nvPicPr>
        <p:blipFill rotWithShape="1">
          <a:blip r:embed="rId2">
            <a:extLst>
              <a:ext uri="{28A0092B-C50C-407E-A947-70E740481C1C}">
                <a14:useLocalDpi xmlns:a14="http://schemas.microsoft.com/office/drawing/2010/main" val="0"/>
              </a:ext>
            </a:extLst>
          </a:blip>
          <a:srcRect t="3716" b="6677"/>
          <a:stretch/>
        </p:blipFill>
        <p:spPr bwMode="auto">
          <a:xfrm>
            <a:off x="2657474" y="2420888"/>
            <a:ext cx="3637425"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7943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609</Words>
  <Application>Microsoft Office PowerPoint</Application>
  <PresentationFormat>全屏显示(4:3)</PresentationFormat>
  <Paragraphs>79</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主题​​</vt:lpstr>
      <vt:lpstr>高二晚练1   （9月16日）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user</cp:lastModifiedBy>
  <cp:revision>8</cp:revision>
  <dcterms:created xsi:type="dcterms:W3CDTF">2020-09-15T15:00:30Z</dcterms:created>
  <dcterms:modified xsi:type="dcterms:W3CDTF">2020-09-16T01:06:01Z</dcterms:modified>
</cp:coreProperties>
</file>